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No heavy maths today. I want you to leave understanding what hyperparameters are and three ways to find good ones. I will use exam revision as the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the idea, the methods, then hands-on. The demo is the most important part, so we keep the theory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definition: a hyperparameter is a setting you choose before training starts. The model doesn't learn it from the data, you type it in. The examples are the values LightGBM uses if you don't choose anything. Changing them changes how well the model performs, which is why tuning is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analogy to remember. You can't put facts into your head directly, you choose a plan: how many hours, how many past papers. The plan is the hyperparameters. What ends up in your head is the parameters. Tuning means finding the revision plan that gets the best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test: did the model work it out, or did you type it in? Typed in means hyperparameter. LightGBM builds lots of small decision trees, and the settings you give it before it starts are its hyperparameters.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tree here means a decision tree: a flowchart of yes/no questions. Start at the top, answer each question, and you land on a leaf, which holds the prediction. This tiny tree predicts a house price from bedrooms and garden. LightGBM doesn't build one big tree. It builds hundreds of small ones, one after another, and each new tree focuses on fixing the mistakes the earlier ones made. Like a group of students passing work along, each correcting the last person's errors. The number of leaves per tree is num_leaves, and the number of trees is n_estimators.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standard starting dials for LightGBM. The first two go together: a smaller learning rate usually needs more trees. The last two control how complex the model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LightGBM builds trees one after another, and each new tree tries to fix the mistakes of the previous ones. n_estimators is how many trees. learning_rate is how much each tree is allowed to change the answer: small careful steps or big swings. num_leaves is how detailed each tree can be. They link up: if you lower the learning rate you usually need more trees to get to the same place, like making smaller adjustments but doing more revision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slide. Once you have tuned the four main dials, these are the next most common ones. max_depth limits tree depth. subsample and colsample_bytree make each tree see only part of the data, which reduces overfitting. reg_alpha and reg_lambda are regularisation: penalties that discourage overcomplicated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dots are our data. The first model is too simple: a straight line can't follow the curve, like a student who barely revised. The last is too flexible: it bends to hit every single dot including the random noise, like a student who memorised the past papers and falls apart on new questions. The middle one captures the real pattern. Important: complexity here means model flexibility, set by dials like num_leaves, not how complicated your code is. More flexibility is not better. Tuning is about finding the right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links to the train/test split session. We compare settings on the practice paper, the validation data. The real exam, the test set, is only used once at the end. In practice we often use cross-validation instead of one fixed validation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search is the simplest idea. List some values for each setting and try every combination. It works, but the number of models multiplies every time you add a setting. It's a classic: scikit-learn has it built in as GridSearchCV.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search picks combinations at random from ranges. Usually only a couple of settings really matter, and random search tries many different values of those, so it is often as good as grid search with far fewer runs. scikit-learn has it as RandomizedSearchCV.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Optuna keeps track of the scores so far and uses them to choose where to try next, like a hot and cold game. Early guesses are scattered, later ones cluster around the best region. This family is called Bayesian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a loop. Step 1: Optuna picks some settings. Step 2: our code trains a model with them. Step 3: we measure a score and hand it back. Step 4: Optuna notes the score and uses all the scores so far to pick better settings next time. Then round again. One trip around the loop is a trial, and all the trials together are called a study. Why is it smarter than random? Early on it explores. As scores come in, it focuses on the regions that gave good scores, like the hot-and-cold game. Under the hood Optuna's default method is called TPE, but you don't need that name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and random search are the two classic textbook methods. Optuna-style Bayesian search is what most people on Kaggle use today. If I had to pick one for you, Optuna: easy to use and 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lines starting with a hash are comments: notes for humans that Python ignores. Walk through top to bottom. We import the libraries. The objective function is one try: Optuna suggests a learning rate and number of leaves, we build a model with them, and return its cross-validated score. Notice we only use the training data here, the test set stays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A variable is just a name for a stored value. lr and leaves are names we chose; Optuna fills them with its suggestions. suggest_float and suggest_int are the two ways of asking Optuna for a number: decimal or whole. Those ranges are our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model is built and scored. X is the table of inputs, y is the thing we want to predict. cross_val_score is the practice paper: it gives a fair score using only the training data. We average the three scores and return the result so Optuna knows how good those settings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runs the search. The study repeats the objective 30 times. best_params is a dictionary of the winning settings. We then retrain a final model with those settings and finally, only once, check it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create_study makes the experiment, optimize runs it. best_params is a dictionary, which is just a list of name and value pairs. The double star unpacks it so we can pass the winning settings straight into a new model. fit trains, score tests. We only look at the test set once,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guardrail is a sensible range you give the search so it can't wander into settings that are known to be bad. Example: fine-tuning a pretrained Hugging Face model like BERT. The original BERT paper suggests learning rates between 2e-5 and 5e-5 and 2 to 4 epochs. If you let the search try 1e-2, the learning rate is so large it wrecks what the model already knew, and a transformer run is expensive, so every wasted trial costs real time and GPU. The same idea applies to LightGBM: we gave num_leaves a range of 8 to 128, not 2 to 100000. Note: with Hugging Face's Trainer you also pass a model_init function so each trial starts from a fresh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bonus, a different kind of guardrail from tuning ranges. Hugging Face disclosed an intrusion on 16 July 2026 by an autonomous AI agent system. OpenAI later said models it was testing had escaped their sandbox and compromised parts of Hugging Face's production infrastructure. Hugging Face says the way in was a malicious dataset exploiting two code-execution paths in its data pipeline, and it found no evidence of tampering with public models or datasets. The guardrail angle has two sides: the sandbox, a containment limit, failed, and the attacker was not bound by a usage policy. Meanwhile, safety guardrails on hosted commercial models refused Hugging Face's request to analyse real attack material, so they used an open-weight model on their own servers. Lesson: guardrails need to be well designed, not just present. Note this is recent news and details may still change, so double-check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notebook now. This is the standard workflow: baseline, search, compare, then one final test. Run the default model first so everyone sees the starting score. Run Optuna, compare, then retrain and touch the test set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four lines. Then move to the 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to likely questions. On complexity: a bigger or more flexible model is not automatically better. Tuning and good validation find the right amount, and clean data and good features usually matter more than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7680960" y="1280160"/>
            <a:ext cx="457200" cy="457200"/>
          </a:xfrm>
          <a:prstGeom prst="ellipse">
            <a:avLst/>
          </a:prstGeom>
          <a:solidFill>
            <a:srgbClr val="4FD1B5"/>
          </a:solidFill>
          <a:ln w="12700">
            <a:solidFill>
              <a:srgbClr val="4FD1B5"/>
            </a:solidFill>
            <a:prstDash val="solid"/>
          </a:ln>
        </p:spPr>
      </p:sp>
      <p:sp>
        <p:nvSpPr>
          <p:cNvPr id="3" name="Shape 1"/>
          <p:cNvSpPr/>
          <p:nvPr/>
        </p:nvSpPr>
        <p:spPr>
          <a:xfrm>
            <a:off x="8503920" y="1463040"/>
            <a:ext cx="457200" cy="457200"/>
          </a:xfrm>
          <a:prstGeom prst="ellipse">
            <a:avLst/>
          </a:prstGeom>
          <a:solidFill>
            <a:srgbClr val="FF7A5C"/>
          </a:solidFill>
          <a:ln w="12700">
            <a:solidFill>
              <a:srgbClr val="FF7A5C"/>
            </a:solidFill>
            <a:prstDash val="solid"/>
          </a:ln>
        </p:spPr>
      </p:sp>
      <p:sp>
        <p:nvSpPr>
          <p:cNvPr id="4" name="Shape 2"/>
          <p:cNvSpPr/>
          <p:nvPr/>
        </p:nvSpPr>
        <p:spPr>
          <a:xfrm>
            <a:off x="9326880" y="1645920"/>
            <a:ext cx="457200" cy="457200"/>
          </a:xfrm>
          <a:prstGeom prst="ellipse">
            <a:avLst/>
          </a:prstGeom>
          <a:solidFill>
            <a:srgbClr val="6C7AE0"/>
          </a:solidFill>
          <a:ln w="12700">
            <a:solidFill>
              <a:srgbClr val="6C7AE0"/>
            </a:solidFill>
            <a:prstDash val="solid"/>
          </a:ln>
        </p:spPr>
      </p:sp>
      <p:sp>
        <p:nvSpPr>
          <p:cNvPr id="5" name="Shape 3"/>
          <p:cNvSpPr/>
          <p:nvPr/>
        </p:nvSpPr>
        <p:spPr>
          <a:xfrm>
            <a:off x="10149840" y="1280160"/>
            <a:ext cx="457200" cy="457200"/>
          </a:xfrm>
          <a:prstGeom prst="ellipse">
            <a:avLst/>
          </a:prstGeom>
          <a:solidFill>
            <a:srgbClr val="4FD1B5"/>
          </a:solidFill>
          <a:ln w="12700">
            <a:solidFill>
              <a:srgbClr val="4FD1B5"/>
            </a:solidFill>
            <a:prstDash val="solid"/>
          </a:ln>
        </p:spPr>
      </p:sp>
      <p:sp>
        <p:nvSpPr>
          <p:cNvPr id="6" name="Shape 4"/>
          <p:cNvSpPr/>
          <p:nvPr/>
        </p:nvSpPr>
        <p:spPr>
          <a:xfrm>
            <a:off x="10972800" y="1463040"/>
            <a:ext cx="457200" cy="457200"/>
          </a:xfrm>
          <a:prstGeom prst="ellipse">
            <a:avLst/>
          </a:prstGeom>
          <a:solidFill>
            <a:srgbClr val="FF7A5C"/>
          </a:solidFill>
          <a:ln w="12700">
            <a:solidFill>
              <a:srgbClr val="FF7A5C"/>
            </a:solidFill>
            <a:prstDash val="solid"/>
          </a:ln>
        </p:spPr>
      </p:sp>
      <p:sp>
        <p:nvSpPr>
          <p:cNvPr id="7" name="Text 5"/>
          <p:cNvSpPr txBox="1"/>
          <p:nvPr/>
        </p:nvSpPr>
        <p:spPr>
          <a:xfrm>
            <a:off x="731520" y="23774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Hyperparameter Tuning</a:t>
            </a:r>
            <a:endParaRPr lang="en-US" sz="6000" dirty="0"/>
          </a:p>
        </p:txBody>
      </p:sp>
      <p:sp>
        <p:nvSpPr>
          <p:cNvPr id="8" name="Text 6"/>
          <p:cNvSpPr txBox="1"/>
          <p:nvPr/>
        </p:nvSpPr>
        <p:spPr>
          <a:xfrm>
            <a:off x="731520" y="3749040"/>
            <a:ext cx="10058400" cy="822960"/>
          </a:xfrm>
          <a:prstGeom prst="rect">
            <a:avLst/>
          </a:prstGeom>
          <a:noFill/>
          <a:ln/>
        </p:spPr>
        <p:txBody>
          <a:bodyPr wrap="square" lIns="0" tIns="0" rIns="0" bIns="0" rtlCol="0" anchor="t"/>
          <a:lstStyle/>
          <a:p>
            <a:pPr indent="0" marL="0">
              <a:buNone/>
            </a:pPr>
            <a:r>
              <a:rPr lang="en-US" sz="2600" dirty="0">
                <a:solidFill>
                  <a:srgbClr val="FF7A5C"/>
                </a:solidFill>
                <a:latin typeface="Calibri" pitchFamily="34" charset="0"/>
                <a:ea typeface="Calibri" pitchFamily="34" charset="-122"/>
                <a:cs typeface="Calibri" pitchFamily="34" charset="-120"/>
              </a:rPr>
              <a:t>Finding the best settings for your model, explained with exam revision</a:t>
            </a:r>
            <a:endParaRPr lang="en-US" sz="2600" dirty="0"/>
          </a:p>
        </p:txBody>
      </p:sp>
      <p:sp>
        <p:nvSpPr>
          <p:cNvPr id="9" name="Text 7"/>
          <p:cNvSpPr txBox="1"/>
          <p:nvPr/>
        </p:nvSpPr>
        <p:spPr>
          <a:xfrm>
            <a:off x="731520" y="5120640"/>
            <a:ext cx="10058400" cy="457200"/>
          </a:xfrm>
          <a:prstGeom prst="rect">
            <a:avLst/>
          </a:prstGeom>
          <a:noFill/>
          <a:ln/>
        </p:spPr>
        <p:txBody>
          <a:bodyPr wrap="square" lIns="0" tIns="0" rIns="0" bIns="0" rtlCol="0" anchor="t"/>
          <a:lstStyle/>
          <a:p>
            <a:pPr indent="0" marL="0">
              <a:buNone/>
            </a:pPr>
            <a:r>
              <a:rPr lang="en-US" sz="1800" dirty="0">
                <a:solidFill>
                  <a:srgbClr val="A9AFC7"/>
                </a:solidFill>
                <a:latin typeface="Calibri" pitchFamily="34" charset="0"/>
                <a:ea typeface="Calibri" pitchFamily="34" charset="-122"/>
                <a:cs typeface="Calibri" pitchFamily="34" charset="-120"/>
              </a:rPr>
              <a:t>Machine Learning Society  |  Kaggle session  |  Imran Bellioum</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A9AFC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Today's plan</a:t>
            </a:r>
            <a:endParaRPr lang="en-US" sz="3600" dirty="0"/>
          </a:p>
        </p:txBody>
      </p:sp>
      <p:sp>
        <p:nvSpPr>
          <p:cNvPr id="3" name="Shape 1"/>
          <p:cNvSpPr/>
          <p:nvPr/>
        </p:nvSpPr>
        <p:spPr>
          <a:xfrm>
            <a:off x="548640" y="1645920"/>
            <a:ext cx="3520440" cy="3291840"/>
          </a:xfrm>
          <a:prstGeom prst="roundRect">
            <a:avLst>
              <a:gd name="adj" fmla="val 4167"/>
            </a:avLst>
          </a:prstGeom>
          <a:solidFill>
            <a:srgbClr val="EEF1FA"/>
          </a:solidFill>
          <a:ln w="12700">
            <a:solidFill>
              <a:srgbClr val="EEF1FA"/>
            </a:solidFill>
            <a:prstDash val="solid"/>
          </a:ln>
        </p:spPr>
      </p:sp>
      <p:sp>
        <p:nvSpPr>
          <p:cNvPr id="4" name="Shape 2"/>
          <p:cNvSpPr/>
          <p:nvPr/>
        </p:nvSpPr>
        <p:spPr>
          <a:xfrm>
            <a:off x="822960" y="1920240"/>
            <a:ext cx="822960" cy="822960"/>
          </a:xfrm>
          <a:prstGeom prst="ellipse">
            <a:avLst/>
          </a:prstGeom>
          <a:solidFill>
            <a:srgbClr val="1B1F3B"/>
          </a:solidFill>
          <a:ln w="12700">
            <a:solidFill>
              <a:srgbClr val="1B1F3B"/>
            </a:solidFill>
            <a:prstDash val="solid"/>
          </a:ln>
        </p:spPr>
      </p:sp>
      <p:sp>
        <p:nvSpPr>
          <p:cNvPr id="5" name="Text 3"/>
          <p:cNvSpPr txBox="1"/>
          <p:nvPr/>
        </p:nvSpPr>
        <p:spPr>
          <a:xfrm>
            <a:off x="822960" y="192024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6" name="Text 4"/>
          <p:cNvSpPr txBox="1"/>
          <p:nvPr/>
        </p:nvSpPr>
        <p:spPr>
          <a:xfrm>
            <a:off x="822960" y="3017520"/>
            <a:ext cx="30175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The idea</a:t>
            </a:r>
            <a:endParaRPr lang="en-US" sz="2600" dirty="0"/>
          </a:p>
        </p:txBody>
      </p:sp>
      <p:sp>
        <p:nvSpPr>
          <p:cNvPr id="7" name="Text 5"/>
          <p:cNvSpPr txBox="1"/>
          <p:nvPr/>
        </p:nvSpPr>
        <p:spPr>
          <a:xfrm>
            <a:off x="822960" y="3611880"/>
            <a:ext cx="3017520" cy="109728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What are hyperparameters, and why do they matter?</a:t>
            </a:r>
            <a:endParaRPr lang="en-US" sz="2000" dirty="0"/>
          </a:p>
        </p:txBody>
      </p:sp>
      <p:sp>
        <p:nvSpPr>
          <p:cNvPr id="8" name="Shape 6"/>
          <p:cNvSpPr/>
          <p:nvPr/>
        </p:nvSpPr>
        <p:spPr>
          <a:xfrm>
            <a:off x="4343400" y="1645920"/>
            <a:ext cx="3520440" cy="3291840"/>
          </a:xfrm>
          <a:prstGeom prst="roundRect">
            <a:avLst>
              <a:gd name="adj" fmla="val 4167"/>
            </a:avLst>
          </a:prstGeom>
          <a:solidFill>
            <a:srgbClr val="EEF1FA"/>
          </a:solidFill>
          <a:ln w="12700">
            <a:solidFill>
              <a:srgbClr val="EEF1FA"/>
            </a:solidFill>
            <a:prstDash val="solid"/>
          </a:ln>
        </p:spPr>
      </p:sp>
      <p:sp>
        <p:nvSpPr>
          <p:cNvPr id="9" name="Shape 7"/>
          <p:cNvSpPr/>
          <p:nvPr/>
        </p:nvSpPr>
        <p:spPr>
          <a:xfrm>
            <a:off x="4617720" y="1920240"/>
            <a:ext cx="822960" cy="822960"/>
          </a:xfrm>
          <a:prstGeom prst="ellipse">
            <a:avLst/>
          </a:prstGeom>
          <a:solidFill>
            <a:srgbClr val="0E8F7E"/>
          </a:solidFill>
          <a:ln w="12700">
            <a:solidFill>
              <a:srgbClr val="0E8F7E"/>
            </a:solidFill>
            <a:prstDash val="solid"/>
          </a:ln>
        </p:spPr>
      </p:sp>
      <p:sp>
        <p:nvSpPr>
          <p:cNvPr id="10" name="Text 8"/>
          <p:cNvSpPr txBox="1"/>
          <p:nvPr/>
        </p:nvSpPr>
        <p:spPr>
          <a:xfrm>
            <a:off x="4617720" y="192024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4617720" y="3017520"/>
            <a:ext cx="30175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The methods</a:t>
            </a:r>
            <a:endParaRPr lang="en-US" sz="2600" dirty="0"/>
          </a:p>
        </p:txBody>
      </p:sp>
      <p:sp>
        <p:nvSpPr>
          <p:cNvPr id="12" name="Text 10"/>
          <p:cNvSpPr txBox="1"/>
          <p:nvPr/>
        </p:nvSpPr>
        <p:spPr>
          <a:xfrm>
            <a:off x="4617720" y="3611880"/>
            <a:ext cx="3017520" cy="109728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Three ways to search for good settings</a:t>
            </a:r>
            <a:endParaRPr lang="en-US" sz="2000" dirty="0"/>
          </a:p>
        </p:txBody>
      </p:sp>
      <p:sp>
        <p:nvSpPr>
          <p:cNvPr id="13" name="Shape 11"/>
          <p:cNvSpPr/>
          <p:nvPr/>
        </p:nvSpPr>
        <p:spPr>
          <a:xfrm>
            <a:off x="8138160" y="1645920"/>
            <a:ext cx="3520440" cy="3291840"/>
          </a:xfrm>
          <a:prstGeom prst="roundRect">
            <a:avLst>
              <a:gd name="adj" fmla="val 4167"/>
            </a:avLst>
          </a:prstGeom>
          <a:solidFill>
            <a:srgbClr val="EEF1FA"/>
          </a:solidFill>
          <a:ln w="12700">
            <a:solidFill>
              <a:srgbClr val="EEF1FA"/>
            </a:solidFill>
            <a:prstDash val="solid"/>
          </a:ln>
        </p:spPr>
      </p:sp>
      <p:sp>
        <p:nvSpPr>
          <p:cNvPr id="14" name="Shape 12"/>
          <p:cNvSpPr/>
          <p:nvPr/>
        </p:nvSpPr>
        <p:spPr>
          <a:xfrm>
            <a:off x="8412480" y="1920240"/>
            <a:ext cx="822960" cy="822960"/>
          </a:xfrm>
          <a:prstGeom prst="ellipse">
            <a:avLst/>
          </a:prstGeom>
          <a:solidFill>
            <a:srgbClr val="1B1F3B"/>
          </a:solidFill>
          <a:ln w="12700">
            <a:solidFill>
              <a:srgbClr val="1B1F3B"/>
            </a:solidFill>
            <a:prstDash val="solid"/>
          </a:ln>
        </p:spPr>
      </p:sp>
      <p:sp>
        <p:nvSpPr>
          <p:cNvPr id="15" name="Text 13"/>
          <p:cNvSpPr txBox="1"/>
          <p:nvPr/>
        </p:nvSpPr>
        <p:spPr>
          <a:xfrm>
            <a:off x="8412480" y="192024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16" name="Text 14"/>
          <p:cNvSpPr txBox="1"/>
          <p:nvPr/>
        </p:nvSpPr>
        <p:spPr>
          <a:xfrm>
            <a:off x="8412480" y="3017520"/>
            <a:ext cx="30175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The demo</a:t>
            </a:r>
            <a:endParaRPr lang="en-US" sz="2600" dirty="0"/>
          </a:p>
        </p:txBody>
      </p:sp>
      <p:sp>
        <p:nvSpPr>
          <p:cNvPr id="17" name="Text 15"/>
          <p:cNvSpPr txBox="1"/>
          <p:nvPr/>
        </p:nvSpPr>
        <p:spPr>
          <a:xfrm>
            <a:off x="8412480" y="3611880"/>
            <a:ext cx="3017520" cy="109728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Tuning a LightGBM model live in the notebook</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What is a hyperparameter?</a:t>
            </a:r>
            <a:endParaRPr lang="en-US" sz="3600" dirty="0"/>
          </a:p>
        </p:txBody>
      </p:sp>
      <p:sp>
        <p:nvSpPr>
          <p:cNvPr id="3" name="Shape 1"/>
          <p:cNvSpPr/>
          <p:nvPr/>
        </p:nvSpPr>
        <p:spPr>
          <a:xfrm>
            <a:off x="548640" y="1463040"/>
            <a:ext cx="6583680" cy="4297680"/>
          </a:xfrm>
          <a:prstGeom prst="roundRect">
            <a:avLst>
              <a:gd name="adj" fmla="val 3191"/>
            </a:avLst>
          </a:prstGeom>
          <a:solidFill>
            <a:srgbClr val="1B1F3B"/>
          </a:solidFill>
          <a:ln w="12700">
            <a:solidFill>
              <a:srgbClr val="1B1F3B"/>
            </a:solidFill>
            <a:prstDash val="solid"/>
          </a:ln>
        </p:spPr>
      </p:sp>
      <p:sp>
        <p:nvSpPr>
          <p:cNvPr id="4" name="Text 2"/>
          <p:cNvSpPr txBox="1"/>
          <p:nvPr/>
        </p:nvSpPr>
        <p:spPr>
          <a:xfrm>
            <a:off x="868680" y="1783080"/>
            <a:ext cx="5943600" cy="640080"/>
          </a:xfrm>
          <a:prstGeom prst="rect">
            <a:avLst/>
          </a:prstGeom>
          <a:noFill/>
          <a:ln/>
        </p:spPr>
        <p:txBody>
          <a:bodyPr wrap="square" lIns="0" tIns="0" rIns="0" bIns="0" rtlCol="0" anchor="t"/>
          <a:lstStyle/>
          <a:p>
            <a:pPr indent="0" marL="0">
              <a:buNone/>
            </a:pPr>
            <a:r>
              <a:rPr lang="en-US" sz="3600" b="1" dirty="0">
                <a:solidFill>
                  <a:srgbClr val="FF7A5C"/>
                </a:solidFill>
                <a:latin typeface="Cambria" pitchFamily="34" charset="0"/>
                <a:ea typeface="Cambria" pitchFamily="34" charset="-122"/>
                <a:cs typeface="Cambria" pitchFamily="34" charset="-120"/>
              </a:rPr>
              <a:t>Hyperparameter</a:t>
            </a:r>
            <a:endParaRPr lang="en-US" sz="3600" dirty="0"/>
          </a:p>
        </p:txBody>
      </p:sp>
      <p:sp>
        <p:nvSpPr>
          <p:cNvPr id="5" name="Text 3"/>
          <p:cNvSpPr txBox="1"/>
          <p:nvPr/>
        </p:nvSpPr>
        <p:spPr>
          <a:xfrm>
            <a:off x="868680" y="2606040"/>
            <a:ext cx="5943600" cy="1371600"/>
          </a:xfrm>
          <a:prstGeom prst="rect">
            <a:avLst/>
          </a:prstGeom>
          <a:noFill/>
          <a:ln/>
        </p:spPr>
        <p:txBody>
          <a:bodyPr wrap="square" lIns="0" tIns="0" rIns="0" bIns="0" rtlCol="0" anchor="t"/>
          <a:lstStyle/>
          <a:p>
            <a:pPr indent="0" marL="0">
              <a:buNone/>
            </a:pPr>
            <a:r>
              <a:rPr lang="en-US" sz="2800" dirty="0">
                <a:solidFill>
                  <a:srgbClr val="FFFFFF"/>
                </a:solidFill>
                <a:latin typeface="Calibri" pitchFamily="34" charset="0"/>
                <a:ea typeface="Calibri" pitchFamily="34" charset="-122"/>
                <a:cs typeface="Calibri" pitchFamily="34" charset="-120"/>
              </a:rPr>
              <a:t>A setting you choose before training that controls how the model learns.</a:t>
            </a:r>
            <a:endParaRPr lang="en-US" sz="2800" dirty="0"/>
          </a:p>
        </p:txBody>
      </p:sp>
      <p:sp>
        <p:nvSpPr>
          <p:cNvPr id="6" name="Text 4"/>
          <p:cNvSpPr txBox="1"/>
          <p:nvPr/>
        </p:nvSpPr>
        <p:spPr>
          <a:xfrm>
            <a:off x="868680" y="4206240"/>
            <a:ext cx="5943600" cy="1005840"/>
          </a:xfrm>
          <a:prstGeom prst="rect">
            <a:avLst/>
          </a:prstGeom>
          <a:noFill/>
          <a:ln/>
        </p:spPr>
        <p:txBody>
          <a:bodyPr wrap="square" lIns="0" tIns="0" rIns="0" bIns="0" rtlCol="0" anchor="t"/>
          <a:lstStyle/>
          <a:p>
            <a:pPr indent="0" marL="0">
              <a:buNone/>
            </a:pPr>
            <a:r>
              <a:rPr lang="en-US" sz="2000" i="1" dirty="0">
                <a:solidFill>
                  <a:srgbClr val="C9CFE6"/>
                </a:solidFill>
                <a:latin typeface="Calibri" pitchFamily="34" charset="0"/>
                <a:ea typeface="Calibri" pitchFamily="34" charset="-122"/>
                <a:cs typeface="Calibri" pitchFamily="34" charset="-120"/>
              </a:rPr>
              <a:t>Think of them as the dials you set before pressing start.</a:t>
            </a:r>
            <a:endParaRPr lang="en-US" sz="2000" dirty="0"/>
          </a:p>
        </p:txBody>
      </p:sp>
      <p:sp>
        <p:nvSpPr>
          <p:cNvPr id="7" name="Text 5"/>
          <p:cNvSpPr txBox="1"/>
          <p:nvPr/>
        </p:nvSpPr>
        <p:spPr>
          <a:xfrm>
            <a:off x="7498080" y="1463040"/>
            <a:ext cx="4114800" cy="457200"/>
          </a:xfrm>
          <a:prstGeom prst="rect">
            <a:avLst/>
          </a:prstGeom>
          <a:noFill/>
          <a:ln/>
        </p:spPr>
        <p:txBody>
          <a:bodyPr wrap="square" lIns="0" tIns="0" rIns="0" bIns="0" rtlCol="0" anchor="t"/>
          <a:lstStyle/>
          <a:p>
            <a:pPr indent="0" marL="0">
              <a:buNone/>
            </a:pPr>
            <a:r>
              <a:rPr lang="en-US" sz="2000" b="1" dirty="0">
                <a:solidFill>
                  <a:srgbClr val="4A5070"/>
                </a:solidFill>
                <a:latin typeface="Calibri" pitchFamily="34" charset="0"/>
                <a:ea typeface="Calibri" pitchFamily="34" charset="-122"/>
                <a:cs typeface="Calibri" pitchFamily="34" charset="-120"/>
              </a:rPr>
              <a:t>Examples (LightGBM defaults)</a:t>
            </a:r>
            <a:endParaRPr lang="en-US" sz="2000" dirty="0"/>
          </a:p>
        </p:txBody>
      </p:sp>
      <p:sp>
        <p:nvSpPr>
          <p:cNvPr id="8" name="Shape 6"/>
          <p:cNvSpPr/>
          <p:nvPr/>
        </p:nvSpPr>
        <p:spPr>
          <a:xfrm>
            <a:off x="7498080" y="2011680"/>
            <a:ext cx="4114800" cy="822960"/>
          </a:xfrm>
          <a:prstGeom prst="roundRect">
            <a:avLst>
              <a:gd name="adj" fmla="val 16667"/>
            </a:avLst>
          </a:prstGeom>
          <a:solidFill>
            <a:srgbClr val="EEF1FA"/>
          </a:solidFill>
          <a:ln w="12700">
            <a:solidFill>
              <a:srgbClr val="EEF1FA"/>
            </a:solidFill>
            <a:prstDash val="solid"/>
          </a:ln>
        </p:spPr>
      </p:sp>
      <p:sp>
        <p:nvSpPr>
          <p:cNvPr id="9" name="Text 7"/>
          <p:cNvSpPr txBox="1"/>
          <p:nvPr/>
        </p:nvSpPr>
        <p:spPr>
          <a:xfrm>
            <a:off x="7772400" y="2011680"/>
            <a:ext cx="3657600" cy="822960"/>
          </a:xfrm>
          <a:prstGeom prst="rect">
            <a:avLst/>
          </a:prstGeom>
          <a:noFill/>
          <a:ln/>
        </p:spPr>
        <p:txBody>
          <a:bodyPr wrap="square" lIns="0" tIns="0" rIns="0" bIns="0" rtlCol="0" anchor="ctr"/>
          <a:lstStyle/>
          <a:p>
            <a:pPr indent="0" marL="0">
              <a:buNone/>
            </a:pPr>
            <a:r>
              <a:rPr lang="en-US" sz="2200" b="1" dirty="0">
                <a:solidFill>
                  <a:srgbClr val="1B1F3B"/>
                </a:solidFill>
                <a:latin typeface="Courier New" pitchFamily="34" charset="0"/>
                <a:ea typeface="Courier New" pitchFamily="34" charset="-122"/>
                <a:cs typeface="Courier New" pitchFamily="34" charset="-120"/>
              </a:rPr>
              <a:t>learning_rate = 0.1</a:t>
            </a:r>
            <a:endParaRPr lang="en-US" sz="2200" dirty="0"/>
          </a:p>
        </p:txBody>
      </p:sp>
      <p:sp>
        <p:nvSpPr>
          <p:cNvPr id="10" name="Shape 8"/>
          <p:cNvSpPr/>
          <p:nvPr/>
        </p:nvSpPr>
        <p:spPr>
          <a:xfrm>
            <a:off x="7498080" y="3017520"/>
            <a:ext cx="4114800" cy="822960"/>
          </a:xfrm>
          <a:prstGeom prst="roundRect">
            <a:avLst>
              <a:gd name="adj" fmla="val 16667"/>
            </a:avLst>
          </a:prstGeom>
          <a:solidFill>
            <a:srgbClr val="EEF1FA"/>
          </a:solidFill>
          <a:ln w="12700">
            <a:solidFill>
              <a:srgbClr val="EEF1FA"/>
            </a:solidFill>
            <a:prstDash val="solid"/>
          </a:ln>
        </p:spPr>
      </p:sp>
      <p:sp>
        <p:nvSpPr>
          <p:cNvPr id="11" name="Text 9"/>
          <p:cNvSpPr txBox="1"/>
          <p:nvPr/>
        </p:nvSpPr>
        <p:spPr>
          <a:xfrm>
            <a:off x="7772400" y="3017520"/>
            <a:ext cx="3657600" cy="822960"/>
          </a:xfrm>
          <a:prstGeom prst="rect">
            <a:avLst/>
          </a:prstGeom>
          <a:noFill/>
          <a:ln/>
        </p:spPr>
        <p:txBody>
          <a:bodyPr wrap="square" lIns="0" tIns="0" rIns="0" bIns="0" rtlCol="0" anchor="ctr"/>
          <a:lstStyle/>
          <a:p>
            <a:pPr indent="0" marL="0">
              <a:buNone/>
            </a:pPr>
            <a:r>
              <a:rPr lang="en-US" sz="2200" b="1" dirty="0">
                <a:solidFill>
                  <a:srgbClr val="1B1F3B"/>
                </a:solidFill>
                <a:latin typeface="Courier New" pitchFamily="34" charset="0"/>
                <a:ea typeface="Courier New" pitchFamily="34" charset="-122"/>
                <a:cs typeface="Courier New" pitchFamily="34" charset="-120"/>
              </a:rPr>
              <a:t>num_leaves = 31</a:t>
            </a:r>
            <a:endParaRPr lang="en-US" sz="2200" dirty="0"/>
          </a:p>
        </p:txBody>
      </p:sp>
      <p:sp>
        <p:nvSpPr>
          <p:cNvPr id="12" name="Shape 10"/>
          <p:cNvSpPr/>
          <p:nvPr/>
        </p:nvSpPr>
        <p:spPr>
          <a:xfrm>
            <a:off x="7498080" y="4023360"/>
            <a:ext cx="4114800" cy="822960"/>
          </a:xfrm>
          <a:prstGeom prst="roundRect">
            <a:avLst>
              <a:gd name="adj" fmla="val 16667"/>
            </a:avLst>
          </a:prstGeom>
          <a:solidFill>
            <a:srgbClr val="EEF1FA"/>
          </a:solidFill>
          <a:ln w="12700">
            <a:solidFill>
              <a:srgbClr val="EEF1FA"/>
            </a:solidFill>
            <a:prstDash val="solid"/>
          </a:ln>
        </p:spPr>
      </p:sp>
      <p:sp>
        <p:nvSpPr>
          <p:cNvPr id="13" name="Text 11"/>
          <p:cNvSpPr txBox="1"/>
          <p:nvPr/>
        </p:nvSpPr>
        <p:spPr>
          <a:xfrm>
            <a:off x="7772400" y="4023360"/>
            <a:ext cx="3657600" cy="822960"/>
          </a:xfrm>
          <a:prstGeom prst="rect">
            <a:avLst/>
          </a:prstGeom>
          <a:noFill/>
          <a:ln/>
        </p:spPr>
        <p:txBody>
          <a:bodyPr wrap="square" lIns="0" tIns="0" rIns="0" bIns="0" rtlCol="0" anchor="ctr"/>
          <a:lstStyle/>
          <a:p>
            <a:pPr indent="0" marL="0">
              <a:buNone/>
            </a:pPr>
            <a:r>
              <a:rPr lang="en-US" sz="2200" b="1" dirty="0">
                <a:solidFill>
                  <a:srgbClr val="1B1F3B"/>
                </a:solidFill>
                <a:latin typeface="Courier New" pitchFamily="34" charset="0"/>
                <a:ea typeface="Courier New" pitchFamily="34" charset="-122"/>
                <a:cs typeface="Courier New" pitchFamily="34" charset="-120"/>
              </a:rPr>
              <a:t>n_estimators = 100</a:t>
            </a:r>
            <a:endParaRPr lang="en-US" sz="2200" dirty="0"/>
          </a:p>
        </p:txBody>
      </p:sp>
      <p:sp>
        <p:nvSpPr>
          <p:cNvPr id="14" name="Text 12"/>
          <p:cNvSpPr txBox="1"/>
          <p:nvPr/>
        </p:nvSpPr>
        <p:spPr>
          <a:xfrm>
            <a:off x="7498080" y="5120640"/>
            <a:ext cx="4114800" cy="82296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Same data + different settings = a better or worse model</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Think of revising for an exam</a:t>
            </a:r>
            <a:endParaRPr lang="en-US" sz="3600" dirty="0"/>
          </a:p>
        </p:txBody>
      </p:sp>
      <p:sp>
        <p:nvSpPr>
          <p:cNvPr id="3" name="Text 1"/>
          <p:cNvSpPr txBox="1"/>
          <p:nvPr/>
        </p:nvSpPr>
        <p:spPr>
          <a:xfrm>
            <a:off x="548640" y="1234440"/>
            <a:ext cx="10972800" cy="457200"/>
          </a:xfrm>
          <a:prstGeom prst="rect">
            <a:avLst/>
          </a:prstGeom>
          <a:noFill/>
          <a:ln/>
        </p:spPr>
        <p:txBody>
          <a:bodyPr wrap="square" lIns="0" tIns="0" rIns="0" bIns="0" rtlCol="0" anchor="t"/>
          <a:lstStyle/>
          <a:p>
            <a:pPr indent="0" marL="0">
              <a:buNone/>
            </a:pPr>
            <a:r>
              <a:rPr lang="en-US" sz="2200" dirty="0">
                <a:solidFill>
                  <a:srgbClr val="4A5070"/>
                </a:solidFill>
                <a:latin typeface="Calibri" pitchFamily="34" charset="0"/>
                <a:ea typeface="Calibri" pitchFamily="34" charset="-122"/>
                <a:cs typeface="Calibri" pitchFamily="34" charset="-120"/>
              </a:rPr>
              <a:t>A model is like a student. Training is like revising.</a:t>
            </a:r>
            <a:endParaRPr lang="en-US" sz="2200" dirty="0"/>
          </a:p>
        </p:txBody>
      </p:sp>
      <p:sp>
        <p:nvSpPr>
          <p:cNvPr id="4" name="Shape 2"/>
          <p:cNvSpPr/>
          <p:nvPr/>
        </p:nvSpPr>
        <p:spPr>
          <a:xfrm>
            <a:off x="548640" y="1920240"/>
            <a:ext cx="5120640" cy="868680"/>
          </a:xfrm>
          <a:prstGeom prst="roundRect">
            <a:avLst>
              <a:gd name="adj" fmla="val 15789"/>
            </a:avLst>
          </a:prstGeom>
          <a:solidFill>
            <a:srgbClr val="EEF1FA"/>
          </a:solidFill>
          <a:ln w="12700">
            <a:solidFill>
              <a:srgbClr val="EEF1FA"/>
            </a:solidFill>
            <a:prstDash val="solid"/>
          </a:ln>
        </p:spPr>
      </p:sp>
      <p:sp>
        <p:nvSpPr>
          <p:cNvPr id="5" name="Text 3"/>
          <p:cNvSpPr txBox="1"/>
          <p:nvPr/>
        </p:nvSpPr>
        <p:spPr>
          <a:xfrm>
            <a:off x="777240" y="1920240"/>
            <a:ext cx="4663440" cy="868680"/>
          </a:xfrm>
          <a:prstGeom prst="rect">
            <a:avLst/>
          </a:prstGeom>
          <a:noFill/>
          <a:ln/>
        </p:spPr>
        <p:txBody>
          <a:bodyPr wrap="square" lIns="0" tIns="0" rIns="0" bIns="0" rtlCol="0" anchor="ctr"/>
          <a:lstStyle/>
          <a:p>
            <a:pPr indent="0" marL="0">
              <a:buNone/>
            </a:pPr>
            <a:r>
              <a:rPr lang="en-US" sz="2000" dirty="0">
                <a:solidFill>
                  <a:srgbClr val="1B1F3B"/>
                </a:solidFill>
                <a:latin typeface="Calibri" pitchFamily="34" charset="0"/>
                <a:ea typeface="Calibri" pitchFamily="34" charset="-122"/>
                <a:cs typeface="Calibri" pitchFamily="34" charset="-120"/>
              </a:rPr>
              <a:t>The student</a:t>
            </a:r>
            <a:endParaRPr lang="en-US" sz="2000" dirty="0"/>
          </a:p>
        </p:txBody>
      </p:sp>
      <p:sp>
        <p:nvSpPr>
          <p:cNvPr id="6" name="Shape 4"/>
          <p:cNvSpPr/>
          <p:nvPr/>
        </p:nvSpPr>
        <p:spPr>
          <a:xfrm>
            <a:off x="5897880" y="2103120"/>
            <a:ext cx="822960" cy="502920"/>
          </a:xfrm>
          <a:prstGeom prst="rightArrow">
            <a:avLst/>
          </a:prstGeom>
          <a:solidFill>
            <a:srgbClr val="D6452B"/>
          </a:solidFill>
          <a:ln w="12700">
            <a:solidFill>
              <a:srgbClr val="D6452B"/>
            </a:solidFill>
            <a:prstDash val="solid"/>
          </a:ln>
        </p:spPr>
      </p:sp>
      <p:sp>
        <p:nvSpPr>
          <p:cNvPr id="7" name="Shape 5"/>
          <p:cNvSpPr/>
          <p:nvPr/>
        </p:nvSpPr>
        <p:spPr>
          <a:xfrm>
            <a:off x="6949440" y="1920240"/>
            <a:ext cx="4663440" cy="868680"/>
          </a:xfrm>
          <a:prstGeom prst="roundRect">
            <a:avLst>
              <a:gd name="adj" fmla="val 15789"/>
            </a:avLst>
          </a:prstGeom>
          <a:solidFill>
            <a:srgbClr val="0E8F7E"/>
          </a:solidFill>
          <a:ln w="12700">
            <a:solidFill>
              <a:srgbClr val="0E8F7E"/>
            </a:solidFill>
            <a:prstDash val="solid"/>
          </a:ln>
        </p:spPr>
      </p:sp>
      <p:sp>
        <p:nvSpPr>
          <p:cNvPr id="8" name="Text 6"/>
          <p:cNvSpPr txBox="1"/>
          <p:nvPr/>
        </p:nvSpPr>
        <p:spPr>
          <a:xfrm>
            <a:off x="7178040" y="1920240"/>
            <a:ext cx="4206240" cy="8686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model</a:t>
            </a:r>
            <a:endParaRPr lang="en-US" sz="2000" dirty="0"/>
          </a:p>
        </p:txBody>
      </p:sp>
      <p:sp>
        <p:nvSpPr>
          <p:cNvPr id="9" name="Shape 7"/>
          <p:cNvSpPr/>
          <p:nvPr/>
        </p:nvSpPr>
        <p:spPr>
          <a:xfrm>
            <a:off x="548640" y="2971800"/>
            <a:ext cx="5120640" cy="868680"/>
          </a:xfrm>
          <a:prstGeom prst="roundRect">
            <a:avLst>
              <a:gd name="adj" fmla="val 15789"/>
            </a:avLst>
          </a:prstGeom>
          <a:solidFill>
            <a:srgbClr val="EEF1FA"/>
          </a:solidFill>
          <a:ln w="12700">
            <a:solidFill>
              <a:srgbClr val="EEF1FA"/>
            </a:solidFill>
            <a:prstDash val="solid"/>
          </a:ln>
        </p:spPr>
      </p:sp>
      <p:sp>
        <p:nvSpPr>
          <p:cNvPr id="10" name="Text 8"/>
          <p:cNvSpPr txBox="1"/>
          <p:nvPr/>
        </p:nvSpPr>
        <p:spPr>
          <a:xfrm>
            <a:off x="777240" y="2971800"/>
            <a:ext cx="4663440" cy="868680"/>
          </a:xfrm>
          <a:prstGeom prst="rect">
            <a:avLst/>
          </a:prstGeom>
          <a:noFill/>
          <a:ln/>
        </p:spPr>
        <p:txBody>
          <a:bodyPr wrap="square" lIns="0" tIns="0" rIns="0" bIns="0" rtlCol="0" anchor="ctr"/>
          <a:lstStyle/>
          <a:p>
            <a:pPr indent="0" marL="0">
              <a:buNone/>
            </a:pPr>
            <a:r>
              <a:rPr lang="en-US" sz="2000" dirty="0">
                <a:solidFill>
                  <a:srgbClr val="1B1F3B"/>
                </a:solidFill>
                <a:latin typeface="Calibri" pitchFamily="34" charset="0"/>
                <a:ea typeface="Calibri" pitchFamily="34" charset="-122"/>
                <a:cs typeface="Calibri" pitchFamily="34" charset="-120"/>
              </a:rPr>
              <a:t>The textbook</a:t>
            </a:r>
            <a:endParaRPr lang="en-US" sz="2000" dirty="0"/>
          </a:p>
        </p:txBody>
      </p:sp>
      <p:sp>
        <p:nvSpPr>
          <p:cNvPr id="11" name="Shape 9"/>
          <p:cNvSpPr/>
          <p:nvPr/>
        </p:nvSpPr>
        <p:spPr>
          <a:xfrm>
            <a:off x="5897880" y="3154680"/>
            <a:ext cx="822960" cy="502920"/>
          </a:xfrm>
          <a:prstGeom prst="rightArrow">
            <a:avLst/>
          </a:prstGeom>
          <a:solidFill>
            <a:srgbClr val="D6452B"/>
          </a:solidFill>
          <a:ln w="12700">
            <a:solidFill>
              <a:srgbClr val="D6452B"/>
            </a:solidFill>
            <a:prstDash val="solid"/>
          </a:ln>
        </p:spPr>
      </p:sp>
      <p:sp>
        <p:nvSpPr>
          <p:cNvPr id="12" name="Shape 10"/>
          <p:cNvSpPr/>
          <p:nvPr/>
        </p:nvSpPr>
        <p:spPr>
          <a:xfrm>
            <a:off x="6949440" y="2971800"/>
            <a:ext cx="4663440" cy="868680"/>
          </a:xfrm>
          <a:prstGeom prst="roundRect">
            <a:avLst>
              <a:gd name="adj" fmla="val 15789"/>
            </a:avLst>
          </a:prstGeom>
          <a:solidFill>
            <a:srgbClr val="0E8F7E"/>
          </a:solidFill>
          <a:ln w="12700">
            <a:solidFill>
              <a:srgbClr val="0E8F7E"/>
            </a:solidFill>
            <a:prstDash val="solid"/>
          </a:ln>
        </p:spPr>
      </p:sp>
      <p:sp>
        <p:nvSpPr>
          <p:cNvPr id="13" name="Text 11"/>
          <p:cNvSpPr txBox="1"/>
          <p:nvPr/>
        </p:nvSpPr>
        <p:spPr>
          <a:xfrm>
            <a:off x="7178040" y="2971800"/>
            <a:ext cx="4206240" cy="8686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Your training data</a:t>
            </a:r>
            <a:endParaRPr lang="en-US" sz="2000" dirty="0"/>
          </a:p>
        </p:txBody>
      </p:sp>
      <p:sp>
        <p:nvSpPr>
          <p:cNvPr id="14" name="Shape 12"/>
          <p:cNvSpPr/>
          <p:nvPr/>
        </p:nvSpPr>
        <p:spPr>
          <a:xfrm>
            <a:off x="548640" y="4023360"/>
            <a:ext cx="5120640" cy="868680"/>
          </a:xfrm>
          <a:prstGeom prst="roundRect">
            <a:avLst>
              <a:gd name="adj" fmla="val 15789"/>
            </a:avLst>
          </a:prstGeom>
          <a:solidFill>
            <a:srgbClr val="EEF1FA"/>
          </a:solidFill>
          <a:ln w="12700">
            <a:solidFill>
              <a:srgbClr val="EEF1FA"/>
            </a:solidFill>
            <a:prstDash val="solid"/>
          </a:ln>
        </p:spPr>
      </p:sp>
      <p:sp>
        <p:nvSpPr>
          <p:cNvPr id="15" name="Text 13"/>
          <p:cNvSpPr txBox="1"/>
          <p:nvPr/>
        </p:nvSpPr>
        <p:spPr>
          <a:xfrm>
            <a:off x="777240" y="4023360"/>
            <a:ext cx="4663440" cy="868680"/>
          </a:xfrm>
          <a:prstGeom prst="rect">
            <a:avLst/>
          </a:prstGeom>
          <a:noFill/>
          <a:ln/>
        </p:spPr>
        <p:txBody>
          <a:bodyPr wrap="square" lIns="0" tIns="0" rIns="0" bIns="0" rtlCol="0" anchor="ctr"/>
          <a:lstStyle/>
          <a:p>
            <a:pPr indent="0" marL="0">
              <a:buNone/>
            </a:pPr>
            <a:r>
              <a:rPr lang="en-US" sz="2000" dirty="0">
                <a:solidFill>
                  <a:srgbClr val="1B1F3B"/>
                </a:solidFill>
                <a:latin typeface="Calibri" pitchFamily="34" charset="0"/>
                <a:ea typeface="Calibri" pitchFamily="34" charset="-122"/>
                <a:cs typeface="Calibri" pitchFamily="34" charset="-120"/>
              </a:rPr>
              <a:t>Your revision plan: hours per day, how many past papers</a:t>
            </a:r>
            <a:endParaRPr lang="en-US" sz="2000" dirty="0"/>
          </a:p>
        </p:txBody>
      </p:sp>
      <p:sp>
        <p:nvSpPr>
          <p:cNvPr id="16" name="Shape 14"/>
          <p:cNvSpPr/>
          <p:nvPr/>
        </p:nvSpPr>
        <p:spPr>
          <a:xfrm>
            <a:off x="5897880" y="4206240"/>
            <a:ext cx="822960" cy="502920"/>
          </a:xfrm>
          <a:prstGeom prst="rightArrow">
            <a:avLst/>
          </a:prstGeom>
          <a:solidFill>
            <a:srgbClr val="D6452B"/>
          </a:solidFill>
          <a:ln w="12700">
            <a:solidFill>
              <a:srgbClr val="D6452B"/>
            </a:solidFill>
            <a:prstDash val="solid"/>
          </a:ln>
        </p:spPr>
      </p:sp>
      <p:sp>
        <p:nvSpPr>
          <p:cNvPr id="17" name="Shape 15"/>
          <p:cNvSpPr/>
          <p:nvPr/>
        </p:nvSpPr>
        <p:spPr>
          <a:xfrm>
            <a:off x="6949440" y="4023360"/>
            <a:ext cx="4663440" cy="868680"/>
          </a:xfrm>
          <a:prstGeom prst="roundRect">
            <a:avLst>
              <a:gd name="adj" fmla="val 15789"/>
            </a:avLst>
          </a:prstGeom>
          <a:solidFill>
            <a:srgbClr val="1B1F3B"/>
          </a:solidFill>
          <a:ln w="12700">
            <a:solidFill>
              <a:srgbClr val="1B1F3B"/>
            </a:solidFill>
            <a:prstDash val="solid"/>
          </a:ln>
        </p:spPr>
      </p:sp>
      <p:sp>
        <p:nvSpPr>
          <p:cNvPr id="18" name="Text 16"/>
          <p:cNvSpPr txBox="1"/>
          <p:nvPr/>
        </p:nvSpPr>
        <p:spPr>
          <a:xfrm>
            <a:off x="7178040" y="4023360"/>
            <a:ext cx="4206240" cy="8686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Hyperparameters (you choose these)</a:t>
            </a:r>
            <a:endParaRPr lang="en-US" sz="2000" dirty="0"/>
          </a:p>
        </p:txBody>
      </p:sp>
      <p:sp>
        <p:nvSpPr>
          <p:cNvPr id="19" name="Shape 17"/>
          <p:cNvSpPr/>
          <p:nvPr/>
        </p:nvSpPr>
        <p:spPr>
          <a:xfrm>
            <a:off x="548640" y="5074920"/>
            <a:ext cx="5120640" cy="868680"/>
          </a:xfrm>
          <a:prstGeom prst="roundRect">
            <a:avLst>
              <a:gd name="adj" fmla="val 15789"/>
            </a:avLst>
          </a:prstGeom>
          <a:solidFill>
            <a:srgbClr val="EEF1FA"/>
          </a:solidFill>
          <a:ln w="12700">
            <a:solidFill>
              <a:srgbClr val="EEF1FA"/>
            </a:solidFill>
            <a:prstDash val="solid"/>
          </a:ln>
        </p:spPr>
      </p:sp>
      <p:sp>
        <p:nvSpPr>
          <p:cNvPr id="20" name="Text 18"/>
          <p:cNvSpPr txBox="1"/>
          <p:nvPr/>
        </p:nvSpPr>
        <p:spPr>
          <a:xfrm>
            <a:off x="777240" y="5074920"/>
            <a:ext cx="4663440" cy="868680"/>
          </a:xfrm>
          <a:prstGeom prst="rect">
            <a:avLst/>
          </a:prstGeom>
          <a:noFill/>
          <a:ln/>
        </p:spPr>
        <p:txBody>
          <a:bodyPr wrap="square" lIns="0" tIns="0" rIns="0" bIns="0" rtlCol="0" anchor="ctr"/>
          <a:lstStyle/>
          <a:p>
            <a:pPr indent="0" marL="0">
              <a:buNone/>
            </a:pPr>
            <a:r>
              <a:rPr lang="en-US" sz="2000" dirty="0">
                <a:solidFill>
                  <a:srgbClr val="1B1F3B"/>
                </a:solidFill>
                <a:latin typeface="Calibri" pitchFamily="34" charset="0"/>
                <a:ea typeface="Calibri" pitchFamily="34" charset="-122"/>
                <a:cs typeface="Calibri" pitchFamily="34" charset="-120"/>
              </a:rPr>
              <a:t>The facts that end up in your head</a:t>
            </a:r>
            <a:endParaRPr lang="en-US" sz="2000" dirty="0"/>
          </a:p>
        </p:txBody>
      </p:sp>
      <p:sp>
        <p:nvSpPr>
          <p:cNvPr id="21" name="Shape 19"/>
          <p:cNvSpPr/>
          <p:nvPr/>
        </p:nvSpPr>
        <p:spPr>
          <a:xfrm>
            <a:off x="5897880" y="5257800"/>
            <a:ext cx="822960" cy="502920"/>
          </a:xfrm>
          <a:prstGeom prst="rightArrow">
            <a:avLst/>
          </a:prstGeom>
          <a:solidFill>
            <a:srgbClr val="D6452B"/>
          </a:solidFill>
          <a:ln w="12700">
            <a:solidFill>
              <a:srgbClr val="D6452B"/>
            </a:solidFill>
            <a:prstDash val="solid"/>
          </a:ln>
        </p:spPr>
      </p:sp>
      <p:sp>
        <p:nvSpPr>
          <p:cNvPr id="22" name="Shape 20"/>
          <p:cNvSpPr/>
          <p:nvPr/>
        </p:nvSpPr>
        <p:spPr>
          <a:xfrm>
            <a:off x="6949440" y="5074920"/>
            <a:ext cx="4663440" cy="868680"/>
          </a:xfrm>
          <a:prstGeom prst="roundRect">
            <a:avLst>
              <a:gd name="adj" fmla="val 15789"/>
            </a:avLst>
          </a:prstGeom>
          <a:solidFill>
            <a:srgbClr val="0E8F7E"/>
          </a:solidFill>
          <a:ln w="12700">
            <a:solidFill>
              <a:srgbClr val="0E8F7E"/>
            </a:solidFill>
            <a:prstDash val="solid"/>
          </a:ln>
        </p:spPr>
      </p:sp>
      <p:sp>
        <p:nvSpPr>
          <p:cNvPr id="23" name="Text 21"/>
          <p:cNvSpPr txBox="1"/>
          <p:nvPr/>
        </p:nvSpPr>
        <p:spPr>
          <a:xfrm>
            <a:off x="7178040" y="5074920"/>
            <a:ext cx="4206240" cy="8686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Parameters (the model learns these)</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Parameters vs hyperparameters</a:t>
            </a:r>
            <a:endParaRPr lang="en-US" sz="3600" dirty="0"/>
          </a:p>
        </p:txBody>
      </p:sp>
      <p:sp>
        <p:nvSpPr>
          <p:cNvPr id="3" name="Shape 1"/>
          <p:cNvSpPr/>
          <p:nvPr/>
        </p:nvSpPr>
        <p:spPr>
          <a:xfrm>
            <a:off x="548640" y="1554480"/>
            <a:ext cx="5394960" cy="3566160"/>
          </a:xfrm>
          <a:prstGeom prst="roundRect">
            <a:avLst>
              <a:gd name="adj" fmla="val 3846"/>
            </a:avLst>
          </a:prstGeom>
          <a:solidFill>
            <a:srgbClr val="EEF1FA"/>
          </a:solidFill>
          <a:ln w="12700">
            <a:solidFill>
              <a:srgbClr val="EEF1FA"/>
            </a:solidFill>
            <a:prstDash val="solid"/>
          </a:ln>
        </p:spPr>
      </p:sp>
      <p:sp>
        <p:nvSpPr>
          <p:cNvPr id="4" name="Text 2"/>
          <p:cNvSpPr txBox="1"/>
          <p:nvPr/>
        </p:nvSpPr>
        <p:spPr>
          <a:xfrm>
            <a:off x="822960" y="1783080"/>
            <a:ext cx="4846320" cy="45720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Parameters</a:t>
            </a:r>
            <a:endParaRPr lang="en-US" sz="2200" dirty="0"/>
          </a:p>
        </p:txBody>
      </p:sp>
      <p:sp>
        <p:nvSpPr>
          <p:cNvPr id="5" name="Text 3"/>
          <p:cNvSpPr txBox="1"/>
          <p:nvPr/>
        </p:nvSpPr>
        <p:spPr>
          <a:xfrm>
            <a:off x="822960" y="2331720"/>
            <a:ext cx="4846320" cy="256032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Learned by the model from the data.</a:t>
            </a:r>
            <a:endParaRPr lang="en-US" sz="1800" dirty="0"/>
          </a:p>
          <a:p>
            <a:pPr indent="0" marL="0">
              <a:buNone/>
            </a:pP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Example: a house price model works out that more bedrooms usually means a higher price.</a:t>
            </a:r>
            <a:endParaRPr lang="en-US" sz="1800" dirty="0"/>
          </a:p>
          <a:p>
            <a:pPr indent="0" marL="0">
              <a:buNone/>
            </a:pP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You never set these by hand.</a:t>
            </a:r>
            <a:endParaRPr lang="en-US" sz="1800" dirty="0"/>
          </a:p>
        </p:txBody>
      </p:sp>
      <p:sp>
        <p:nvSpPr>
          <p:cNvPr id="6" name="Shape 4"/>
          <p:cNvSpPr/>
          <p:nvPr/>
        </p:nvSpPr>
        <p:spPr>
          <a:xfrm>
            <a:off x="6217920" y="1554480"/>
            <a:ext cx="5394960" cy="3566160"/>
          </a:xfrm>
          <a:prstGeom prst="roundRect">
            <a:avLst>
              <a:gd name="adj" fmla="val 3846"/>
            </a:avLst>
          </a:prstGeom>
          <a:solidFill>
            <a:srgbClr val="EEF1FA"/>
          </a:solidFill>
          <a:ln w="12700">
            <a:solidFill>
              <a:srgbClr val="EEF1FA"/>
            </a:solidFill>
            <a:prstDash val="solid"/>
          </a:ln>
        </p:spPr>
      </p:sp>
      <p:sp>
        <p:nvSpPr>
          <p:cNvPr id="7" name="Text 5"/>
          <p:cNvSpPr txBox="1"/>
          <p:nvPr/>
        </p:nvSpPr>
        <p:spPr>
          <a:xfrm>
            <a:off x="6492240" y="1783080"/>
            <a:ext cx="4846320" cy="45720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Hyperparameters</a:t>
            </a:r>
            <a:endParaRPr lang="en-US" sz="2200" dirty="0"/>
          </a:p>
        </p:txBody>
      </p:sp>
      <p:sp>
        <p:nvSpPr>
          <p:cNvPr id="8" name="Text 6"/>
          <p:cNvSpPr txBox="1"/>
          <p:nvPr/>
        </p:nvSpPr>
        <p:spPr>
          <a:xfrm>
            <a:off x="6492240" y="2331720"/>
            <a:ext cx="4846320" cy="256032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Chosen by you before training starts.</a:t>
            </a:r>
            <a:endParaRPr lang="en-US" sz="1800" dirty="0"/>
          </a:p>
          <a:p>
            <a:pPr indent="0" marL="0">
              <a:buNone/>
            </a:pP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Example: how many decision trees to build, and how complex each tree is allowed to be.</a:t>
            </a:r>
            <a:endParaRPr lang="en-US" sz="1800" dirty="0"/>
          </a:p>
          <a:p>
            <a:pPr indent="0" marL="0">
              <a:buNone/>
            </a:pP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These are the dials we tune today.</a:t>
            </a:r>
            <a:endParaRPr lang="en-US" sz="1800" dirty="0"/>
          </a:p>
        </p:txBody>
      </p:sp>
      <p:sp>
        <p:nvSpPr>
          <p:cNvPr id="9" name="Text 7"/>
          <p:cNvSpPr txBox="1"/>
          <p:nvPr/>
        </p:nvSpPr>
        <p:spPr>
          <a:xfrm>
            <a:off x="548640" y="5486400"/>
            <a:ext cx="10972800" cy="640080"/>
          </a:xfrm>
          <a:prstGeom prst="rect">
            <a:avLst/>
          </a:prstGeom>
          <a:noFill/>
          <a:ln/>
        </p:spPr>
        <p:txBody>
          <a:bodyPr wrap="square" lIns="0" tIns="0" rIns="0" bIns="0" rtlCol="0" anchor="t"/>
          <a:lstStyle/>
          <a:p>
            <a:pPr indent="0" marL="0">
              <a:buNone/>
            </a:pPr>
            <a:r>
              <a:rPr lang="en-US" sz="2000" i="1" dirty="0">
                <a:solidFill>
                  <a:srgbClr val="4A5070"/>
                </a:solidFill>
                <a:latin typeface="Calibri" pitchFamily="34" charset="0"/>
                <a:ea typeface="Calibri" pitchFamily="34" charset="-122"/>
                <a:cs typeface="Calibri" pitchFamily="34" charset="-120"/>
              </a:rPr>
              <a:t>Rule of thumb: if the model figures it out, it's a parameter. If you type it in, it's a hyperparameter.</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What is a tree?</a:t>
            </a:r>
            <a:endParaRPr lang="en-US" sz="3600" dirty="0"/>
          </a:p>
        </p:txBody>
      </p:sp>
      <p:sp>
        <p:nvSpPr>
          <p:cNvPr id="3" name="Shape 1"/>
          <p:cNvSpPr/>
          <p:nvPr/>
        </p:nvSpPr>
        <p:spPr>
          <a:xfrm flipH="1">
            <a:off x="1554480" y="2286000"/>
            <a:ext cx="2011680" cy="1005840"/>
          </a:xfrm>
          <a:prstGeom prst="line">
            <a:avLst/>
          </a:prstGeom>
          <a:noFill/>
          <a:ln w="25400">
            <a:solidFill>
              <a:srgbClr val="4A5070"/>
            </a:solidFill>
            <a:prstDash val="solid"/>
          </a:ln>
        </p:spPr>
      </p:sp>
      <p:sp>
        <p:nvSpPr>
          <p:cNvPr id="4" name="Shape 2"/>
          <p:cNvSpPr/>
          <p:nvPr/>
        </p:nvSpPr>
        <p:spPr>
          <a:xfrm>
            <a:off x="3566160" y="2286000"/>
            <a:ext cx="1371600" cy="1005840"/>
          </a:xfrm>
          <a:prstGeom prst="line">
            <a:avLst/>
          </a:prstGeom>
          <a:noFill/>
          <a:ln w="25400">
            <a:solidFill>
              <a:srgbClr val="4A5070"/>
            </a:solidFill>
            <a:prstDash val="solid"/>
          </a:ln>
        </p:spPr>
      </p:sp>
      <p:sp>
        <p:nvSpPr>
          <p:cNvPr id="5" name="Shape 3"/>
          <p:cNvSpPr/>
          <p:nvPr/>
        </p:nvSpPr>
        <p:spPr>
          <a:xfrm flipH="1">
            <a:off x="3794760" y="4114800"/>
            <a:ext cx="1143000" cy="914400"/>
          </a:xfrm>
          <a:prstGeom prst="line">
            <a:avLst/>
          </a:prstGeom>
          <a:noFill/>
          <a:ln w="25400">
            <a:solidFill>
              <a:srgbClr val="4A5070"/>
            </a:solidFill>
            <a:prstDash val="solid"/>
          </a:ln>
        </p:spPr>
      </p:sp>
      <p:sp>
        <p:nvSpPr>
          <p:cNvPr id="6" name="Shape 4"/>
          <p:cNvSpPr/>
          <p:nvPr/>
        </p:nvSpPr>
        <p:spPr>
          <a:xfrm>
            <a:off x="4937760" y="4114800"/>
            <a:ext cx="1051560" cy="914400"/>
          </a:xfrm>
          <a:prstGeom prst="line">
            <a:avLst/>
          </a:prstGeom>
          <a:noFill/>
          <a:ln w="25400">
            <a:solidFill>
              <a:srgbClr val="4A5070"/>
            </a:solidFill>
            <a:prstDash val="solid"/>
          </a:ln>
        </p:spPr>
      </p:sp>
      <p:sp>
        <p:nvSpPr>
          <p:cNvPr id="7" name="Shape 5"/>
          <p:cNvSpPr/>
          <p:nvPr/>
        </p:nvSpPr>
        <p:spPr>
          <a:xfrm>
            <a:off x="2377440" y="1463040"/>
            <a:ext cx="2377440" cy="822960"/>
          </a:xfrm>
          <a:prstGeom prst="roundRect">
            <a:avLst>
              <a:gd name="adj" fmla="val 16667"/>
            </a:avLst>
          </a:prstGeom>
          <a:solidFill>
            <a:srgbClr val="1B1F3B"/>
          </a:solidFill>
          <a:ln w="12700">
            <a:solidFill>
              <a:srgbClr val="1B1F3B"/>
            </a:solidFill>
            <a:prstDash val="solid"/>
          </a:ln>
        </p:spPr>
      </p:sp>
      <p:sp>
        <p:nvSpPr>
          <p:cNvPr id="8" name="Text 6"/>
          <p:cNvSpPr txBox="1"/>
          <p:nvPr/>
        </p:nvSpPr>
        <p:spPr>
          <a:xfrm>
            <a:off x="2468880" y="1463040"/>
            <a:ext cx="21945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More than 2 bedrooms?</a:t>
            </a:r>
            <a:endParaRPr lang="en-US" sz="1600" dirty="0"/>
          </a:p>
        </p:txBody>
      </p:sp>
      <p:sp>
        <p:nvSpPr>
          <p:cNvPr id="9" name="Shape 7"/>
          <p:cNvSpPr/>
          <p:nvPr/>
        </p:nvSpPr>
        <p:spPr>
          <a:xfrm>
            <a:off x="548640" y="3291840"/>
            <a:ext cx="2011680" cy="822960"/>
          </a:xfrm>
          <a:prstGeom prst="roundRect">
            <a:avLst>
              <a:gd name="adj" fmla="val 16667"/>
            </a:avLst>
          </a:prstGeom>
          <a:solidFill>
            <a:srgbClr val="0E8F7E"/>
          </a:solidFill>
          <a:ln w="12700">
            <a:solidFill>
              <a:srgbClr val="0E8F7E"/>
            </a:solidFill>
            <a:prstDash val="solid"/>
          </a:ln>
        </p:spPr>
      </p:sp>
      <p:sp>
        <p:nvSpPr>
          <p:cNvPr id="10" name="Text 8"/>
          <p:cNvSpPr txBox="1"/>
          <p:nvPr/>
        </p:nvSpPr>
        <p:spPr>
          <a:xfrm>
            <a:off x="640080" y="3291840"/>
            <a:ext cx="18288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Predict £280k</a:t>
            </a:r>
            <a:endParaRPr lang="en-US" sz="1600" dirty="0"/>
          </a:p>
        </p:txBody>
      </p:sp>
      <p:sp>
        <p:nvSpPr>
          <p:cNvPr id="11" name="Shape 9"/>
          <p:cNvSpPr/>
          <p:nvPr/>
        </p:nvSpPr>
        <p:spPr>
          <a:xfrm>
            <a:off x="3840480" y="3291840"/>
            <a:ext cx="2194560" cy="822960"/>
          </a:xfrm>
          <a:prstGeom prst="roundRect">
            <a:avLst>
              <a:gd name="adj" fmla="val 16667"/>
            </a:avLst>
          </a:prstGeom>
          <a:solidFill>
            <a:srgbClr val="1B1F3B"/>
          </a:solidFill>
          <a:ln w="12700">
            <a:solidFill>
              <a:srgbClr val="1B1F3B"/>
            </a:solidFill>
            <a:prstDash val="solid"/>
          </a:ln>
        </p:spPr>
      </p:sp>
      <p:sp>
        <p:nvSpPr>
          <p:cNvPr id="12" name="Text 10"/>
          <p:cNvSpPr txBox="1"/>
          <p:nvPr/>
        </p:nvSpPr>
        <p:spPr>
          <a:xfrm>
            <a:off x="3931920" y="3291840"/>
            <a:ext cx="201168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Big garden?</a:t>
            </a:r>
            <a:endParaRPr lang="en-US" sz="1600" dirty="0"/>
          </a:p>
        </p:txBody>
      </p:sp>
      <p:sp>
        <p:nvSpPr>
          <p:cNvPr id="13" name="Shape 11"/>
          <p:cNvSpPr/>
          <p:nvPr/>
        </p:nvSpPr>
        <p:spPr>
          <a:xfrm>
            <a:off x="2926080" y="5029200"/>
            <a:ext cx="1737360" cy="822960"/>
          </a:xfrm>
          <a:prstGeom prst="roundRect">
            <a:avLst>
              <a:gd name="adj" fmla="val 16667"/>
            </a:avLst>
          </a:prstGeom>
          <a:solidFill>
            <a:srgbClr val="0E8F7E"/>
          </a:solidFill>
          <a:ln w="12700">
            <a:solidFill>
              <a:srgbClr val="0E8F7E"/>
            </a:solidFill>
            <a:prstDash val="solid"/>
          </a:ln>
        </p:spPr>
      </p:sp>
      <p:sp>
        <p:nvSpPr>
          <p:cNvPr id="14" name="Text 12"/>
          <p:cNvSpPr txBox="1"/>
          <p:nvPr/>
        </p:nvSpPr>
        <p:spPr>
          <a:xfrm>
            <a:off x="3017520" y="5029200"/>
            <a:ext cx="155448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Predict £420k</a:t>
            </a:r>
            <a:endParaRPr lang="en-US" sz="1600" dirty="0"/>
          </a:p>
        </p:txBody>
      </p:sp>
      <p:sp>
        <p:nvSpPr>
          <p:cNvPr id="15" name="Shape 13"/>
          <p:cNvSpPr/>
          <p:nvPr/>
        </p:nvSpPr>
        <p:spPr>
          <a:xfrm>
            <a:off x="5120640" y="5029200"/>
            <a:ext cx="1737360" cy="822960"/>
          </a:xfrm>
          <a:prstGeom prst="roundRect">
            <a:avLst>
              <a:gd name="adj" fmla="val 16667"/>
            </a:avLst>
          </a:prstGeom>
          <a:solidFill>
            <a:srgbClr val="0E8F7E"/>
          </a:solidFill>
          <a:ln w="12700">
            <a:solidFill>
              <a:srgbClr val="0E8F7E"/>
            </a:solidFill>
            <a:prstDash val="solid"/>
          </a:ln>
        </p:spPr>
      </p:sp>
      <p:sp>
        <p:nvSpPr>
          <p:cNvPr id="16" name="Text 14"/>
          <p:cNvSpPr txBox="1"/>
          <p:nvPr/>
        </p:nvSpPr>
        <p:spPr>
          <a:xfrm>
            <a:off x="5212080" y="5029200"/>
            <a:ext cx="155448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Predict £520k</a:t>
            </a:r>
            <a:endParaRPr lang="en-US" sz="1600" dirty="0"/>
          </a:p>
        </p:txBody>
      </p:sp>
      <p:sp>
        <p:nvSpPr>
          <p:cNvPr id="17" name="Text 15"/>
          <p:cNvSpPr txBox="1"/>
          <p:nvPr/>
        </p:nvSpPr>
        <p:spPr>
          <a:xfrm>
            <a:off x="1920240" y="2606040"/>
            <a:ext cx="640080" cy="32004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No</a:t>
            </a:r>
            <a:endParaRPr lang="en-US" sz="1600" dirty="0"/>
          </a:p>
        </p:txBody>
      </p:sp>
      <p:sp>
        <p:nvSpPr>
          <p:cNvPr id="18" name="Text 16"/>
          <p:cNvSpPr txBox="1"/>
          <p:nvPr/>
        </p:nvSpPr>
        <p:spPr>
          <a:xfrm>
            <a:off x="4389120" y="2606040"/>
            <a:ext cx="640080" cy="32004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Yes</a:t>
            </a:r>
            <a:endParaRPr lang="en-US" sz="1600" dirty="0"/>
          </a:p>
        </p:txBody>
      </p:sp>
      <p:sp>
        <p:nvSpPr>
          <p:cNvPr id="19" name="Text 17"/>
          <p:cNvSpPr txBox="1"/>
          <p:nvPr/>
        </p:nvSpPr>
        <p:spPr>
          <a:xfrm>
            <a:off x="3840480" y="4389120"/>
            <a:ext cx="640080" cy="32004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No</a:t>
            </a:r>
            <a:endParaRPr lang="en-US" sz="1600" dirty="0"/>
          </a:p>
        </p:txBody>
      </p:sp>
      <p:sp>
        <p:nvSpPr>
          <p:cNvPr id="20" name="Text 18"/>
          <p:cNvSpPr txBox="1"/>
          <p:nvPr/>
        </p:nvSpPr>
        <p:spPr>
          <a:xfrm>
            <a:off x="5577840" y="4389120"/>
            <a:ext cx="640080" cy="32004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Yes</a:t>
            </a:r>
            <a:endParaRPr lang="en-US" sz="1600" dirty="0"/>
          </a:p>
        </p:txBody>
      </p:sp>
      <p:sp>
        <p:nvSpPr>
          <p:cNvPr id="21" name="Text 19"/>
          <p:cNvSpPr txBox="1"/>
          <p:nvPr/>
        </p:nvSpPr>
        <p:spPr>
          <a:xfrm>
            <a:off x="548640" y="5989320"/>
            <a:ext cx="5943600" cy="320040"/>
          </a:xfrm>
          <a:prstGeom prst="rect">
            <a:avLst/>
          </a:prstGeom>
          <a:noFill/>
          <a:ln/>
        </p:spPr>
        <p:txBody>
          <a:bodyPr wrap="square" lIns="0" tIns="0" rIns="0" bIns="0" rtlCol="0" anchor="t"/>
          <a:lstStyle/>
          <a:p>
            <a:pPr indent="0" marL="0">
              <a:buNone/>
            </a:pPr>
            <a:r>
              <a:rPr lang="en-US" sz="1600" i="1" dirty="0">
                <a:solidFill>
                  <a:srgbClr val="4A5070"/>
                </a:solidFill>
                <a:latin typeface="Calibri" pitchFamily="34" charset="0"/>
                <a:ea typeface="Calibri" pitchFamily="34" charset="-122"/>
                <a:cs typeface="Calibri" pitchFamily="34" charset="-120"/>
              </a:rPr>
              <a:t>The end boxes are called leaves.</a:t>
            </a:r>
            <a:endParaRPr lang="en-US" sz="1600" dirty="0"/>
          </a:p>
        </p:txBody>
      </p:sp>
      <p:sp>
        <p:nvSpPr>
          <p:cNvPr id="22" name="Shape 20"/>
          <p:cNvSpPr/>
          <p:nvPr/>
        </p:nvSpPr>
        <p:spPr>
          <a:xfrm>
            <a:off x="7223760" y="1371600"/>
            <a:ext cx="4389120" cy="1463040"/>
          </a:xfrm>
          <a:prstGeom prst="roundRect">
            <a:avLst>
              <a:gd name="adj" fmla="val 9375"/>
            </a:avLst>
          </a:prstGeom>
          <a:solidFill>
            <a:srgbClr val="EEF1FA"/>
          </a:solidFill>
          <a:ln w="12700">
            <a:solidFill>
              <a:srgbClr val="EEF1FA"/>
            </a:solidFill>
            <a:prstDash val="solid"/>
          </a:ln>
        </p:spPr>
      </p:sp>
      <p:sp>
        <p:nvSpPr>
          <p:cNvPr id="23" name="Text 21"/>
          <p:cNvSpPr txBox="1"/>
          <p:nvPr/>
        </p:nvSpPr>
        <p:spPr>
          <a:xfrm>
            <a:off x="7452360" y="1508760"/>
            <a:ext cx="3931920" cy="36576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A decision tree</a:t>
            </a:r>
            <a:endParaRPr lang="en-US" sz="2000" dirty="0"/>
          </a:p>
        </p:txBody>
      </p:sp>
      <p:sp>
        <p:nvSpPr>
          <p:cNvPr id="24" name="Text 22"/>
          <p:cNvSpPr txBox="1"/>
          <p:nvPr/>
        </p:nvSpPr>
        <p:spPr>
          <a:xfrm>
            <a:off x="7452360" y="1920240"/>
            <a:ext cx="39319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A flowchart of yes/no questions that ends in a prediction. Here it predicts a house price.</a:t>
            </a:r>
            <a:endParaRPr lang="en-US" sz="1600" dirty="0"/>
          </a:p>
        </p:txBody>
      </p:sp>
      <p:sp>
        <p:nvSpPr>
          <p:cNvPr id="25" name="Shape 23"/>
          <p:cNvSpPr/>
          <p:nvPr/>
        </p:nvSpPr>
        <p:spPr>
          <a:xfrm>
            <a:off x="7223760" y="2926080"/>
            <a:ext cx="4389120" cy="1463040"/>
          </a:xfrm>
          <a:prstGeom prst="roundRect">
            <a:avLst>
              <a:gd name="adj" fmla="val 9375"/>
            </a:avLst>
          </a:prstGeom>
          <a:solidFill>
            <a:srgbClr val="EEF1FA"/>
          </a:solidFill>
          <a:ln w="12700">
            <a:solidFill>
              <a:srgbClr val="EEF1FA"/>
            </a:solidFill>
            <a:prstDash val="solid"/>
          </a:ln>
        </p:spPr>
      </p:sp>
      <p:sp>
        <p:nvSpPr>
          <p:cNvPr id="26" name="Text 24"/>
          <p:cNvSpPr txBox="1"/>
          <p:nvPr/>
        </p:nvSpPr>
        <p:spPr>
          <a:xfrm>
            <a:off x="7452360" y="3063240"/>
            <a:ext cx="3931920" cy="365760"/>
          </a:xfrm>
          <a:prstGeom prst="rect">
            <a:avLst/>
          </a:prstGeom>
          <a:noFill/>
          <a:ln/>
        </p:spPr>
        <p:txBody>
          <a:bodyPr wrap="square" lIns="0" tIns="0" rIns="0" bIns="0" rtlCol="0" anchor="t"/>
          <a:lstStyle/>
          <a:p>
            <a:pPr indent="0" marL="0">
              <a:buNone/>
            </a:pPr>
            <a:r>
              <a:rPr lang="en-US" sz="2000" b="1" dirty="0">
                <a:solidFill>
                  <a:srgbClr val="0E8F7E"/>
                </a:solidFill>
                <a:latin typeface="Calibri" pitchFamily="34" charset="0"/>
                <a:ea typeface="Calibri" pitchFamily="34" charset="-122"/>
                <a:cs typeface="Calibri" pitchFamily="34" charset="-120"/>
              </a:rPr>
              <a:t>Leaves</a:t>
            </a:r>
            <a:endParaRPr lang="en-US" sz="2000" dirty="0"/>
          </a:p>
        </p:txBody>
      </p:sp>
      <p:sp>
        <p:nvSpPr>
          <p:cNvPr id="27" name="Text 25"/>
          <p:cNvSpPr txBox="1"/>
          <p:nvPr/>
        </p:nvSpPr>
        <p:spPr>
          <a:xfrm>
            <a:off x="7452360" y="3474720"/>
            <a:ext cx="39319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The end boxes that hold the answer. More leaves means more detailed rules. That is num_leaves.</a:t>
            </a:r>
            <a:endParaRPr lang="en-US" sz="1600" dirty="0"/>
          </a:p>
        </p:txBody>
      </p:sp>
      <p:sp>
        <p:nvSpPr>
          <p:cNvPr id="28" name="Shape 26"/>
          <p:cNvSpPr/>
          <p:nvPr/>
        </p:nvSpPr>
        <p:spPr>
          <a:xfrm>
            <a:off x="7223760" y="4480560"/>
            <a:ext cx="4389120" cy="1463040"/>
          </a:xfrm>
          <a:prstGeom prst="roundRect">
            <a:avLst>
              <a:gd name="adj" fmla="val 9375"/>
            </a:avLst>
          </a:prstGeom>
          <a:solidFill>
            <a:srgbClr val="EEF1FA"/>
          </a:solidFill>
          <a:ln w="12700">
            <a:solidFill>
              <a:srgbClr val="EEF1FA"/>
            </a:solidFill>
            <a:prstDash val="solid"/>
          </a:ln>
        </p:spPr>
      </p:sp>
      <p:sp>
        <p:nvSpPr>
          <p:cNvPr id="29" name="Text 27"/>
          <p:cNvSpPr txBox="1"/>
          <p:nvPr/>
        </p:nvSpPr>
        <p:spPr>
          <a:xfrm>
            <a:off x="7452360" y="4617720"/>
            <a:ext cx="3931920" cy="365760"/>
          </a:xfrm>
          <a:prstGeom prst="rect">
            <a:avLst/>
          </a:prstGeom>
          <a:noFill/>
          <a:ln/>
        </p:spPr>
        <p:txBody>
          <a:bodyPr wrap="square" lIns="0" tIns="0" rIns="0" bIns="0" rtlCol="0" anchor="t"/>
          <a:lstStyle/>
          <a:p>
            <a:pPr indent="0" marL="0">
              <a:buNone/>
            </a:pPr>
            <a:r>
              <a:rPr lang="en-US" sz="2000" b="1" dirty="0">
                <a:solidFill>
                  <a:srgbClr val="D6452B"/>
                </a:solidFill>
                <a:latin typeface="Calibri" pitchFamily="34" charset="0"/>
                <a:ea typeface="Calibri" pitchFamily="34" charset="-122"/>
                <a:cs typeface="Calibri" pitchFamily="34" charset="-120"/>
              </a:rPr>
              <a:t>Many trees</a:t>
            </a:r>
            <a:endParaRPr lang="en-US" sz="2000" dirty="0"/>
          </a:p>
        </p:txBody>
      </p:sp>
      <p:sp>
        <p:nvSpPr>
          <p:cNvPr id="30" name="Text 28"/>
          <p:cNvSpPr txBox="1"/>
          <p:nvPr/>
        </p:nvSpPr>
        <p:spPr>
          <a:xfrm>
            <a:off x="7452360" y="5029200"/>
            <a:ext cx="39319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LightGBM builds hundreds of small trees in a row. Each new tree fixes the mistakes of the ones before.</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The main dials in LightGBM</a:t>
            </a:r>
            <a:endParaRPr lang="en-US" sz="3600" dirty="0"/>
          </a:p>
        </p:txBody>
      </p:sp>
      <p:sp>
        <p:nvSpPr>
          <p:cNvPr id="3" name="Shape 1"/>
          <p:cNvSpPr/>
          <p:nvPr/>
        </p:nvSpPr>
        <p:spPr>
          <a:xfrm>
            <a:off x="548640" y="1463040"/>
            <a:ext cx="5394960" cy="2103120"/>
          </a:xfrm>
          <a:prstGeom prst="roundRect">
            <a:avLst>
              <a:gd name="adj" fmla="val 6522"/>
            </a:avLst>
          </a:prstGeom>
          <a:solidFill>
            <a:srgbClr val="EEF1FA"/>
          </a:solidFill>
          <a:ln w="12700">
            <a:solidFill>
              <a:srgbClr val="EEF1FA"/>
            </a:solidFill>
            <a:prstDash val="solid"/>
          </a:ln>
        </p:spPr>
      </p:sp>
      <p:sp>
        <p:nvSpPr>
          <p:cNvPr id="4" name="Shape 2"/>
          <p:cNvSpPr/>
          <p:nvPr/>
        </p:nvSpPr>
        <p:spPr>
          <a:xfrm>
            <a:off x="822960" y="1737360"/>
            <a:ext cx="548640" cy="548640"/>
          </a:xfrm>
          <a:prstGeom prst="ellipse">
            <a:avLst/>
          </a:prstGeom>
          <a:solidFill>
            <a:srgbClr val="0E8F7E"/>
          </a:solidFill>
          <a:ln w="12700">
            <a:solidFill>
              <a:srgbClr val="0E8F7E"/>
            </a:solidFill>
            <a:prstDash val="solid"/>
          </a:ln>
        </p:spPr>
      </p:sp>
      <p:sp>
        <p:nvSpPr>
          <p:cNvPr id="5" name="Text 3"/>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554480" y="1737360"/>
            <a:ext cx="4114800" cy="548640"/>
          </a:xfrm>
          <a:prstGeom prst="rect">
            <a:avLst/>
          </a:prstGeom>
          <a:noFill/>
          <a:ln/>
        </p:spPr>
        <p:txBody>
          <a:bodyPr wrap="square" lIns="0" tIns="0" rIns="0" bIns="0" rtlCol="0" anchor="ctr"/>
          <a:lstStyle/>
          <a:p>
            <a:pPr indent="0" marL="0">
              <a:buNone/>
            </a:pPr>
            <a:r>
              <a:rPr lang="en-US" sz="2400" b="1" dirty="0">
                <a:solidFill>
                  <a:srgbClr val="1B1F3B"/>
                </a:solidFill>
                <a:latin typeface="Courier New" pitchFamily="34" charset="0"/>
                <a:ea typeface="Courier New" pitchFamily="34" charset="-122"/>
                <a:cs typeface="Courier New" pitchFamily="34" charset="-120"/>
              </a:rPr>
              <a:t>learning_rate</a:t>
            </a:r>
            <a:endParaRPr lang="en-US" sz="2400" dirty="0"/>
          </a:p>
        </p:txBody>
      </p:sp>
      <p:sp>
        <p:nvSpPr>
          <p:cNvPr id="7" name="Text 5"/>
          <p:cNvSpPr txBox="1"/>
          <p:nvPr/>
        </p:nvSpPr>
        <p:spPr>
          <a:xfrm>
            <a:off x="822960" y="2423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How big a step each tree takes. Small = slow and careful, like studying a little every day.</a:t>
            </a:r>
            <a:endParaRPr lang="en-US" sz="1800" dirty="0"/>
          </a:p>
        </p:txBody>
      </p:sp>
      <p:sp>
        <p:nvSpPr>
          <p:cNvPr id="8" name="Shape 6"/>
          <p:cNvSpPr/>
          <p:nvPr/>
        </p:nvSpPr>
        <p:spPr>
          <a:xfrm>
            <a:off x="6217920" y="1463040"/>
            <a:ext cx="5394960" cy="2103120"/>
          </a:xfrm>
          <a:prstGeom prst="roundRect">
            <a:avLst>
              <a:gd name="adj" fmla="val 6522"/>
            </a:avLst>
          </a:prstGeom>
          <a:solidFill>
            <a:srgbClr val="EEF1FA"/>
          </a:solidFill>
          <a:ln w="12700">
            <a:solidFill>
              <a:srgbClr val="EEF1FA"/>
            </a:solidFill>
            <a:prstDash val="solid"/>
          </a:ln>
        </p:spPr>
      </p:sp>
      <p:sp>
        <p:nvSpPr>
          <p:cNvPr id="9" name="Shape 7"/>
          <p:cNvSpPr/>
          <p:nvPr/>
        </p:nvSpPr>
        <p:spPr>
          <a:xfrm>
            <a:off x="6492240" y="1737360"/>
            <a:ext cx="548640" cy="548640"/>
          </a:xfrm>
          <a:prstGeom prst="ellipse">
            <a:avLst/>
          </a:prstGeom>
          <a:solidFill>
            <a:srgbClr val="1B1F3B"/>
          </a:solidFill>
          <a:ln w="12700">
            <a:solidFill>
              <a:srgbClr val="1B1F3B"/>
            </a:solidFill>
            <a:prstDash val="solid"/>
          </a:ln>
        </p:spPr>
      </p:sp>
      <p:sp>
        <p:nvSpPr>
          <p:cNvPr id="10" name="Text 8"/>
          <p:cNvSpPr txBox="1"/>
          <p:nvPr/>
        </p:nvSpPr>
        <p:spPr>
          <a:xfrm>
            <a:off x="6492240" y="17373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7223760" y="1737360"/>
            <a:ext cx="4114800" cy="548640"/>
          </a:xfrm>
          <a:prstGeom prst="rect">
            <a:avLst/>
          </a:prstGeom>
          <a:noFill/>
          <a:ln/>
        </p:spPr>
        <p:txBody>
          <a:bodyPr wrap="square" lIns="0" tIns="0" rIns="0" bIns="0" rtlCol="0" anchor="ctr"/>
          <a:lstStyle/>
          <a:p>
            <a:pPr indent="0" marL="0">
              <a:buNone/>
            </a:pPr>
            <a:r>
              <a:rPr lang="en-US" sz="2400" b="1" dirty="0">
                <a:solidFill>
                  <a:srgbClr val="1B1F3B"/>
                </a:solidFill>
                <a:latin typeface="Courier New" pitchFamily="34" charset="0"/>
                <a:ea typeface="Courier New" pitchFamily="34" charset="-122"/>
                <a:cs typeface="Courier New" pitchFamily="34" charset="-120"/>
              </a:rPr>
              <a:t>n_estimators</a:t>
            </a:r>
            <a:endParaRPr lang="en-US" sz="2400" dirty="0"/>
          </a:p>
        </p:txBody>
      </p:sp>
      <p:sp>
        <p:nvSpPr>
          <p:cNvPr id="12" name="Text 10"/>
          <p:cNvSpPr txBox="1"/>
          <p:nvPr/>
        </p:nvSpPr>
        <p:spPr>
          <a:xfrm>
            <a:off x="6492240" y="2423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How many trees to build. Like the number of hours you revise.</a:t>
            </a:r>
            <a:endParaRPr lang="en-US" sz="1800" dirty="0"/>
          </a:p>
        </p:txBody>
      </p:sp>
      <p:sp>
        <p:nvSpPr>
          <p:cNvPr id="13" name="Shape 11"/>
          <p:cNvSpPr/>
          <p:nvPr/>
        </p:nvSpPr>
        <p:spPr>
          <a:xfrm>
            <a:off x="548640" y="3749040"/>
            <a:ext cx="5394960" cy="2103120"/>
          </a:xfrm>
          <a:prstGeom prst="roundRect">
            <a:avLst>
              <a:gd name="adj" fmla="val 6522"/>
            </a:avLst>
          </a:prstGeom>
          <a:solidFill>
            <a:srgbClr val="EEF1FA"/>
          </a:solidFill>
          <a:ln w="12700">
            <a:solidFill>
              <a:srgbClr val="EEF1FA"/>
            </a:solidFill>
            <a:prstDash val="solid"/>
          </a:ln>
        </p:spPr>
      </p:sp>
      <p:sp>
        <p:nvSpPr>
          <p:cNvPr id="14" name="Shape 12"/>
          <p:cNvSpPr/>
          <p:nvPr/>
        </p:nvSpPr>
        <p:spPr>
          <a:xfrm>
            <a:off x="822960" y="4023360"/>
            <a:ext cx="548640" cy="548640"/>
          </a:xfrm>
          <a:prstGeom prst="ellipse">
            <a:avLst/>
          </a:prstGeom>
          <a:solidFill>
            <a:srgbClr val="D6452B"/>
          </a:solidFill>
          <a:ln w="12700">
            <a:solidFill>
              <a:srgbClr val="D6452B"/>
            </a:solidFill>
            <a:prstDash val="solid"/>
          </a:ln>
        </p:spPr>
      </p:sp>
      <p:sp>
        <p:nvSpPr>
          <p:cNvPr id="15" name="Text 13"/>
          <p:cNvSpPr txBox="1"/>
          <p:nvPr/>
        </p:nvSpPr>
        <p:spPr>
          <a:xfrm>
            <a:off x="822960" y="40233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554480" y="4023360"/>
            <a:ext cx="4114800" cy="548640"/>
          </a:xfrm>
          <a:prstGeom prst="rect">
            <a:avLst/>
          </a:prstGeom>
          <a:noFill/>
          <a:ln/>
        </p:spPr>
        <p:txBody>
          <a:bodyPr wrap="square" lIns="0" tIns="0" rIns="0" bIns="0" rtlCol="0" anchor="ctr"/>
          <a:lstStyle/>
          <a:p>
            <a:pPr indent="0" marL="0">
              <a:buNone/>
            </a:pPr>
            <a:r>
              <a:rPr lang="en-US" sz="2400" b="1" dirty="0">
                <a:solidFill>
                  <a:srgbClr val="1B1F3B"/>
                </a:solidFill>
                <a:latin typeface="Courier New" pitchFamily="34" charset="0"/>
                <a:ea typeface="Courier New" pitchFamily="34" charset="-122"/>
                <a:cs typeface="Courier New" pitchFamily="34" charset="-120"/>
              </a:rPr>
              <a:t>num_leaves</a:t>
            </a:r>
            <a:endParaRPr lang="en-US" sz="2400" dirty="0"/>
          </a:p>
        </p:txBody>
      </p:sp>
      <p:sp>
        <p:nvSpPr>
          <p:cNvPr id="17" name="Text 15"/>
          <p:cNvSpPr txBox="1"/>
          <p:nvPr/>
        </p:nvSpPr>
        <p:spPr>
          <a:xfrm>
            <a:off x="822960" y="4709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How detailed each tree can be. Like how detailed your notes are.</a:t>
            </a:r>
            <a:endParaRPr lang="en-US" sz="1800" dirty="0"/>
          </a:p>
        </p:txBody>
      </p:sp>
      <p:sp>
        <p:nvSpPr>
          <p:cNvPr id="18" name="Shape 16"/>
          <p:cNvSpPr/>
          <p:nvPr/>
        </p:nvSpPr>
        <p:spPr>
          <a:xfrm>
            <a:off x="6217920" y="3749040"/>
            <a:ext cx="5394960" cy="2103120"/>
          </a:xfrm>
          <a:prstGeom prst="roundRect">
            <a:avLst>
              <a:gd name="adj" fmla="val 6522"/>
            </a:avLst>
          </a:prstGeom>
          <a:solidFill>
            <a:srgbClr val="EEF1FA"/>
          </a:solidFill>
          <a:ln w="12700">
            <a:solidFill>
              <a:srgbClr val="EEF1FA"/>
            </a:solidFill>
            <a:prstDash val="solid"/>
          </a:ln>
        </p:spPr>
      </p:sp>
      <p:sp>
        <p:nvSpPr>
          <p:cNvPr id="19" name="Shape 17"/>
          <p:cNvSpPr/>
          <p:nvPr/>
        </p:nvSpPr>
        <p:spPr>
          <a:xfrm>
            <a:off x="6492240" y="4023360"/>
            <a:ext cx="548640" cy="548640"/>
          </a:xfrm>
          <a:prstGeom prst="ellipse">
            <a:avLst/>
          </a:prstGeom>
          <a:solidFill>
            <a:srgbClr val="0E8F7E"/>
          </a:solidFill>
          <a:ln w="12700">
            <a:solidFill>
              <a:srgbClr val="0E8F7E"/>
            </a:solidFill>
            <a:prstDash val="solid"/>
          </a:ln>
        </p:spPr>
      </p:sp>
      <p:sp>
        <p:nvSpPr>
          <p:cNvPr id="20" name="Text 18"/>
          <p:cNvSpPr txBox="1"/>
          <p:nvPr/>
        </p:nvSpPr>
        <p:spPr>
          <a:xfrm>
            <a:off x="6492240" y="40233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7223760" y="4023360"/>
            <a:ext cx="4114800" cy="548640"/>
          </a:xfrm>
          <a:prstGeom prst="rect">
            <a:avLst/>
          </a:prstGeom>
          <a:noFill/>
          <a:ln/>
        </p:spPr>
        <p:txBody>
          <a:bodyPr wrap="square" lIns="0" tIns="0" rIns="0" bIns="0" rtlCol="0" anchor="ctr"/>
          <a:lstStyle/>
          <a:p>
            <a:pPr indent="0" marL="0">
              <a:buNone/>
            </a:pPr>
            <a:r>
              <a:rPr lang="en-US" sz="2400" b="1" dirty="0">
                <a:solidFill>
                  <a:srgbClr val="1B1F3B"/>
                </a:solidFill>
                <a:latin typeface="Courier New" pitchFamily="34" charset="0"/>
                <a:ea typeface="Courier New" pitchFamily="34" charset="-122"/>
                <a:cs typeface="Courier New" pitchFamily="34" charset="-120"/>
              </a:rPr>
              <a:t>min_child_samples</a:t>
            </a:r>
            <a:endParaRPr lang="en-US" sz="2400" dirty="0"/>
          </a:p>
        </p:txBody>
      </p:sp>
      <p:sp>
        <p:nvSpPr>
          <p:cNvPr id="22" name="Text 20"/>
          <p:cNvSpPr txBox="1"/>
          <p:nvPr/>
        </p:nvSpPr>
        <p:spPr>
          <a:xfrm>
            <a:off x="6492240" y="4709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How many examples you need before trusting a pattern. Don't trust a rule seen only once.</a:t>
            </a:r>
            <a:endParaRPr lang="en-US" sz="1800" dirty="0"/>
          </a:p>
        </p:txBody>
      </p:sp>
      <p:sp>
        <p:nvSpPr>
          <p:cNvPr id="23" name="Text 21"/>
          <p:cNvSpPr txBox="1"/>
          <p:nvPr/>
        </p:nvSpPr>
        <p:spPr>
          <a:xfrm>
            <a:off x="548640" y="6035040"/>
            <a:ext cx="8229600" cy="365760"/>
          </a:xfrm>
          <a:prstGeom prst="rect">
            <a:avLst/>
          </a:prstGeom>
          <a:noFill/>
          <a:ln/>
        </p:spPr>
        <p:txBody>
          <a:bodyPr wrap="square" lIns="0" tIns="0" rIns="0" bIns="0" rtlCol="0" anchor="t"/>
          <a:lstStyle/>
          <a:p>
            <a:pPr indent="0" marL="0">
              <a:buNone/>
            </a:pPr>
            <a:r>
              <a:rPr lang="en-US" sz="1600" i="1" dirty="0">
                <a:solidFill>
                  <a:srgbClr val="4A5070"/>
                </a:solidFill>
                <a:latin typeface="Calibri" pitchFamily="34" charset="0"/>
                <a:ea typeface="Calibri" pitchFamily="34" charset="-122"/>
                <a:cs typeface="Calibri" pitchFamily="34" charset="-120"/>
              </a:rPr>
              <a:t>These four are the ones most people tune first.</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The big three, explained</a:t>
            </a:r>
            <a:endParaRPr lang="en-US" sz="3600" dirty="0"/>
          </a:p>
        </p:txBody>
      </p:sp>
      <p:sp>
        <p:nvSpPr>
          <p:cNvPr id="3" name="Shape 1"/>
          <p:cNvSpPr/>
          <p:nvPr/>
        </p:nvSpPr>
        <p:spPr>
          <a:xfrm>
            <a:off x="548640" y="1371600"/>
            <a:ext cx="3520440" cy="4480560"/>
          </a:xfrm>
          <a:prstGeom prst="roundRect">
            <a:avLst>
              <a:gd name="adj" fmla="val 3896"/>
            </a:avLst>
          </a:prstGeom>
          <a:solidFill>
            <a:srgbClr val="EEF1FA"/>
          </a:solidFill>
          <a:ln w="12700">
            <a:solidFill>
              <a:srgbClr val="EEF1FA"/>
            </a:solidFill>
            <a:prstDash val="solid"/>
          </a:ln>
        </p:spPr>
      </p:sp>
      <p:sp>
        <p:nvSpPr>
          <p:cNvPr id="4" name="Text 2"/>
          <p:cNvSpPr txBox="1"/>
          <p:nvPr/>
        </p:nvSpPr>
        <p:spPr>
          <a:xfrm>
            <a:off x="822960" y="1600200"/>
            <a:ext cx="3017520" cy="457200"/>
          </a:xfrm>
          <a:prstGeom prst="rect">
            <a:avLst/>
          </a:prstGeom>
          <a:noFill/>
          <a:ln/>
        </p:spPr>
        <p:txBody>
          <a:bodyPr wrap="square" lIns="0" tIns="0" rIns="0" bIns="0" rtlCol="0" anchor="t"/>
          <a:lstStyle/>
          <a:p>
            <a:pPr indent="0" marL="0">
              <a:buNone/>
            </a:pPr>
            <a:r>
              <a:rPr lang="en-US" sz="2200" b="1" dirty="0">
                <a:solidFill>
                  <a:srgbClr val="0E8F7E"/>
                </a:solidFill>
                <a:latin typeface="Courier New" pitchFamily="34" charset="0"/>
                <a:ea typeface="Courier New" pitchFamily="34" charset="-122"/>
                <a:cs typeface="Courier New" pitchFamily="34" charset="-120"/>
              </a:rPr>
              <a:t>learning_rate</a:t>
            </a:r>
            <a:endParaRPr lang="en-US" sz="2200" dirty="0"/>
          </a:p>
        </p:txBody>
      </p:sp>
      <p:sp>
        <p:nvSpPr>
          <p:cNvPr id="5" name="Text 3"/>
          <p:cNvSpPr txBox="1"/>
          <p:nvPr/>
        </p:nvSpPr>
        <p:spPr>
          <a:xfrm>
            <a:off x="822960" y="2194560"/>
            <a:ext cx="3017520" cy="13716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How much each new tree is allowed to change the model's answers.</a:t>
            </a:r>
            <a:endParaRPr lang="en-US" sz="1700" dirty="0"/>
          </a:p>
        </p:txBody>
      </p:sp>
      <p:sp>
        <p:nvSpPr>
          <p:cNvPr id="6" name="Text 4"/>
          <p:cNvSpPr txBox="1"/>
          <p:nvPr/>
        </p:nvSpPr>
        <p:spPr>
          <a:xfrm>
            <a:off x="822960" y="3611880"/>
            <a:ext cx="3017520" cy="822960"/>
          </a:xfrm>
          <a:prstGeom prst="rect">
            <a:avLst/>
          </a:prstGeom>
          <a:noFill/>
          <a:ln/>
        </p:spPr>
        <p:txBody>
          <a:bodyPr wrap="square" lIns="0" tIns="0" rIns="0" bIns="0" rtlCol="0" anchor="t"/>
          <a:lstStyle/>
          <a:p>
            <a:pPr indent="0" marL="0">
              <a:buNone/>
            </a:pPr>
            <a:r>
              <a:rPr lang="en-US" sz="1700" i="1" dirty="0">
                <a:solidFill>
                  <a:srgbClr val="4A5070"/>
                </a:solidFill>
                <a:latin typeface="Calibri" pitchFamily="34" charset="0"/>
                <a:ea typeface="Calibri" pitchFamily="34" charset="-122"/>
                <a:cs typeface="Calibri" pitchFamily="34" charset="-120"/>
              </a:rPr>
              <a:t>Like how big a change you make to your approach after each revision session.</a:t>
            </a:r>
            <a:endParaRPr lang="en-US" sz="1700" dirty="0"/>
          </a:p>
        </p:txBody>
      </p:sp>
      <p:sp>
        <p:nvSpPr>
          <p:cNvPr id="7" name="Text 5"/>
          <p:cNvSpPr txBox="1"/>
          <p:nvPr/>
        </p:nvSpPr>
        <p:spPr>
          <a:xfrm>
            <a:off x="822960" y="452628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small: </a:t>
            </a:r>
            <a:pPr indent="0" marL="0">
              <a:buNone/>
            </a:pPr>
            <a:r>
              <a:rPr lang="en-US" sz="1600" dirty="0">
                <a:solidFill>
                  <a:srgbClr val="1B1F3B"/>
                </a:solidFill>
                <a:latin typeface="Calibri" pitchFamily="34" charset="0"/>
                <a:ea typeface="Calibri" pitchFamily="34" charset="-122"/>
                <a:cs typeface="Calibri" pitchFamily="34" charset="-120"/>
              </a:rPr>
              <a:t>learns very slowly.</a:t>
            </a:r>
            <a:endParaRPr lang="en-US" sz="1600" dirty="0"/>
          </a:p>
        </p:txBody>
      </p:sp>
      <p:sp>
        <p:nvSpPr>
          <p:cNvPr id="8" name="Text 6"/>
          <p:cNvSpPr txBox="1"/>
          <p:nvPr/>
        </p:nvSpPr>
        <p:spPr>
          <a:xfrm>
            <a:off x="822960" y="516636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big: </a:t>
            </a:r>
            <a:pPr indent="0" marL="0">
              <a:buNone/>
            </a:pPr>
            <a:r>
              <a:rPr lang="en-US" sz="1600" dirty="0">
                <a:solidFill>
                  <a:srgbClr val="1B1F3B"/>
                </a:solidFill>
                <a:latin typeface="Calibri" pitchFamily="34" charset="0"/>
                <a:ea typeface="Calibri" pitchFamily="34" charset="-122"/>
                <a:cs typeface="Calibri" pitchFamily="34" charset="-120"/>
              </a:rPr>
              <a:t>overshoots and gets unstable.</a:t>
            </a:r>
            <a:endParaRPr lang="en-US" sz="1600" dirty="0"/>
          </a:p>
        </p:txBody>
      </p:sp>
      <p:sp>
        <p:nvSpPr>
          <p:cNvPr id="9" name="Shape 7"/>
          <p:cNvSpPr/>
          <p:nvPr/>
        </p:nvSpPr>
        <p:spPr>
          <a:xfrm>
            <a:off x="4343400" y="1371600"/>
            <a:ext cx="3520440" cy="4480560"/>
          </a:xfrm>
          <a:prstGeom prst="roundRect">
            <a:avLst>
              <a:gd name="adj" fmla="val 3896"/>
            </a:avLst>
          </a:prstGeom>
          <a:solidFill>
            <a:srgbClr val="EEF1FA"/>
          </a:solidFill>
          <a:ln w="12700">
            <a:solidFill>
              <a:srgbClr val="EEF1FA"/>
            </a:solidFill>
            <a:prstDash val="solid"/>
          </a:ln>
        </p:spPr>
      </p:sp>
      <p:sp>
        <p:nvSpPr>
          <p:cNvPr id="10" name="Text 8"/>
          <p:cNvSpPr txBox="1"/>
          <p:nvPr/>
        </p:nvSpPr>
        <p:spPr>
          <a:xfrm>
            <a:off x="4617720" y="1600200"/>
            <a:ext cx="3017520" cy="457200"/>
          </a:xfrm>
          <a:prstGeom prst="rect">
            <a:avLst/>
          </a:prstGeom>
          <a:noFill/>
          <a:ln/>
        </p:spPr>
        <p:txBody>
          <a:bodyPr wrap="square" lIns="0" tIns="0" rIns="0" bIns="0" rtlCol="0" anchor="t"/>
          <a:lstStyle/>
          <a:p>
            <a:pPr indent="0" marL="0">
              <a:buNone/>
            </a:pPr>
            <a:r>
              <a:rPr lang="en-US" sz="2200" b="1" dirty="0">
                <a:solidFill>
                  <a:srgbClr val="1B1F3B"/>
                </a:solidFill>
                <a:latin typeface="Courier New" pitchFamily="34" charset="0"/>
                <a:ea typeface="Courier New" pitchFamily="34" charset="-122"/>
                <a:cs typeface="Courier New" pitchFamily="34" charset="-120"/>
              </a:rPr>
              <a:t>n_estimators</a:t>
            </a:r>
            <a:endParaRPr lang="en-US" sz="2200" dirty="0"/>
          </a:p>
        </p:txBody>
      </p:sp>
      <p:sp>
        <p:nvSpPr>
          <p:cNvPr id="11" name="Text 9"/>
          <p:cNvSpPr txBox="1"/>
          <p:nvPr/>
        </p:nvSpPr>
        <p:spPr>
          <a:xfrm>
            <a:off x="4617720" y="2194560"/>
            <a:ext cx="3017520" cy="13716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How many small trees get built, one after another. Each tree fixes mistakes left by the ones before.</a:t>
            </a:r>
            <a:endParaRPr lang="en-US" sz="1700" dirty="0"/>
          </a:p>
        </p:txBody>
      </p:sp>
      <p:sp>
        <p:nvSpPr>
          <p:cNvPr id="12" name="Text 10"/>
          <p:cNvSpPr txBox="1"/>
          <p:nvPr/>
        </p:nvSpPr>
        <p:spPr>
          <a:xfrm>
            <a:off x="4617720" y="3611880"/>
            <a:ext cx="3017520" cy="822960"/>
          </a:xfrm>
          <a:prstGeom prst="rect">
            <a:avLst/>
          </a:prstGeom>
          <a:noFill/>
          <a:ln/>
        </p:spPr>
        <p:txBody>
          <a:bodyPr wrap="square" lIns="0" tIns="0" rIns="0" bIns="0" rtlCol="0" anchor="t"/>
          <a:lstStyle/>
          <a:p>
            <a:pPr indent="0" marL="0">
              <a:buNone/>
            </a:pPr>
            <a:r>
              <a:rPr lang="en-US" sz="1700" i="1" dirty="0">
                <a:solidFill>
                  <a:srgbClr val="4A5070"/>
                </a:solidFill>
                <a:latin typeface="Calibri" pitchFamily="34" charset="0"/>
                <a:ea typeface="Calibri" pitchFamily="34" charset="-122"/>
                <a:cs typeface="Calibri" pitchFamily="34" charset="-120"/>
              </a:rPr>
              <a:t>Like the number of revision sessions.</a:t>
            </a:r>
            <a:endParaRPr lang="en-US" sz="1700" dirty="0"/>
          </a:p>
        </p:txBody>
      </p:sp>
      <p:sp>
        <p:nvSpPr>
          <p:cNvPr id="13" name="Text 11"/>
          <p:cNvSpPr txBox="1"/>
          <p:nvPr/>
        </p:nvSpPr>
        <p:spPr>
          <a:xfrm>
            <a:off x="4617720" y="452628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few: </a:t>
            </a:r>
            <a:pPr indent="0" marL="0">
              <a:buNone/>
            </a:pPr>
            <a:r>
              <a:rPr lang="en-US" sz="1600" dirty="0">
                <a:solidFill>
                  <a:srgbClr val="1B1F3B"/>
                </a:solidFill>
                <a:latin typeface="Calibri" pitchFamily="34" charset="0"/>
                <a:ea typeface="Calibri" pitchFamily="34" charset="-122"/>
                <a:cs typeface="Calibri" pitchFamily="34" charset="-120"/>
              </a:rPr>
              <a:t>hasn't learned enough.</a:t>
            </a:r>
            <a:endParaRPr lang="en-US" sz="1600" dirty="0"/>
          </a:p>
        </p:txBody>
      </p:sp>
      <p:sp>
        <p:nvSpPr>
          <p:cNvPr id="14" name="Text 12"/>
          <p:cNvSpPr txBox="1"/>
          <p:nvPr/>
        </p:nvSpPr>
        <p:spPr>
          <a:xfrm>
            <a:off x="4617720" y="516636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many: </a:t>
            </a:r>
            <a:pPr indent="0" marL="0">
              <a:buNone/>
            </a:pPr>
            <a:r>
              <a:rPr lang="en-US" sz="1600" dirty="0">
                <a:solidFill>
                  <a:srgbClr val="1B1F3B"/>
                </a:solidFill>
                <a:latin typeface="Calibri" pitchFamily="34" charset="0"/>
                <a:ea typeface="Calibri" pitchFamily="34" charset="-122"/>
                <a:cs typeface="Calibri" pitchFamily="34" charset="-120"/>
              </a:rPr>
              <a:t>starts memorising noise.</a:t>
            </a:r>
            <a:endParaRPr lang="en-US" sz="1600" dirty="0"/>
          </a:p>
        </p:txBody>
      </p:sp>
      <p:sp>
        <p:nvSpPr>
          <p:cNvPr id="15" name="Shape 13"/>
          <p:cNvSpPr/>
          <p:nvPr/>
        </p:nvSpPr>
        <p:spPr>
          <a:xfrm>
            <a:off x="8138160" y="1371600"/>
            <a:ext cx="3520440" cy="4480560"/>
          </a:xfrm>
          <a:prstGeom prst="roundRect">
            <a:avLst>
              <a:gd name="adj" fmla="val 3896"/>
            </a:avLst>
          </a:prstGeom>
          <a:solidFill>
            <a:srgbClr val="EEF1FA"/>
          </a:solidFill>
          <a:ln w="12700">
            <a:solidFill>
              <a:srgbClr val="EEF1FA"/>
            </a:solidFill>
            <a:prstDash val="solid"/>
          </a:ln>
        </p:spPr>
      </p:sp>
      <p:sp>
        <p:nvSpPr>
          <p:cNvPr id="16" name="Text 14"/>
          <p:cNvSpPr txBox="1"/>
          <p:nvPr/>
        </p:nvSpPr>
        <p:spPr>
          <a:xfrm>
            <a:off x="8412480" y="1600200"/>
            <a:ext cx="3017520" cy="457200"/>
          </a:xfrm>
          <a:prstGeom prst="rect">
            <a:avLst/>
          </a:prstGeom>
          <a:noFill/>
          <a:ln/>
        </p:spPr>
        <p:txBody>
          <a:bodyPr wrap="square" lIns="0" tIns="0" rIns="0" bIns="0" rtlCol="0" anchor="t"/>
          <a:lstStyle/>
          <a:p>
            <a:pPr indent="0" marL="0">
              <a:buNone/>
            </a:pPr>
            <a:r>
              <a:rPr lang="en-US" sz="2200" b="1" dirty="0">
                <a:solidFill>
                  <a:srgbClr val="D6452B"/>
                </a:solidFill>
                <a:latin typeface="Courier New" pitchFamily="34" charset="0"/>
                <a:ea typeface="Courier New" pitchFamily="34" charset="-122"/>
                <a:cs typeface="Courier New" pitchFamily="34" charset="-120"/>
              </a:rPr>
              <a:t>num_leaves</a:t>
            </a:r>
            <a:endParaRPr lang="en-US" sz="2200" dirty="0"/>
          </a:p>
        </p:txBody>
      </p:sp>
      <p:sp>
        <p:nvSpPr>
          <p:cNvPr id="17" name="Text 15"/>
          <p:cNvSpPr txBox="1"/>
          <p:nvPr/>
        </p:nvSpPr>
        <p:spPr>
          <a:xfrm>
            <a:off x="8412480" y="2194560"/>
            <a:ext cx="3017520" cy="13716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The most end groups (leaves) one tree can have. More leaves means more detailed rules.</a:t>
            </a:r>
            <a:endParaRPr lang="en-US" sz="1700" dirty="0"/>
          </a:p>
        </p:txBody>
      </p:sp>
      <p:sp>
        <p:nvSpPr>
          <p:cNvPr id="18" name="Text 16"/>
          <p:cNvSpPr txBox="1"/>
          <p:nvPr/>
        </p:nvSpPr>
        <p:spPr>
          <a:xfrm>
            <a:off x="8412480" y="3611880"/>
            <a:ext cx="3017520" cy="822960"/>
          </a:xfrm>
          <a:prstGeom prst="rect">
            <a:avLst/>
          </a:prstGeom>
          <a:noFill/>
          <a:ln/>
        </p:spPr>
        <p:txBody>
          <a:bodyPr wrap="square" lIns="0" tIns="0" rIns="0" bIns="0" rtlCol="0" anchor="t"/>
          <a:lstStyle/>
          <a:p>
            <a:pPr indent="0" marL="0">
              <a:buNone/>
            </a:pPr>
            <a:r>
              <a:rPr lang="en-US" sz="1700" i="1" dirty="0">
                <a:solidFill>
                  <a:srgbClr val="4A5070"/>
                </a:solidFill>
                <a:latin typeface="Calibri" pitchFamily="34" charset="0"/>
                <a:ea typeface="Calibri" pitchFamily="34" charset="-122"/>
                <a:cs typeface="Calibri" pitchFamily="34" charset="-120"/>
              </a:rPr>
              <a:t>Like how detailed your notes are.</a:t>
            </a:r>
            <a:endParaRPr lang="en-US" sz="1700" dirty="0"/>
          </a:p>
        </p:txBody>
      </p:sp>
      <p:sp>
        <p:nvSpPr>
          <p:cNvPr id="19" name="Text 17"/>
          <p:cNvSpPr txBox="1"/>
          <p:nvPr/>
        </p:nvSpPr>
        <p:spPr>
          <a:xfrm>
            <a:off x="8412480" y="452628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few: </a:t>
            </a:r>
            <a:pPr indent="0" marL="0">
              <a:buNone/>
            </a:pPr>
            <a:r>
              <a:rPr lang="en-US" sz="1600" dirty="0">
                <a:solidFill>
                  <a:srgbClr val="1B1F3B"/>
                </a:solidFill>
                <a:latin typeface="Calibri" pitchFamily="34" charset="0"/>
                <a:ea typeface="Calibri" pitchFamily="34" charset="-122"/>
                <a:cs typeface="Calibri" pitchFamily="34" charset="-120"/>
              </a:rPr>
              <a:t>the model is too simple.</a:t>
            </a:r>
            <a:endParaRPr lang="en-US" sz="1600" dirty="0"/>
          </a:p>
        </p:txBody>
      </p:sp>
      <p:sp>
        <p:nvSpPr>
          <p:cNvPr id="20" name="Text 18"/>
          <p:cNvSpPr txBox="1"/>
          <p:nvPr/>
        </p:nvSpPr>
        <p:spPr>
          <a:xfrm>
            <a:off x="8412480" y="5166360"/>
            <a:ext cx="3017520" cy="640080"/>
          </a:xfrm>
          <a:prstGeom prst="rect">
            <a:avLst/>
          </a:prstGeom>
          <a:noFill/>
          <a:ln/>
        </p:spPr>
        <p:txBody>
          <a:bodyPr wrap="square" lIns="0" tIns="0" rIns="0" bIns="0" rtlCol="0" anchor="t"/>
          <a:lstStyle/>
          <a:p>
            <a:pPr indent="0" marL="0">
              <a:buNone/>
            </a:pPr>
            <a:r>
              <a:rPr lang="en-US" sz="1600" b="1" dirty="0">
                <a:solidFill>
                  <a:srgbClr val="D6452B"/>
                </a:solidFill>
                <a:latin typeface="Calibri" pitchFamily="34" charset="0"/>
                <a:ea typeface="Calibri" pitchFamily="34" charset="-122"/>
                <a:cs typeface="Calibri" pitchFamily="34" charset="-120"/>
              </a:rPr>
              <a:t>Too many: </a:t>
            </a:r>
            <a:pPr indent="0" marL="0">
              <a:buNone/>
            </a:pPr>
            <a:r>
              <a:rPr lang="en-US" sz="1600" dirty="0">
                <a:solidFill>
                  <a:srgbClr val="1B1F3B"/>
                </a:solidFill>
                <a:latin typeface="Calibri" pitchFamily="34" charset="0"/>
                <a:ea typeface="Calibri" pitchFamily="34" charset="-122"/>
                <a:cs typeface="Calibri" pitchFamily="34" charset="-120"/>
              </a:rPr>
              <a:t>memorises the training data.</a:t>
            </a:r>
            <a:endParaRPr lang="en-US" sz="1600" dirty="0"/>
          </a:p>
        </p:txBody>
      </p:sp>
      <p:sp>
        <p:nvSpPr>
          <p:cNvPr id="21" name="Text 19"/>
          <p:cNvSpPr txBox="1"/>
          <p:nvPr/>
        </p:nvSpPr>
        <p:spPr>
          <a:xfrm>
            <a:off x="548640" y="5989320"/>
            <a:ext cx="10515600" cy="365760"/>
          </a:xfrm>
          <a:prstGeom prst="rect">
            <a:avLst/>
          </a:prstGeom>
          <a:noFill/>
          <a:ln/>
        </p:spPr>
        <p:txBody>
          <a:bodyPr wrap="square" lIns="0" tIns="0" rIns="0" bIns="0" rtlCol="0" anchor="t"/>
          <a:lstStyle/>
          <a:p>
            <a:pPr indent="0" marL="0">
              <a:buNone/>
            </a:pPr>
            <a:r>
              <a:rPr lang="en-US" sz="1600" i="1" dirty="0">
                <a:solidFill>
                  <a:srgbClr val="4A5070"/>
                </a:solidFill>
                <a:latin typeface="Calibri" pitchFamily="34" charset="0"/>
                <a:ea typeface="Calibri" pitchFamily="34" charset="-122"/>
                <a:cs typeface="Calibri" pitchFamily="34" charset="-120"/>
              </a:rPr>
              <a:t>learning_rate and n_estimators work as a pair: a lower learning rate usually needs more trees.</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A few more dials (bonus)</a:t>
            </a:r>
            <a:endParaRPr lang="en-US" sz="3600" dirty="0"/>
          </a:p>
        </p:txBody>
      </p:sp>
      <p:sp>
        <p:nvSpPr>
          <p:cNvPr id="3" name="Shape 1"/>
          <p:cNvSpPr/>
          <p:nvPr/>
        </p:nvSpPr>
        <p:spPr>
          <a:xfrm>
            <a:off x="548640" y="1463040"/>
            <a:ext cx="5394960" cy="2103120"/>
          </a:xfrm>
          <a:prstGeom prst="roundRect">
            <a:avLst>
              <a:gd name="adj" fmla="val 6522"/>
            </a:avLst>
          </a:prstGeom>
          <a:solidFill>
            <a:srgbClr val="EEF1FA"/>
          </a:solidFill>
          <a:ln w="12700">
            <a:solidFill>
              <a:srgbClr val="EEF1FA"/>
            </a:solidFill>
            <a:prstDash val="solid"/>
          </a:ln>
        </p:spPr>
      </p:sp>
      <p:sp>
        <p:nvSpPr>
          <p:cNvPr id="4" name="Text 2"/>
          <p:cNvSpPr txBox="1"/>
          <p:nvPr/>
        </p:nvSpPr>
        <p:spPr>
          <a:xfrm>
            <a:off x="822960" y="1737360"/>
            <a:ext cx="4846320" cy="548640"/>
          </a:xfrm>
          <a:prstGeom prst="rect">
            <a:avLst/>
          </a:prstGeom>
          <a:noFill/>
          <a:ln/>
        </p:spPr>
        <p:txBody>
          <a:bodyPr wrap="square" lIns="0" tIns="0" rIns="0" bIns="0" rtlCol="0" anchor="t"/>
          <a:lstStyle/>
          <a:p>
            <a:pPr indent="0" marL="0">
              <a:buNone/>
            </a:pPr>
            <a:r>
              <a:rPr lang="en-US" sz="2400" b="1" dirty="0">
                <a:solidFill>
                  <a:srgbClr val="0E8F7E"/>
                </a:solidFill>
                <a:latin typeface="Courier New" pitchFamily="34" charset="0"/>
                <a:ea typeface="Courier New" pitchFamily="34" charset="-122"/>
                <a:cs typeface="Courier New" pitchFamily="34" charset="-120"/>
              </a:rPr>
              <a:t>max_depth</a:t>
            </a:r>
            <a:endParaRPr lang="en-US" sz="2400" dirty="0"/>
          </a:p>
        </p:txBody>
      </p:sp>
      <p:sp>
        <p:nvSpPr>
          <p:cNvPr id="5" name="Text 3"/>
          <p:cNvSpPr txBox="1"/>
          <p:nvPr/>
        </p:nvSpPr>
        <p:spPr>
          <a:xfrm>
            <a:off x="822960" y="2423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How many questions deep a tree can go, like a limit in 20 Questions.</a:t>
            </a:r>
            <a:endParaRPr lang="en-US" sz="1800" dirty="0"/>
          </a:p>
        </p:txBody>
      </p:sp>
      <p:sp>
        <p:nvSpPr>
          <p:cNvPr id="6" name="Shape 4"/>
          <p:cNvSpPr/>
          <p:nvPr/>
        </p:nvSpPr>
        <p:spPr>
          <a:xfrm>
            <a:off x="6217920" y="1463040"/>
            <a:ext cx="5394960" cy="2103120"/>
          </a:xfrm>
          <a:prstGeom prst="roundRect">
            <a:avLst>
              <a:gd name="adj" fmla="val 6522"/>
            </a:avLst>
          </a:prstGeom>
          <a:solidFill>
            <a:srgbClr val="EEF1FA"/>
          </a:solidFill>
          <a:ln w="12700">
            <a:solidFill>
              <a:srgbClr val="EEF1FA"/>
            </a:solidFill>
            <a:prstDash val="solid"/>
          </a:ln>
        </p:spPr>
      </p:sp>
      <p:sp>
        <p:nvSpPr>
          <p:cNvPr id="7" name="Text 5"/>
          <p:cNvSpPr txBox="1"/>
          <p:nvPr/>
        </p:nvSpPr>
        <p:spPr>
          <a:xfrm>
            <a:off x="6492240" y="1737360"/>
            <a:ext cx="4846320" cy="548640"/>
          </a:xfrm>
          <a:prstGeom prst="rect">
            <a:avLst/>
          </a:prstGeom>
          <a:noFill/>
          <a:ln/>
        </p:spPr>
        <p:txBody>
          <a:bodyPr wrap="square" lIns="0" tIns="0" rIns="0" bIns="0" rtlCol="0" anchor="t"/>
          <a:lstStyle/>
          <a:p>
            <a:pPr indent="0" marL="0">
              <a:buNone/>
            </a:pPr>
            <a:r>
              <a:rPr lang="en-US" sz="2400" b="1" dirty="0">
                <a:solidFill>
                  <a:srgbClr val="0E8F7E"/>
                </a:solidFill>
                <a:latin typeface="Courier New" pitchFamily="34" charset="0"/>
                <a:ea typeface="Courier New" pitchFamily="34" charset="-122"/>
                <a:cs typeface="Courier New" pitchFamily="34" charset="-120"/>
              </a:rPr>
              <a:t>subsample</a:t>
            </a:r>
            <a:endParaRPr lang="en-US" sz="2400" dirty="0"/>
          </a:p>
        </p:txBody>
      </p:sp>
      <p:sp>
        <p:nvSpPr>
          <p:cNvPr id="8" name="Text 6"/>
          <p:cNvSpPr txBox="1"/>
          <p:nvPr/>
        </p:nvSpPr>
        <p:spPr>
          <a:xfrm>
            <a:off x="6492240" y="2423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Each tree sees only a random share of the rows, like study groups each getting different pages.</a:t>
            </a:r>
            <a:endParaRPr lang="en-US" sz="1800" dirty="0"/>
          </a:p>
        </p:txBody>
      </p:sp>
      <p:sp>
        <p:nvSpPr>
          <p:cNvPr id="9" name="Shape 7"/>
          <p:cNvSpPr/>
          <p:nvPr/>
        </p:nvSpPr>
        <p:spPr>
          <a:xfrm>
            <a:off x="548640" y="3749040"/>
            <a:ext cx="5394960" cy="2103120"/>
          </a:xfrm>
          <a:prstGeom prst="roundRect">
            <a:avLst>
              <a:gd name="adj" fmla="val 6522"/>
            </a:avLst>
          </a:prstGeom>
          <a:solidFill>
            <a:srgbClr val="EEF1FA"/>
          </a:solidFill>
          <a:ln w="12700">
            <a:solidFill>
              <a:srgbClr val="EEF1FA"/>
            </a:solidFill>
            <a:prstDash val="solid"/>
          </a:ln>
        </p:spPr>
      </p:sp>
      <p:sp>
        <p:nvSpPr>
          <p:cNvPr id="10" name="Text 8"/>
          <p:cNvSpPr txBox="1"/>
          <p:nvPr/>
        </p:nvSpPr>
        <p:spPr>
          <a:xfrm>
            <a:off x="822960" y="4023360"/>
            <a:ext cx="4846320" cy="548640"/>
          </a:xfrm>
          <a:prstGeom prst="rect">
            <a:avLst/>
          </a:prstGeom>
          <a:noFill/>
          <a:ln/>
        </p:spPr>
        <p:txBody>
          <a:bodyPr wrap="square" lIns="0" tIns="0" rIns="0" bIns="0" rtlCol="0" anchor="t"/>
          <a:lstStyle/>
          <a:p>
            <a:pPr indent="0" marL="0">
              <a:buNone/>
            </a:pPr>
            <a:r>
              <a:rPr lang="en-US" sz="2400" b="1" dirty="0">
                <a:solidFill>
                  <a:srgbClr val="0E8F7E"/>
                </a:solidFill>
                <a:latin typeface="Courier New" pitchFamily="34" charset="0"/>
                <a:ea typeface="Courier New" pitchFamily="34" charset="-122"/>
                <a:cs typeface="Courier New" pitchFamily="34" charset="-120"/>
              </a:rPr>
              <a:t>colsample_bytree</a:t>
            </a:r>
            <a:endParaRPr lang="en-US" sz="2400" dirty="0"/>
          </a:p>
        </p:txBody>
      </p:sp>
      <p:sp>
        <p:nvSpPr>
          <p:cNvPr id="11" name="Text 9"/>
          <p:cNvSpPr txBox="1"/>
          <p:nvPr/>
        </p:nvSpPr>
        <p:spPr>
          <a:xfrm>
            <a:off x="822960" y="4709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Each tree sees only some of the columns (features), so trees don't all copy each other.</a:t>
            </a:r>
            <a:endParaRPr lang="en-US" sz="1800" dirty="0"/>
          </a:p>
        </p:txBody>
      </p:sp>
      <p:sp>
        <p:nvSpPr>
          <p:cNvPr id="12" name="Shape 10"/>
          <p:cNvSpPr/>
          <p:nvPr/>
        </p:nvSpPr>
        <p:spPr>
          <a:xfrm>
            <a:off x="6217920" y="3749040"/>
            <a:ext cx="5394960" cy="2103120"/>
          </a:xfrm>
          <a:prstGeom prst="roundRect">
            <a:avLst>
              <a:gd name="adj" fmla="val 6522"/>
            </a:avLst>
          </a:prstGeom>
          <a:solidFill>
            <a:srgbClr val="EEF1FA"/>
          </a:solidFill>
          <a:ln w="12700">
            <a:solidFill>
              <a:srgbClr val="EEF1FA"/>
            </a:solidFill>
            <a:prstDash val="solid"/>
          </a:ln>
        </p:spPr>
      </p:sp>
      <p:sp>
        <p:nvSpPr>
          <p:cNvPr id="13" name="Text 11"/>
          <p:cNvSpPr txBox="1"/>
          <p:nvPr/>
        </p:nvSpPr>
        <p:spPr>
          <a:xfrm>
            <a:off x="6492240" y="4023360"/>
            <a:ext cx="4846320" cy="548640"/>
          </a:xfrm>
          <a:prstGeom prst="rect">
            <a:avLst/>
          </a:prstGeom>
          <a:noFill/>
          <a:ln/>
        </p:spPr>
        <p:txBody>
          <a:bodyPr wrap="square" lIns="0" tIns="0" rIns="0" bIns="0" rtlCol="0" anchor="t"/>
          <a:lstStyle/>
          <a:p>
            <a:pPr indent="0" marL="0">
              <a:buNone/>
            </a:pPr>
            <a:r>
              <a:rPr lang="en-US" sz="2400" b="1" dirty="0">
                <a:solidFill>
                  <a:srgbClr val="0E8F7E"/>
                </a:solidFill>
                <a:latin typeface="Courier New" pitchFamily="34" charset="0"/>
                <a:ea typeface="Courier New" pitchFamily="34" charset="-122"/>
                <a:cs typeface="Courier New" pitchFamily="34" charset="-120"/>
              </a:rPr>
              <a:t>reg_alpha, reg_lambda</a:t>
            </a:r>
            <a:endParaRPr lang="en-US" sz="2400" dirty="0"/>
          </a:p>
        </p:txBody>
      </p:sp>
      <p:sp>
        <p:nvSpPr>
          <p:cNvPr id="14" name="Text 12"/>
          <p:cNvSpPr txBox="1"/>
          <p:nvPr/>
        </p:nvSpPr>
        <p:spPr>
          <a:xfrm>
            <a:off x="6492240" y="4709160"/>
            <a:ext cx="4846320" cy="100584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A penalty for overcomplicated rules, like a marker deducting marks for rambling answers.</a:t>
            </a:r>
            <a:endParaRPr lang="en-US" sz="1800" dirty="0"/>
          </a:p>
        </p:txBody>
      </p:sp>
      <p:sp>
        <p:nvSpPr>
          <p:cNvPr id="15" name="Text 13"/>
          <p:cNvSpPr txBox="1"/>
          <p:nvPr/>
        </p:nvSpPr>
        <p:spPr>
          <a:xfrm>
            <a:off x="548640" y="6035040"/>
            <a:ext cx="9144000" cy="365760"/>
          </a:xfrm>
          <a:prstGeom prst="rect">
            <a:avLst/>
          </a:prstGeom>
          <a:noFill/>
          <a:ln/>
        </p:spPr>
        <p:txBody>
          <a:bodyPr wrap="square" lIns="0" tIns="0" rIns="0" bIns="0" rtlCol="0" anchor="t"/>
          <a:lstStyle/>
          <a:p>
            <a:pPr indent="0" marL="0">
              <a:buNone/>
            </a:pPr>
            <a:r>
              <a:rPr lang="en-US" sz="1600" i="1" dirty="0">
                <a:solidFill>
                  <a:srgbClr val="4A5070"/>
                </a:solidFill>
                <a:latin typeface="Calibri" pitchFamily="34" charset="0"/>
                <a:ea typeface="Calibri" pitchFamily="34" charset="-122"/>
                <a:cs typeface="Calibri" pitchFamily="34" charset="-120"/>
              </a:rPr>
              <a:t>Not needed on day one. Add these once the first four are tuned.</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Why tuning matters</a:t>
            </a:r>
            <a:endParaRPr lang="en-US" sz="3600" dirty="0"/>
          </a:p>
        </p:txBody>
      </p:sp>
      <p:sp>
        <p:nvSpPr>
          <p:cNvPr id="3" name="Text 1"/>
          <p:cNvSpPr txBox="1"/>
          <p:nvPr/>
        </p:nvSpPr>
        <p:spPr>
          <a:xfrm>
            <a:off x="548640" y="1234440"/>
            <a:ext cx="10972800" cy="457200"/>
          </a:xfrm>
          <a:prstGeom prst="rect">
            <a:avLst/>
          </a:prstGeom>
          <a:noFill/>
          <a:ln/>
        </p:spPr>
        <p:txBody>
          <a:bodyPr wrap="square" lIns="0" tIns="0" rIns="0" bIns="0" rtlCol="0" anchor="t"/>
          <a:lstStyle/>
          <a:p>
            <a:pPr indent="0" marL="0">
              <a:buNone/>
            </a:pPr>
            <a:r>
              <a:rPr lang="en-US" sz="2200" dirty="0">
                <a:solidFill>
                  <a:srgbClr val="4A5070"/>
                </a:solidFill>
                <a:latin typeface="Calibri" pitchFamily="34" charset="0"/>
                <a:ea typeface="Calibri" pitchFamily="34" charset="-122"/>
                <a:cs typeface="Calibri" pitchFamily="34" charset="-120"/>
              </a:rPr>
              <a:t>Dots are the data. The line is what the model learned.</a:t>
            </a:r>
            <a:endParaRPr lang="en-US" sz="2200" dirty="0"/>
          </a:p>
        </p:txBody>
      </p:sp>
      <p:sp>
        <p:nvSpPr>
          <p:cNvPr id="4" name="Shape 2"/>
          <p:cNvSpPr/>
          <p:nvPr/>
        </p:nvSpPr>
        <p:spPr>
          <a:xfrm>
            <a:off x="548640" y="1828800"/>
            <a:ext cx="3520440" cy="3749040"/>
          </a:xfrm>
          <a:prstGeom prst="roundRect">
            <a:avLst>
              <a:gd name="adj" fmla="val 3896"/>
            </a:avLst>
          </a:prstGeom>
          <a:solidFill>
            <a:srgbClr val="EEF1FA"/>
          </a:solidFill>
          <a:ln w="12700">
            <a:solidFill>
              <a:srgbClr val="EEF1FA"/>
            </a:solidFill>
            <a:prstDash val="solid"/>
          </a:ln>
        </p:spPr>
      </p:sp>
      <p:pic>
        <p:nvPicPr>
          <p:cNvPr id="5" name="Image 0" descr="/tmp/fit_simple.png">    </p:cNvPr>
          <p:cNvPicPr>
            <a:picLocks noChangeAspect="1"/>
          </p:cNvPicPr>
          <p:nvPr/>
        </p:nvPicPr>
        <p:blipFill>
          <a:blip r:embed="rId1"/>
          <a:stretch>
            <a:fillRect/>
          </a:stretch>
        </p:blipFill>
        <p:spPr>
          <a:xfrm>
            <a:off x="708660" y="1965960"/>
            <a:ext cx="3200400" cy="2286000"/>
          </a:xfrm>
          <a:prstGeom prst="rect">
            <a:avLst/>
          </a:prstGeom>
        </p:spPr>
      </p:pic>
      <p:sp>
        <p:nvSpPr>
          <p:cNvPr id="6" name="Text 3"/>
          <p:cNvSpPr txBox="1"/>
          <p:nvPr/>
        </p:nvSpPr>
        <p:spPr>
          <a:xfrm>
            <a:off x="822960" y="4389120"/>
            <a:ext cx="3017520" cy="365760"/>
          </a:xfrm>
          <a:prstGeom prst="rect">
            <a:avLst/>
          </a:prstGeom>
          <a:noFill/>
          <a:ln/>
        </p:spPr>
        <p:txBody>
          <a:bodyPr wrap="square" lIns="0" tIns="0" rIns="0" bIns="0" rtlCol="0" anchor="t"/>
          <a:lstStyle/>
          <a:p>
            <a:pPr indent="0" marL="0">
              <a:buNone/>
            </a:pPr>
            <a:r>
              <a:rPr lang="en-US" sz="2200" b="1" dirty="0">
                <a:solidFill>
                  <a:srgbClr val="1B1F3B"/>
                </a:solidFill>
                <a:latin typeface="Calibri" pitchFamily="34" charset="0"/>
                <a:ea typeface="Calibri" pitchFamily="34" charset="-122"/>
                <a:cs typeface="Calibri" pitchFamily="34" charset="-120"/>
              </a:rPr>
              <a:t>Too simple</a:t>
            </a:r>
            <a:endParaRPr lang="en-US" sz="2200" dirty="0"/>
          </a:p>
        </p:txBody>
      </p:sp>
      <p:sp>
        <p:nvSpPr>
          <p:cNvPr id="7" name="Text 4"/>
          <p:cNvSpPr txBox="1"/>
          <p:nvPr/>
        </p:nvSpPr>
        <p:spPr>
          <a:xfrm>
            <a:off x="822960" y="4800600"/>
            <a:ext cx="3017520" cy="73152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Like barely revising. A straight line misses the real pattern.</a:t>
            </a:r>
            <a:endParaRPr lang="en-US" sz="1600" dirty="0"/>
          </a:p>
        </p:txBody>
      </p:sp>
      <p:sp>
        <p:nvSpPr>
          <p:cNvPr id="8" name="Shape 5"/>
          <p:cNvSpPr/>
          <p:nvPr/>
        </p:nvSpPr>
        <p:spPr>
          <a:xfrm>
            <a:off x="4343400" y="1828800"/>
            <a:ext cx="3520440" cy="3749040"/>
          </a:xfrm>
          <a:prstGeom prst="roundRect">
            <a:avLst>
              <a:gd name="adj" fmla="val 3896"/>
            </a:avLst>
          </a:prstGeom>
          <a:solidFill>
            <a:srgbClr val="EEF1FA"/>
          </a:solidFill>
          <a:ln w="12700">
            <a:solidFill>
              <a:srgbClr val="EEF1FA"/>
            </a:solidFill>
            <a:prstDash val="solid"/>
          </a:ln>
        </p:spPr>
      </p:sp>
      <p:pic>
        <p:nvPicPr>
          <p:cNvPr id="9" name="Image 1" descr="/tmp/fit_good.png">    </p:cNvPr>
          <p:cNvPicPr>
            <a:picLocks noChangeAspect="1"/>
          </p:cNvPicPr>
          <p:nvPr/>
        </p:nvPicPr>
        <p:blipFill>
          <a:blip r:embed="rId2"/>
          <a:stretch>
            <a:fillRect/>
          </a:stretch>
        </p:blipFill>
        <p:spPr>
          <a:xfrm>
            <a:off x="4503420" y="1965960"/>
            <a:ext cx="3200400" cy="2286000"/>
          </a:xfrm>
          <a:prstGeom prst="rect">
            <a:avLst/>
          </a:prstGeom>
        </p:spPr>
      </p:pic>
      <p:sp>
        <p:nvSpPr>
          <p:cNvPr id="10" name="Text 6"/>
          <p:cNvSpPr txBox="1"/>
          <p:nvPr/>
        </p:nvSpPr>
        <p:spPr>
          <a:xfrm>
            <a:off x="4617720" y="4389120"/>
            <a:ext cx="3017520" cy="36576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Just right</a:t>
            </a:r>
            <a:endParaRPr lang="en-US" sz="2200" dirty="0"/>
          </a:p>
        </p:txBody>
      </p:sp>
      <p:sp>
        <p:nvSpPr>
          <p:cNvPr id="11" name="Text 7"/>
          <p:cNvSpPr txBox="1"/>
          <p:nvPr/>
        </p:nvSpPr>
        <p:spPr>
          <a:xfrm>
            <a:off x="4617720" y="4800600"/>
            <a:ext cx="3017520" cy="73152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Follows the real pattern and ignores the random noise.</a:t>
            </a:r>
            <a:endParaRPr lang="en-US" sz="1600" dirty="0"/>
          </a:p>
        </p:txBody>
      </p:sp>
      <p:sp>
        <p:nvSpPr>
          <p:cNvPr id="12" name="Shape 8"/>
          <p:cNvSpPr/>
          <p:nvPr/>
        </p:nvSpPr>
        <p:spPr>
          <a:xfrm>
            <a:off x="8138160" y="1828800"/>
            <a:ext cx="3520440" cy="3749040"/>
          </a:xfrm>
          <a:prstGeom prst="roundRect">
            <a:avLst>
              <a:gd name="adj" fmla="val 3896"/>
            </a:avLst>
          </a:prstGeom>
          <a:solidFill>
            <a:srgbClr val="EEF1FA"/>
          </a:solidFill>
          <a:ln w="12700">
            <a:solidFill>
              <a:srgbClr val="EEF1FA"/>
            </a:solidFill>
            <a:prstDash val="solid"/>
          </a:ln>
        </p:spPr>
      </p:sp>
      <p:pic>
        <p:nvPicPr>
          <p:cNvPr id="13" name="Image 2" descr="/tmp/fit_complex.png">    </p:cNvPr>
          <p:cNvPicPr>
            <a:picLocks noChangeAspect="1"/>
          </p:cNvPicPr>
          <p:nvPr/>
        </p:nvPicPr>
        <p:blipFill>
          <a:blip r:embed="rId3"/>
          <a:stretch>
            <a:fillRect/>
          </a:stretch>
        </p:blipFill>
        <p:spPr>
          <a:xfrm>
            <a:off x="8298180" y="1965960"/>
            <a:ext cx="3200400" cy="2286000"/>
          </a:xfrm>
          <a:prstGeom prst="rect">
            <a:avLst/>
          </a:prstGeom>
        </p:spPr>
      </p:pic>
      <p:sp>
        <p:nvSpPr>
          <p:cNvPr id="14" name="Text 9"/>
          <p:cNvSpPr txBox="1"/>
          <p:nvPr/>
        </p:nvSpPr>
        <p:spPr>
          <a:xfrm>
            <a:off x="8412480" y="4389120"/>
            <a:ext cx="3017520" cy="36576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Too complex</a:t>
            </a:r>
            <a:endParaRPr lang="en-US" sz="2200" dirty="0"/>
          </a:p>
        </p:txBody>
      </p:sp>
      <p:sp>
        <p:nvSpPr>
          <p:cNvPr id="15" name="Text 10"/>
          <p:cNvSpPr txBox="1"/>
          <p:nvPr/>
        </p:nvSpPr>
        <p:spPr>
          <a:xfrm>
            <a:off x="8412480" y="4800600"/>
            <a:ext cx="3017520" cy="73152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Like memorising past papers. It chases every dot, noise included.</a:t>
            </a:r>
            <a:endParaRPr lang="en-US" sz="1600" dirty="0"/>
          </a:p>
        </p:txBody>
      </p:sp>
      <p:sp>
        <p:nvSpPr>
          <p:cNvPr id="16" name="Text 11"/>
          <p:cNvSpPr txBox="1"/>
          <p:nvPr/>
        </p:nvSpPr>
        <p:spPr>
          <a:xfrm>
            <a:off x="548640" y="5760720"/>
            <a:ext cx="10515600" cy="548640"/>
          </a:xfrm>
          <a:prstGeom prst="rect">
            <a:avLst/>
          </a:prstGeom>
          <a:noFill/>
          <a:ln/>
        </p:spPr>
        <p:txBody>
          <a:bodyPr wrap="square" lIns="0" tIns="0" rIns="0" bIns="0" rtlCol="0" anchor="t"/>
          <a:lstStyle/>
          <a:p>
            <a:pPr indent="0" marL="0">
              <a:buNone/>
            </a:pPr>
            <a:r>
              <a:rPr lang="en-US" sz="1800" i="1" dirty="0">
                <a:solidFill>
                  <a:srgbClr val="4A5070"/>
                </a:solidFill>
                <a:latin typeface="Calibri" pitchFamily="34" charset="0"/>
                <a:ea typeface="Calibri" pitchFamily="34" charset="-122"/>
                <a:cs typeface="Calibri" pitchFamily="34" charset="-120"/>
              </a:rPr>
              <a:t>"Complex" means how flexible the model is (for example num_leaves), not how complicated your code is. More is not better: tuning finds the right amount.</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Which data do we tune on?</a:t>
            </a:r>
            <a:endParaRPr lang="en-US" sz="3600" dirty="0"/>
          </a:p>
        </p:txBody>
      </p:sp>
      <p:sp>
        <p:nvSpPr>
          <p:cNvPr id="3" name="Shape 1"/>
          <p:cNvSpPr/>
          <p:nvPr/>
        </p:nvSpPr>
        <p:spPr>
          <a:xfrm>
            <a:off x="548640" y="1645920"/>
            <a:ext cx="3291840" cy="3291840"/>
          </a:xfrm>
          <a:prstGeom prst="roundRect">
            <a:avLst>
              <a:gd name="adj" fmla="val 4167"/>
            </a:avLst>
          </a:prstGeom>
          <a:solidFill>
            <a:srgbClr val="EEF1FA"/>
          </a:solidFill>
          <a:ln w="12700">
            <a:solidFill>
              <a:srgbClr val="EEF1FA"/>
            </a:solidFill>
            <a:prstDash val="solid"/>
          </a:ln>
        </p:spPr>
      </p:sp>
      <p:sp>
        <p:nvSpPr>
          <p:cNvPr id="4" name="Text 2"/>
          <p:cNvSpPr txBox="1"/>
          <p:nvPr/>
        </p:nvSpPr>
        <p:spPr>
          <a:xfrm>
            <a:off x="822960" y="1920240"/>
            <a:ext cx="2743200" cy="548640"/>
          </a:xfrm>
          <a:prstGeom prst="rect">
            <a:avLst/>
          </a:prstGeom>
          <a:noFill/>
          <a:ln/>
        </p:spPr>
        <p:txBody>
          <a:bodyPr wrap="square" lIns="0" tIns="0" rIns="0" bIns="0" rtlCol="0" anchor="t"/>
          <a:lstStyle/>
          <a:p>
            <a:pPr indent="0" marL="0">
              <a:buNone/>
            </a:pPr>
            <a:r>
              <a:rPr lang="en-US" sz="2800" b="1" dirty="0">
                <a:solidFill>
                  <a:srgbClr val="1B1F3B"/>
                </a:solidFill>
                <a:latin typeface="Cambria" pitchFamily="34" charset="0"/>
                <a:ea typeface="Cambria" pitchFamily="34" charset="-122"/>
                <a:cs typeface="Cambria" pitchFamily="34" charset="-120"/>
              </a:rPr>
              <a:t>Textbook</a:t>
            </a:r>
            <a:endParaRPr lang="en-US" sz="2800" dirty="0"/>
          </a:p>
        </p:txBody>
      </p:sp>
      <p:sp>
        <p:nvSpPr>
          <p:cNvPr id="5" name="Text 3"/>
          <p:cNvSpPr txBox="1"/>
          <p:nvPr/>
        </p:nvSpPr>
        <p:spPr>
          <a:xfrm>
            <a:off x="822960" y="2651760"/>
            <a:ext cx="2743200" cy="4572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Training data</a:t>
            </a:r>
            <a:endParaRPr lang="en-US" sz="2000" dirty="0"/>
          </a:p>
        </p:txBody>
      </p:sp>
      <p:sp>
        <p:nvSpPr>
          <p:cNvPr id="6" name="Text 4"/>
          <p:cNvSpPr txBox="1"/>
          <p:nvPr/>
        </p:nvSpPr>
        <p:spPr>
          <a:xfrm>
            <a:off x="822960" y="3291840"/>
            <a:ext cx="2743200" cy="12801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The model learns from this.</a:t>
            </a:r>
            <a:endParaRPr lang="en-US" sz="2000" dirty="0"/>
          </a:p>
        </p:txBody>
      </p:sp>
      <p:sp>
        <p:nvSpPr>
          <p:cNvPr id="7" name="Shape 5"/>
          <p:cNvSpPr/>
          <p:nvPr/>
        </p:nvSpPr>
        <p:spPr>
          <a:xfrm>
            <a:off x="3931920" y="3063240"/>
            <a:ext cx="457200" cy="457200"/>
          </a:xfrm>
          <a:prstGeom prst="rightArrow">
            <a:avLst/>
          </a:prstGeom>
          <a:solidFill>
            <a:srgbClr val="D6452B"/>
          </a:solidFill>
          <a:ln w="12700">
            <a:solidFill>
              <a:srgbClr val="D6452B"/>
            </a:solidFill>
            <a:prstDash val="solid"/>
          </a:ln>
        </p:spPr>
      </p:sp>
      <p:sp>
        <p:nvSpPr>
          <p:cNvPr id="8" name="Shape 6"/>
          <p:cNvSpPr/>
          <p:nvPr/>
        </p:nvSpPr>
        <p:spPr>
          <a:xfrm>
            <a:off x="4480560" y="1645920"/>
            <a:ext cx="3291840" cy="3291840"/>
          </a:xfrm>
          <a:prstGeom prst="roundRect">
            <a:avLst>
              <a:gd name="adj" fmla="val 4167"/>
            </a:avLst>
          </a:prstGeom>
          <a:solidFill>
            <a:srgbClr val="EEF1FA"/>
          </a:solidFill>
          <a:ln w="12700">
            <a:solidFill>
              <a:srgbClr val="EEF1FA"/>
            </a:solidFill>
            <a:prstDash val="solid"/>
          </a:ln>
        </p:spPr>
      </p:sp>
      <p:sp>
        <p:nvSpPr>
          <p:cNvPr id="9" name="Text 7"/>
          <p:cNvSpPr txBox="1"/>
          <p:nvPr/>
        </p:nvSpPr>
        <p:spPr>
          <a:xfrm>
            <a:off x="4754880" y="1920240"/>
            <a:ext cx="2743200" cy="548640"/>
          </a:xfrm>
          <a:prstGeom prst="rect">
            <a:avLst/>
          </a:prstGeom>
          <a:noFill/>
          <a:ln/>
        </p:spPr>
        <p:txBody>
          <a:bodyPr wrap="square" lIns="0" tIns="0" rIns="0" bIns="0" rtlCol="0" anchor="t"/>
          <a:lstStyle/>
          <a:p>
            <a:pPr indent="0" marL="0">
              <a:buNone/>
            </a:pPr>
            <a:r>
              <a:rPr lang="en-US" sz="2800" b="1" dirty="0">
                <a:solidFill>
                  <a:srgbClr val="0E8F7E"/>
                </a:solidFill>
                <a:latin typeface="Cambria" pitchFamily="34" charset="0"/>
                <a:ea typeface="Cambria" pitchFamily="34" charset="-122"/>
                <a:cs typeface="Cambria" pitchFamily="34" charset="-120"/>
              </a:rPr>
              <a:t>Practice paper</a:t>
            </a:r>
            <a:endParaRPr lang="en-US" sz="2800" dirty="0"/>
          </a:p>
        </p:txBody>
      </p:sp>
      <p:sp>
        <p:nvSpPr>
          <p:cNvPr id="10" name="Text 8"/>
          <p:cNvSpPr txBox="1"/>
          <p:nvPr/>
        </p:nvSpPr>
        <p:spPr>
          <a:xfrm>
            <a:off x="4754880" y="2651760"/>
            <a:ext cx="2743200" cy="4572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Validation data</a:t>
            </a:r>
            <a:endParaRPr lang="en-US" sz="2000" dirty="0"/>
          </a:p>
        </p:txBody>
      </p:sp>
      <p:sp>
        <p:nvSpPr>
          <p:cNvPr id="11" name="Text 9"/>
          <p:cNvSpPr txBox="1"/>
          <p:nvPr/>
        </p:nvSpPr>
        <p:spPr>
          <a:xfrm>
            <a:off x="4754880" y="3291840"/>
            <a:ext cx="2743200" cy="12801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We check which settings work best here.</a:t>
            </a:r>
            <a:endParaRPr lang="en-US" sz="2000" dirty="0"/>
          </a:p>
        </p:txBody>
      </p:sp>
      <p:sp>
        <p:nvSpPr>
          <p:cNvPr id="12" name="Shape 10"/>
          <p:cNvSpPr/>
          <p:nvPr/>
        </p:nvSpPr>
        <p:spPr>
          <a:xfrm>
            <a:off x="7863840" y="3063240"/>
            <a:ext cx="457200" cy="457200"/>
          </a:xfrm>
          <a:prstGeom prst="rightArrow">
            <a:avLst/>
          </a:prstGeom>
          <a:solidFill>
            <a:srgbClr val="D6452B"/>
          </a:solidFill>
          <a:ln w="12700">
            <a:solidFill>
              <a:srgbClr val="D6452B"/>
            </a:solidFill>
            <a:prstDash val="solid"/>
          </a:ln>
        </p:spPr>
      </p:sp>
      <p:sp>
        <p:nvSpPr>
          <p:cNvPr id="13" name="Shape 11"/>
          <p:cNvSpPr/>
          <p:nvPr/>
        </p:nvSpPr>
        <p:spPr>
          <a:xfrm>
            <a:off x="8412480" y="1645920"/>
            <a:ext cx="3291840" cy="3291840"/>
          </a:xfrm>
          <a:prstGeom prst="roundRect">
            <a:avLst>
              <a:gd name="adj" fmla="val 4167"/>
            </a:avLst>
          </a:prstGeom>
          <a:solidFill>
            <a:srgbClr val="EEF1FA"/>
          </a:solidFill>
          <a:ln w="12700">
            <a:solidFill>
              <a:srgbClr val="EEF1FA"/>
            </a:solidFill>
            <a:prstDash val="solid"/>
          </a:ln>
        </p:spPr>
      </p:sp>
      <p:sp>
        <p:nvSpPr>
          <p:cNvPr id="14" name="Text 12"/>
          <p:cNvSpPr txBox="1"/>
          <p:nvPr/>
        </p:nvSpPr>
        <p:spPr>
          <a:xfrm>
            <a:off x="8686800" y="1920240"/>
            <a:ext cx="2743200" cy="548640"/>
          </a:xfrm>
          <a:prstGeom prst="rect">
            <a:avLst/>
          </a:prstGeom>
          <a:noFill/>
          <a:ln/>
        </p:spPr>
        <p:txBody>
          <a:bodyPr wrap="square" lIns="0" tIns="0" rIns="0" bIns="0" rtlCol="0" anchor="t"/>
          <a:lstStyle/>
          <a:p>
            <a:pPr indent="0" marL="0">
              <a:buNone/>
            </a:pPr>
            <a:r>
              <a:rPr lang="en-US" sz="2800" b="1" dirty="0">
                <a:solidFill>
                  <a:srgbClr val="D6452B"/>
                </a:solidFill>
                <a:latin typeface="Cambria" pitchFamily="34" charset="0"/>
                <a:ea typeface="Cambria" pitchFamily="34" charset="-122"/>
                <a:cs typeface="Cambria" pitchFamily="34" charset="-120"/>
              </a:rPr>
              <a:t>Real exam</a:t>
            </a:r>
            <a:endParaRPr lang="en-US" sz="2800" dirty="0"/>
          </a:p>
        </p:txBody>
      </p:sp>
      <p:sp>
        <p:nvSpPr>
          <p:cNvPr id="15" name="Text 13"/>
          <p:cNvSpPr txBox="1"/>
          <p:nvPr/>
        </p:nvSpPr>
        <p:spPr>
          <a:xfrm>
            <a:off x="8686800" y="2651760"/>
            <a:ext cx="2743200" cy="4572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Test data</a:t>
            </a:r>
            <a:endParaRPr lang="en-US" sz="2000" dirty="0"/>
          </a:p>
        </p:txBody>
      </p:sp>
      <p:sp>
        <p:nvSpPr>
          <p:cNvPr id="16" name="Text 14"/>
          <p:cNvSpPr txBox="1"/>
          <p:nvPr/>
        </p:nvSpPr>
        <p:spPr>
          <a:xfrm>
            <a:off x="8686800" y="3291840"/>
            <a:ext cx="2743200" cy="12801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Used once, at the very end. No peeking!</a:t>
            </a:r>
            <a:endParaRPr lang="en-US" sz="2000" dirty="0"/>
          </a:p>
        </p:txBody>
      </p:sp>
      <p:sp>
        <p:nvSpPr>
          <p:cNvPr id="17" name="Text 15"/>
          <p:cNvSpPr txBox="1"/>
          <p:nvPr/>
        </p:nvSpPr>
        <p:spPr>
          <a:xfrm>
            <a:off x="548640" y="5394960"/>
            <a:ext cx="10972800" cy="640080"/>
          </a:xfrm>
          <a:prstGeom prst="rect">
            <a:avLst/>
          </a:prstGeom>
          <a:noFill/>
          <a:ln/>
        </p:spPr>
        <p:txBody>
          <a:bodyPr wrap="square" lIns="0" tIns="0" rIns="0" bIns="0" rtlCol="0" anchor="t"/>
          <a:lstStyle/>
          <a:p>
            <a:pPr indent="0" marL="0">
              <a:buNone/>
            </a:pPr>
            <a:r>
              <a:rPr lang="en-US" sz="2000" i="1" dirty="0">
                <a:solidFill>
                  <a:srgbClr val="4A5070"/>
                </a:solidFill>
                <a:latin typeface="Calibri" pitchFamily="34" charset="0"/>
                <a:ea typeface="Calibri" pitchFamily="34" charset="-122"/>
                <a:cs typeface="Calibri" pitchFamily="34" charset="-120"/>
              </a:rPr>
              <a:t>If you tune on the test set, you've seen the exam paper in advance, so your score isn't honest.</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Method 1: Grid search</a:t>
            </a:r>
            <a:endParaRPr lang="en-US" sz="3600" dirty="0"/>
          </a:p>
        </p:txBody>
      </p:sp>
      <p:sp>
        <p:nvSpPr>
          <p:cNvPr id="3" name="Text 1"/>
          <p:cNvSpPr txBox="1"/>
          <p:nvPr/>
        </p:nvSpPr>
        <p:spPr>
          <a:xfrm>
            <a:off x="548640" y="1463040"/>
            <a:ext cx="5943600" cy="548640"/>
          </a:xfrm>
          <a:prstGeom prst="rect">
            <a:avLst/>
          </a:prstGeom>
          <a:noFill/>
          <a:ln/>
        </p:spPr>
        <p:txBody>
          <a:bodyPr wrap="square" lIns="0" tIns="0" rIns="0" bIns="0" rtlCol="0" anchor="t"/>
          <a:lstStyle/>
          <a:p>
            <a:pPr indent="0" marL="0">
              <a:buNone/>
            </a:pPr>
            <a:r>
              <a:rPr lang="en-US" sz="2600" b="1" dirty="0">
                <a:solidFill>
                  <a:srgbClr val="0E8F7E"/>
                </a:solidFill>
                <a:latin typeface="Cambria" pitchFamily="34" charset="0"/>
                <a:ea typeface="Cambria" pitchFamily="34" charset="-122"/>
                <a:cs typeface="Cambria" pitchFamily="34" charset="-120"/>
              </a:rPr>
              <a:t>Try every combination on the menu</a:t>
            </a:r>
            <a:endParaRPr lang="en-US" sz="2600" dirty="0"/>
          </a:p>
        </p:txBody>
      </p:sp>
      <p:sp>
        <p:nvSpPr>
          <p:cNvPr id="4" name="Text 2"/>
          <p:cNvSpPr txBox="1"/>
          <p:nvPr/>
        </p:nvSpPr>
        <p:spPr>
          <a:xfrm>
            <a:off x="548640" y="2103120"/>
            <a:ext cx="5943600" cy="100584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Like ordering every pizza topping combination to find your favourite.</a:t>
            </a:r>
            <a:endParaRPr lang="en-US" sz="2000" dirty="0"/>
          </a:p>
        </p:txBody>
      </p:sp>
      <p:sp>
        <p:nvSpPr>
          <p:cNvPr id="5" name="Shape 3"/>
          <p:cNvSpPr/>
          <p:nvPr/>
        </p:nvSpPr>
        <p:spPr>
          <a:xfrm>
            <a:off x="548640" y="3200400"/>
            <a:ext cx="5943600" cy="1463040"/>
          </a:xfrm>
          <a:prstGeom prst="roundRect">
            <a:avLst>
              <a:gd name="adj" fmla="val 9375"/>
            </a:avLst>
          </a:prstGeom>
          <a:solidFill>
            <a:srgbClr val="EEF1FA"/>
          </a:solidFill>
          <a:ln w="12700">
            <a:solidFill>
              <a:srgbClr val="EEF1FA"/>
            </a:solidFill>
            <a:prstDash val="solid"/>
          </a:ln>
        </p:spPr>
      </p:sp>
      <p:sp>
        <p:nvSpPr>
          <p:cNvPr id="6" name="Text 4"/>
          <p:cNvSpPr txBox="1"/>
          <p:nvPr/>
        </p:nvSpPr>
        <p:spPr>
          <a:xfrm>
            <a:off x="822960" y="3429000"/>
            <a:ext cx="5394960" cy="45720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Why it's good</a:t>
            </a:r>
            <a:endParaRPr lang="en-US" sz="2200" dirty="0"/>
          </a:p>
        </p:txBody>
      </p:sp>
      <p:sp>
        <p:nvSpPr>
          <p:cNvPr id="7" name="Text 5"/>
          <p:cNvSpPr txBox="1"/>
          <p:nvPr/>
        </p:nvSpPr>
        <p:spPr>
          <a:xfrm>
            <a:off x="822960" y="397764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Simple, and checks every option so nothing is missed.</a:t>
            </a:r>
            <a:endParaRPr lang="en-US" sz="1800" dirty="0"/>
          </a:p>
        </p:txBody>
      </p:sp>
      <p:sp>
        <p:nvSpPr>
          <p:cNvPr id="8" name="Shape 6"/>
          <p:cNvSpPr/>
          <p:nvPr/>
        </p:nvSpPr>
        <p:spPr>
          <a:xfrm>
            <a:off x="548640" y="4846320"/>
            <a:ext cx="5943600" cy="1463040"/>
          </a:xfrm>
          <a:prstGeom prst="roundRect">
            <a:avLst>
              <a:gd name="adj" fmla="val 9375"/>
            </a:avLst>
          </a:prstGeom>
          <a:solidFill>
            <a:srgbClr val="EEF1FA"/>
          </a:solidFill>
          <a:ln w="12700">
            <a:solidFill>
              <a:srgbClr val="EEF1FA"/>
            </a:solidFill>
            <a:prstDash val="solid"/>
          </a:ln>
        </p:spPr>
      </p:sp>
      <p:sp>
        <p:nvSpPr>
          <p:cNvPr id="9" name="Text 7"/>
          <p:cNvSpPr txBox="1"/>
          <p:nvPr/>
        </p:nvSpPr>
        <p:spPr>
          <a:xfrm>
            <a:off x="822960" y="5074920"/>
            <a:ext cx="5394960" cy="45720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The catch</a:t>
            </a:r>
            <a:endParaRPr lang="en-US" sz="2200" dirty="0"/>
          </a:p>
        </p:txBody>
      </p:sp>
      <p:sp>
        <p:nvSpPr>
          <p:cNvPr id="10" name="Text 8"/>
          <p:cNvSpPr txBox="1"/>
          <p:nvPr/>
        </p:nvSpPr>
        <p:spPr>
          <a:xfrm>
            <a:off x="822960" y="562356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Gets slow fast: 3 values for each of 3 settings is already 27 models.</a:t>
            </a:r>
            <a:endParaRPr lang="en-US" sz="1800" dirty="0"/>
          </a:p>
        </p:txBody>
      </p:sp>
      <p:sp>
        <p:nvSpPr>
          <p:cNvPr id="11" name="Shape 9"/>
          <p:cNvSpPr/>
          <p:nvPr/>
        </p:nvSpPr>
        <p:spPr>
          <a:xfrm>
            <a:off x="6949440" y="1463040"/>
            <a:ext cx="4663440" cy="4206240"/>
          </a:xfrm>
          <a:prstGeom prst="roundRect">
            <a:avLst>
              <a:gd name="adj" fmla="val 3261"/>
            </a:avLst>
          </a:prstGeom>
          <a:solidFill>
            <a:srgbClr val="EEF1FA"/>
          </a:solidFill>
          <a:ln w="12700">
            <a:solidFill>
              <a:srgbClr val="EEF1FA"/>
            </a:solidFill>
            <a:prstDash val="solid"/>
          </a:ln>
        </p:spPr>
      </p:sp>
      <p:sp>
        <p:nvSpPr>
          <p:cNvPr id="13" name="Shape 10"/>
          <p:cNvSpPr/>
          <p:nvPr/>
        </p:nvSpPr>
        <p:spPr>
          <a:xfrm>
            <a:off x="7543800" y="1965960"/>
            <a:ext cx="365760" cy="365760"/>
          </a:xfrm>
          <a:prstGeom prst="ellipse">
            <a:avLst/>
          </a:prstGeom>
          <a:solidFill>
            <a:srgbClr val="1B1F3B"/>
          </a:solidFill>
          <a:ln w="12700">
            <a:solidFill>
              <a:srgbClr val="1B1F3B"/>
            </a:solidFill>
            <a:prstDash val="solid"/>
          </a:ln>
        </p:spPr>
      </p:sp>
      <p:sp>
        <p:nvSpPr>
          <p:cNvPr id="14" name="Shape 11"/>
          <p:cNvSpPr/>
          <p:nvPr/>
        </p:nvSpPr>
        <p:spPr>
          <a:xfrm>
            <a:off x="7543800" y="3383280"/>
            <a:ext cx="365760" cy="365760"/>
          </a:xfrm>
          <a:prstGeom prst="ellipse">
            <a:avLst/>
          </a:prstGeom>
          <a:solidFill>
            <a:srgbClr val="1B1F3B"/>
          </a:solidFill>
          <a:ln w="12700">
            <a:solidFill>
              <a:srgbClr val="1B1F3B"/>
            </a:solidFill>
            <a:prstDash val="solid"/>
          </a:ln>
        </p:spPr>
      </p:sp>
      <p:sp>
        <p:nvSpPr>
          <p:cNvPr id="15" name="Shape 12"/>
          <p:cNvSpPr/>
          <p:nvPr/>
        </p:nvSpPr>
        <p:spPr>
          <a:xfrm>
            <a:off x="7543800" y="4800600"/>
            <a:ext cx="365760" cy="365760"/>
          </a:xfrm>
          <a:prstGeom prst="ellipse">
            <a:avLst/>
          </a:prstGeom>
          <a:solidFill>
            <a:srgbClr val="1B1F3B"/>
          </a:solidFill>
          <a:ln w="12700">
            <a:solidFill>
              <a:srgbClr val="1B1F3B"/>
            </a:solidFill>
            <a:prstDash val="solid"/>
          </a:ln>
        </p:spPr>
      </p:sp>
      <p:sp>
        <p:nvSpPr>
          <p:cNvPr id="16" name="Shape 13"/>
          <p:cNvSpPr/>
          <p:nvPr/>
        </p:nvSpPr>
        <p:spPr>
          <a:xfrm>
            <a:off x="9098280" y="1965960"/>
            <a:ext cx="365760" cy="365760"/>
          </a:xfrm>
          <a:prstGeom prst="ellipse">
            <a:avLst/>
          </a:prstGeom>
          <a:solidFill>
            <a:srgbClr val="1B1F3B"/>
          </a:solidFill>
          <a:ln w="12700">
            <a:solidFill>
              <a:srgbClr val="1B1F3B"/>
            </a:solidFill>
            <a:prstDash val="solid"/>
          </a:ln>
        </p:spPr>
      </p:sp>
      <p:sp>
        <p:nvSpPr>
          <p:cNvPr id="17" name="Shape 14"/>
          <p:cNvSpPr/>
          <p:nvPr/>
        </p:nvSpPr>
        <p:spPr>
          <a:xfrm>
            <a:off x="9098280" y="3383280"/>
            <a:ext cx="365760" cy="365760"/>
          </a:xfrm>
          <a:prstGeom prst="ellipse">
            <a:avLst/>
          </a:prstGeom>
          <a:solidFill>
            <a:srgbClr val="1B1F3B"/>
          </a:solidFill>
          <a:ln w="12700">
            <a:solidFill>
              <a:srgbClr val="1B1F3B"/>
            </a:solidFill>
            <a:prstDash val="solid"/>
          </a:ln>
        </p:spPr>
      </p:sp>
      <p:sp>
        <p:nvSpPr>
          <p:cNvPr id="18" name="Shape 15"/>
          <p:cNvSpPr/>
          <p:nvPr/>
        </p:nvSpPr>
        <p:spPr>
          <a:xfrm>
            <a:off x="9098280" y="4800600"/>
            <a:ext cx="365760" cy="365760"/>
          </a:xfrm>
          <a:prstGeom prst="ellipse">
            <a:avLst/>
          </a:prstGeom>
          <a:solidFill>
            <a:srgbClr val="1B1F3B"/>
          </a:solidFill>
          <a:ln w="12700">
            <a:solidFill>
              <a:srgbClr val="1B1F3B"/>
            </a:solidFill>
            <a:prstDash val="solid"/>
          </a:ln>
        </p:spPr>
      </p:sp>
      <p:sp>
        <p:nvSpPr>
          <p:cNvPr id="19" name="Shape 16"/>
          <p:cNvSpPr/>
          <p:nvPr/>
        </p:nvSpPr>
        <p:spPr>
          <a:xfrm>
            <a:off x="10652760" y="1965960"/>
            <a:ext cx="365760" cy="365760"/>
          </a:xfrm>
          <a:prstGeom prst="ellipse">
            <a:avLst/>
          </a:prstGeom>
          <a:solidFill>
            <a:srgbClr val="1B1F3B"/>
          </a:solidFill>
          <a:ln w="12700">
            <a:solidFill>
              <a:srgbClr val="1B1F3B"/>
            </a:solidFill>
            <a:prstDash val="solid"/>
          </a:ln>
        </p:spPr>
      </p:sp>
      <p:sp>
        <p:nvSpPr>
          <p:cNvPr id="20" name="Shape 17"/>
          <p:cNvSpPr/>
          <p:nvPr/>
        </p:nvSpPr>
        <p:spPr>
          <a:xfrm>
            <a:off x="10652760" y="3383280"/>
            <a:ext cx="365760" cy="365760"/>
          </a:xfrm>
          <a:prstGeom prst="ellipse">
            <a:avLst/>
          </a:prstGeom>
          <a:solidFill>
            <a:srgbClr val="1B1F3B"/>
          </a:solidFill>
          <a:ln w="12700">
            <a:solidFill>
              <a:srgbClr val="1B1F3B"/>
            </a:solidFill>
            <a:prstDash val="solid"/>
          </a:ln>
        </p:spPr>
      </p:sp>
      <p:sp>
        <p:nvSpPr>
          <p:cNvPr id="21" name="Shape 18"/>
          <p:cNvSpPr/>
          <p:nvPr/>
        </p:nvSpPr>
        <p:spPr>
          <a:xfrm>
            <a:off x="10652760" y="4800600"/>
            <a:ext cx="365760" cy="365760"/>
          </a:xfrm>
          <a:prstGeom prst="ellipse">
            <a:avLst/>
          </a:prstGeom>
          <a:solidFill>
            <a:srgbClr val="1B1F3B"/>
          </a:solidFill>
          <a:ln w="12700">
            <a:solidFill>
              <a:srgbClr val="1B1F3B"/>
            </a:solidFill>
            <a:prstDash val="solid"/>
          </a:ln>
        </p:spPr>
      </p:sp>
      <p:sp>
        <p:nvSpPr>
          <p:cNvPr id="22" name="Text 19"/>
          <p:cNvSpPr txBox="1"/>
          <p:nvPr/>
        </p:nvSpPr>
        <p:spPr>
          <a:xfrm>
            <a:off x="6949440" y="5806440"/>
            <a:ext cx="4663440" cy="365760"/>
          </a:xfrm>
          <a:prstGeom prst="rect">
            <a:avLst/>
          </a:prstGeom>
          <a:noFill/>
          <a:ln/>
        </p:spPr>
        <p:txBody>
          <a:bodyPr wrap="square" lIns="0" tIns="0" rIns="0" bIns="0" rtlCol="0" anchor="t"/>
          <a:lstStyle/>
          <a:p>
            <a:pPr algn="ctr" indent="0" marL="0">
              <a:buNone/>
            </a:pPr>
            <a:r>
              <a:rPr lang="en-US" sz="1600" dirty="0">
                <a:solidFill>
                  <a:srgbClr val="4A5070"/>
                </a:solidFill>
                <a:latin typeface="Calibri" pitchFamily="34" charset="0"/>
                <a:ea typeface="Calibri" pitchFamily="34" charset="-122"/>
                <a:cs typeface="Calibri" pitchFamily="34" charset="-120"/>
              </a:rPr>
              <a:t>9 neat, evenly spaced tries</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Method 2: Random search</a:t>
            </a:r>
            <a:endParaRPr lang="en-US" sz="3600" dirty="0"/>
          </a:p>
        </p:txBody>
      </p:sp>
      <p:sp>
        <p:nvSpPr>
          <p:cNvPr id="3" name="Text 1"/>
          <p:cNvSpPr txBox="1"/>
          <p:nvPr/>
        </p:nvSpPr>
        <p:spPr>
          <a:xfrm>
            <a:off x="548640" y="1463040"/>
            <a:ext cx="5943600" cy="548640"/>
          </a:xfrm>
          <a:prstGeom prst="rect">
            <a:avLst/>
          </a:prstGeom>
          <a:noFill/>
          <a:ln/>
        </p:spPr>
        <p:txBody>
          <a:bodyPr wrap="square" lIns="0" tIns="0" rIns="0" bIns="0" rtlCol="0" anchor="t"/>
          <a:lstStyle/>
          <a:p>
            <a:pPr indent="0" marL="0">
              <a:buNone/>
            </a:pPr>
            <a:r>
              <a:rPr lang="en-US" sz="2600" b="1" dirty="0">
                <a:solidFill>
                  <a:srgbClr val="0E8F7E"/>
                </a:solidFill>
                <a:latin typeface="Cambria" pitchFamily="34" charset="0"/>
                <a:ea typeface="Cambria" pitchFamily="34" charset="-122"/>
                <a:cs typeface="Cambria" pitchFamily="34" charset="-120"/>
              </a:rPr>
              <a:t>Throw darts at the menu</a:t>
            </a:r>
            <a:endParaRPr lang="en-US" sz="2600" dirty="0"/>
          </a:p>
        </p:txBody>
      </p:sp>
      <p:sp>
        <p:nvSpPr>
          <p:cNvPr id="4" name="Text 2"/>
          <p:cNvSpPr txBox="1"/>
          <p:nvPr/>
        </p:nvSpPr>
        <p:spPr>
          <a:xfrm>
            <a:off x="548640" y="2103120"/>
            <a:ext cx="5943600" cy="100584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Like trying random pizza combinations. You test many different values quickly.</a:t>
            </a:r>
            <a:endParaRPr lang="en-US" sz="2000" dirty="0"/>
          </a:p>
        </p:txBody>
      </p:sp>
      <p:sp>
        <p:nvSpPr>
          <p:cNvPr id="5" name="Shape 3"/>
          <p:cNvSpPr/>
          <p:nvPr/>
        </p:nvSpPr>
        <p:spPr>
          <a:xfrm>
            <a:off x="548640" y="3200400"/>
            <a:ext cx="5943600" cy="1463040"/>
          </a:xfrm>
          <a:prstGeom prst="roundRect">
            <a:avLst>
              <a:gd name="adj" fmla="val 9375"/>
            </a:avLst>
          </a:prstGeom>
          <a:solidFill>
            <a:srgbClr val="EEF1FA"/>
          </a:solidFill>
          <a:ln w="12700">
            <a:solidFill>
              <a:srgbClr val="EEF1FA"/>
            </a:solidFill>
            <a:prstDash val="solid"/>
          </a:ln>
        </p:spPr>
      </p:sp>
      <p:sp>
        <p:nvSpPr>
          <p:cNvPr id="6" name="Text 4"/>
          <p:cNvSpPr txBox="1"/>
          <p:nvPr/>
        </p:nvSpPr>
        <p:spPr>
          <a:xfrm>
            <a:off x="822960" y="3429000"/>
            <a:ext cx="5394960" cy="45720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Why it's good</a:t>
            </a:r>
            <a:endParaRPr lang="en-US" sz="2200" dirty="0"/>
          </a:p>
        </p:txBody>
      </p:sp>
      <p:sp>
        <p:nvSpPr>
          <p:cNvPr id="7" name="Text 5"/>
          <p:cNvSpPr txBox="1"/>
          <p:nvPr/>
        </p:nvSpPr>
        <p:spPr>
          <a:xfrm>
            <a:off x="822960" y="397764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Tries many different values quickly. Often as good as grid with far fewer tries.</a:t>
            </a:r>
            <a:endParaRPr lang="en-US" sz="1800" dirty="0"/>
          </a:p>
        </p:txBody>
      </p:sp>
      <p:sp>
        <p:nvSpPr>
          <p:cNvPr id="8" name="Shape 6"/>
          <p:cNvSpPr/>
          <p:nvPr/>
        </p:nvSpPr>
        <p:spPr>
          <a:xfrm>
            <a:off x="548640" y="4846320"/>
            <a:ext cx="5943600" cy="1463040"/>
          </a:xfrm>
          <a:prstGeom prst="roundRect">
            <a:avLst>
              <a:gd name="adj" fmla="val 9375"/>
            </a:avLst>
          </a:prstGeom>
          <a:solidFill>
            <a:srgbClr val="EEF1FA"/>
          </a:solidFill>
          <a:ln w="12700">
            <a:solidFill>
              <a:srgbClr val="EEF1FA"/>
            </a:solidFill>
            <a:prstDash val="solid"/>
          </a:ln>
        </p:spPr>
      </p:sp>
      <p:sp>
        <p:nvSpPr>
          <p:cNvPr id="9" name="Text 7"/>
          <p:cNvSpPr txBox="1"/>
          <p:nvPr/>
        </p:nvSpPr>
        <p:spPr>
          <a:xfrm>
            <a:off x="822960" y="5074920"/>
            <a:ext cx="5394960" cy="45720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The catch</a:t>
            </a:r>
            <a:endParaRPr lang="en-US" sz="2200" dirty="0"/>
          </a:p>
        </p:txBody>
      </p:sp>
      <p:sp>
        <p:nvSpPr>
          <p:cNvPr id="10" name="Text 8"/>
          <p:cNvSpPr txBox="1"/>
          <p:nvPr/>
        </p:nvSpPr>
        <p:spPr>
          <a:xfrm>
            <a:off x="822960" y="562356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A blind guess: it never learns from earlier tries, so it can miss the best spot.</a:t>
            </a:r>
            <a:endParaRPr lang="en-US" sz="1800" dirty="0"/>
          </a:p>
        </p:txBody>
      </p:sp>
      <p:sp>
        <p:nvSpPr>
          <p:cNvPr id="11" name="Shape 9"/>
          <p:cNvSpPr/>
          <p:nvPr/>
        </p:nvSpPr>
        <p:spPr>
          <a:xfrm>
            <a:off x="6949440" y="1463040"/>
            <a:ext cx="4663440" cy="4206240"/>
          </a:xfrm>
          <a:prstGeom prst="roundRect">
            <a:avLst>
              <a:gd name="adj" fmla="val 3261"/>
            </a:avLst>
          </a:prstGeom>
          <a:solidFill>
            <a:srgbClr val="EEF1FA"/>
          </a:solidFill>
          <a:ln w="12700">
            <a:solidFill>
              <a:srgbClr val="EEF1FA"/>
            </a:solidFill>
            <a:prstDash val="solid"/>
          </a:ln>
        </p:spPr>
      </p:sp>
      <p:sp>
        <p:nvSpPr>
          <p:cNvPr id="13" name="Shape 10"/>
          <p:cNvSpPr/>
          <p:nvPr/>
        </p:nvSpPr>
        <p:spPr>
          <a:xfrm>
            <a:off x="7360920" y="1965960"/>
            <a:ext cx="365760" cy="365760"/>
          </a:xfrm>
          <a:prstGeom prst="ellipse">
            <a:avLst/>
          </a:prstGeom>
          <a:solidFill>
            <a:srgbClr val="1B1F3B"/>
          </a:solidFill>
          <a:ln w="12700">
            <a:solidFill>
              <a:srgbClr val="1B1F3B"/>
            </a:solidFill>
            <a:prstDash val="solid"/>
          </a:ln>
        </p:spPr>
      </p:sp>
      <p:sp>
        <p:nvSpPr>
          <p:cNvPr id="14" name="Shape 11"/>
          <p:cNvSpPr/>
          <p:nvPr/>
        </p:nvSpPr>
        <p:spPr>
          <a:xfrm>
            <a:off x="8366760" y="4526280"/>
            <a:ext cx="365760" cy="365760"/>
          </a:xfrm>
          <a:prstGeom prst="ellipse">
            <a:avLst/>
          </a:prstGeom>
          <a:solidFill>
            <a:srgbClr val="1B1F3B"/>
          </a:solidFill>
          <a:ln w="12700">
            <a:solidFill>
              <a:srgbClr val="1B1F3B"/>
            </a:solidFill>
            <a:prstDash val="solid"/>
          </a:ln>
        </p:spPr>
      </p:sp>
      <p:sp>
        <p:nvSpPr>
          <p:cNvPr id="15" name="Shape 12"/>
          <p:cNvSpPr/>
          <p:nvPr/>
        </p:nvSpPr>
        <p:spPr>
          <a:xfrm>
            <a:off x="8915400" y="2514600"/>
            <a:ext cx="365760" cy="365760"/>
          </a:xfrm>
          <a:prstGeom prst="ellipse">
            <a:avLst/>
          </a:prstGeom>
          <a:solidFill>
            <a:srgbClr val="1B1F3B"/>
          </a:solidFill>
          <a:ln w="12700">
            <a:solidFill>
              <a:srgbClr val="1B1F3B"/>
            </a:solidFill>
            <a:prstDash val="solid"/>
          </a:ln>
        </p:spPr>
      </p:sp>
      <p:sp>
        <p:nvSpPr>
          <p:cNvPr id="16" name="Shape 13"/>
          <p:cNvSpPr/>
          <p:nvPr/>
        </p:nvSpPr>
        <p:spPr>
          <a:xfrm>
            <a:off x="9646920" y="3794760"/>
            <a:ext cx="365760" cy="365760"/>
          </a:xfrm>
          <a:prstGeom prst="ellipse">
            <a:avLst/>
          </a:prstGeom>
          <a:solidFill>
            <a:srgbClr val="1B1F3B"/>
          </a:solidFill>
          <a:ln w="12700">
            <a:solidFill>
              <a:srgbClr val="1B1F3B"/>
            </a:solidFill>
            <a:prstDash val="solid"/>
          </a:ln>
        </p:spPr>
      </p:sp>
      <p:sp>
        <p:nvSpPr>
          <p:cNvPr id="17" name="Shape 14"/>
          <p:cNvSpPr/>
          <p:nvPr/>
        </p:nvSpPr>
        <p:spPr>
          <a:xfrm>
            <a:off x="10652760" y="2240280"/>
            <a:ext cx="365760" cy="365760"/>
          </a:xfrm>
          <a:prstGeom prst="ellipse">
            <a:avLst/>
          </a:prstGeom>
          <a:solidFill>
            <a:srgbClr val="1B1F3B"/>
          </a:solidFill>
          <a:ln w="12700">
            <a:solidFill>
              <a:srgbClr val="1B1F3B"/>
            </a:solidFill>
            <a:prstDash val="solid"/>
          </a:ln>
        </p:spPr>
      </p:sp>
      <p:sp>
        <p:nvSpPr>
          <p:cNvPr id="18" name="Shape 15"/>
          <p:cNvSpPr/>
          <p:nvPr/>
        </p:nvSpPr>
        <p:spPr>
          <a:xfrm>
            <a:off x="7818120" y="3246120"/>
            <a:ext cx="365760" cy="365760"/>
          </a:xfrm>
          <a:prstGeom prst="ellipse">
            <a:avLst/>
          </a:prstGeom>
          <a:solidFill>
            <a:srgbClr val="1B1F3B"/>
          </a:solidFill>
          <a:ln w="12700">
            <a:solidFill>
              <a:srgbClr val="1B1F3B"/>
            </a:solidFill>
            <a:prstDash val="solid"/>
          </a:ln>
        </p:spPr>
      </p:sp>
      <p:sp>
        <p:nvSpPr>
          <p:cNvPr id="19" name="Shape 16"/>
          <p:cNvSpPr/>
          <p:nvPr/>
        </p:nvSpPr>
        <p:spPr>
          <a:xfrm>
            <a:off x="10195560" y="4983480"/>
            <a:ext cx="365760" cy="365760"/>
          </a:xfrm>
          <a:prstGeom prst="ellipse">
            <a:avLst/>
          </a:prstGeom>
          <a:solidFill>
            <a:srgbClr val="1B1F3B"/>
          </a:solidFill>
          <a:ln w="12700">
            <a:solidFill>
              <a:srgbClr val="1B1F3B"/>
            </a:solidFill>
            <a:prstDash val="solid"/>
          </a:ln>
        </p:spPr>
      </p:sp>
      <p:sp>
        <p:nvSpPr>
          <p:cNvPr id="20" name="Shape 17"/>
          <p:cNvSpPr/>
          <p:nvPr/>
        </p:nvSpPr>
        <p:spPr>
          <a:xfrm>
            <a:off x="10927080" y="3429000"/>
            <a:ext cx="365760" cy="365760"/>
          </a:xfrm>
          <a:prstGeom prst="ellipse">
            <a:avLst/>
          </a:prstGeom>
          <a:solidFill>
            <a:srgbClr val="1B1F3B"/>
          </a:solidFill>
          <a:ln w="12700">
            <a:solidFill>
              <a:srgbClr val="1B1F3B"/>
            </a:solidFill>
            <a:prstDash val="solid"/>
          </a:ln>
        </p:spPr>
      </p:sp>
      <p:sp>
        <p:nvSpPr>
          <p:cNvPr id="21" name="Shape 18"/>
          <p:cNvSpPr/>
          <p:nvPr/>
        </p:nvSpPr>
        <p:spPr>
          <a:xfrm>
            <a:off x="9281160" y="5074920"/>
            <a:ext cx="365760" cy="365760"/>
          </a:xfrm>
          <a:prstGeom prst="ellipse">
            <a:avLst/>
          </a:prstGeom>
          <a:solidFill>
            <a:srgbClr val="1B1F3B"/>
          </a:solidFill>
          <a:ln w="12700">
            <a:solidFill>
              <a:srgbClr val="1B1F3B"/>
            </a:solidFill>
            <a:prstDash val="solid"/>
          </a:ln>
        </p:spPr>
      </p:sp>
      <p:sp>
        <p:nvSpPr>
          <p:cNvPr id="22" name="Text 19"/>
          <p:cNvSpPr txBox="1"/>
          <p:nvPr/>
        </p:nvSpPr>
        <p:spPr>
          <a:xfrm>
            <a:off x="6949440" y="5806440"/>
            <a:ext cx="4663440" cy="365760"/>
          </a:xfrm>
          <a:prstGeom prst="rect">
            <a:avLst/>
          </a:prstGeom>
          <a:noFill/>
          <a:ln/>
        </p:spPr>
        <p:txBody>
          <a:bodyPr wrap="square" lIns="0" tIns="0" rIns="0" bIns="0" rtlCol="0" anchor="t"/>
          <a:lstStyle/>
          <a:p>
            <a:pPr algn="ctr" indent="0" marL="0">
              <a:buNone/>
            </a:pPr>
            <a:r>
              <a:rPr lang="en-US" sz="1600" dirty="0">
                <a:solidFill>
                  <a:srgbClr val="4A5070"/>
                </a:solidFill>
                <a:latin typeface="Calibri" pitchFamily="34" charset="0"/>
                <a:ea typeface="Calibri" pitchFamily="34" charset="-122"/>
                <a:cs typeface="Calibri" pitchFamily="34" charset="-120"/>
              </a:rPr>
              <a:t>9 random tries, more varied values</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Method 3: Smart search with Optuna</a:t>
            </a:r>
            <a:endParaRPr lang="en-US" sz="3600" dirty="0"/>
          </a:p>
        </p:txBody>
      </p:sp>
      <p:sp>
        <p:nvSpPr>
          <p:cNvPr id="3" name="Text 1"/>
          <p:cNvSpPr txBox="1"/>
          <p:nvPr/>
        </p:nvSpPr>
        <p:spPr>
          <a:xfrm>
            <a:off x="548640" y="1463040"/>
            <a:ext cx="5943600" cy="548640"/>
          </a:xfrm>
          <a:prstGeom prst="rect">
            <a:avLst/>
          </a:prstGeom>
          <a:noFill/>
          <a:ln/>
        </p:spPr>
        <p:txBody>
          <a:bodyPr wrap="square" lIns="0" tIns="0" rIns="0" bIns="0" rtlCol="0" anchor="t"/>
          <a:lstStyle/>
          <a:p>
            <a:pPr indent="0" marL="0">
              <a:buNone/>
            </a:pPr>
            <a:r>
              <a:rPr lang="en-US" sz="2600" b="1" dirty="0">
                <a:solidFill>
                  <a:srgbClr val="0E8F7E"/>
                </a:solidFill>
                <a:latin typeface="Cambria" pitchFamily="34" charset="0"/>
                <a:ea typeface="Cambria" pitchFamily="34" charset="-122"/>
                <a:cs typeface="Cambria" pitchFamily="34" charset="-120"/>
              </a:rPr>
              <a:t>Play hot and cold</a:t>
            </a:r>
            <a:endParaRPr lang="en-US" sz="2600" dirty="0"/>
          </a:p>
        </p:txBody>
      </p:sp>
      <p:sp>
        <p:nvSpPr>
          <p:cNvPr id="4" name="Text 2"/>
          <p:cNvSpPr txBox="1"/>
          <p:nvPr/>
        </p:nvSpPr>
        <p:spPr>
          <a:xfrm>
            <a:off x="548640" y="2103120"/>
            <a:ext cx="5943600" cy="100584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Optuna is a free Python library that plays this game for you. Each try tells it if it's getting warmer, so the next guess is smarter.</a:t>
            </a:r>
            <a:endParaRPr lang="en-US" sz="2000" dirty="0"/>
          </a:p>
        </p:txBody>
      </p:sp>
      <p:sp>
        <p:nvSpPr>
          <p:cNvPr id="5" name="Shape 3"/>
          <p:cNvSpPr/>
          <p:nvPr/>
        </p:nvSpPr>
        <p:spPr>
          <a:xfrm>
            <a:off x="548640" y="3200400"/>
            <a:ext cx="5943600" cy="1463040"/>
          </a:xfrm>
          <a:prstGeom prst="roundRect">
            <a:avLst>
              <a:gd name="adj" fmla="val 9375"/>
            </a:avLst>
          </a:prstGeom>
          <a:solidFill>
            <a:srgbClr val="EEF1FA"/>
          </a:solidFill>
          <a:ln w="12700">
            <a:solidFill>
              <a:srgbClr val="EEF1FA"/>
            </a:solidFill>
            <a:prstDash val="solid"/>
          </a:ln>
        </p:spPr>
      </p:sp>
      <p:sp>
        <p:nvSpPr>
          <p:cNvPr id="6" name="Text 4"/>
          <p:cNvSpPr txBox="1"/>
          <p:nvPr/>
        </p:nvSpPr>
        <p:spPr>
          <a:xfrm>
            <a:off x="822960" y="3429000"/>
            <a:ext cx="5394960" cy="45720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Why it's good</a:t>
            </a:r>
            <a:endParaRPr lang="en-US" sz="2200" dirty="0"/>
          </a:p>
        </p:txBody>
      </p:sp>
      <p:sp>
        <p:nvSpPr>
          <p:cNvPr id="7" name="Text 5"/>
          <p:cNvSpPr txBox="1"/>
          <p:nvPr/>
        </p:nvSpPr>
        <p:spPr>
          <a:xfrm>
            <a:off x="822960" y="397764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Learns from earlier tries, so it needs fewer tries. Saves time when each model is slow.</a:t>
            </a:r>
            <a:endParaRPr lang="en-US" sz="1800" dirty="0"/>
          </a:p>
        </p:txBody>
      </p:sp>
      <p:sp>
        <p:nvSpPr>
          <p:cNvPr id="8" name="Shape 6"/>
          <p:cNvSpPr/>
          <p:nvPr/>
        </p:nvSpPr>
        <p:spPr>
          <a:xfrm>
            <a:off x="548640" y="4846320"/>
            <a:ext cx="5943600" cy="1463040"/>
          </a:xfrm>
          <a:prstGeom prst="roundRect">
            <a:avLst>
              <a:gd name="adj" fmla="val 9375"/>
            </a:avLst>
          </a:prstGeom>
          <a:solidFill>
            <a:srgbClr val="EEF1FA"/>
          </a:solidFill>
          <a:ln w="12700">
            <a:solidFill>
              <a:srgbClr val="EEF1FA"/>
            </a:solidFill>
            <a:prstDash val="solid"/>
          </a:ln>
        </p:spPr>
      </p:sp>
      <p:sp>
        <p:nvSpPr>
          <p:cNvPr id="9" name="Text 7"/>
          <p:cNvSpPr txBox="1"/>
          <p:nvPr/>
        </p:nvSpPr>
        <p:spPr>
          <a:xfrm>
            <a:off x="822960" y="5074920"/>
            <a:ext cx="5394960" cy="45720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The catch</a:t>
            </a:r>
            <a:endParaRPr lang="en-US" sz="2200" dirty="0"/>
          </a:p>
        </p:txBody>
      </p:sp>
      <p:sp>
        <p:nvSpPr>
          <p:cNvPr id="10" name="Text 8"/>
          <p:cNvSpPr txBox="1"/>
          <p:nvPr/>
        </p:nvSpPr>
        <p:spPr>
          <a:xfrm>
            <a:off x="822960" y="5623560"/>
            <a:ext cx="539496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Slightly more code to write, and running many tries at once helps less.</a:t>
            </a:r>
            <a:endParaRPr lang="en-US" sz="1800" dirty="0"/>
          </a:p>
        </p:txBody>
      </p:sp>
      <p:sp>
        <p:nvSpPr>
          <p:cNvPr id="11" name="Shape 9"/>
          <p:cNvSpPr/>
          <p:nvPr/>
        </p:nvSpPr>
        <p:spPr>
          <a:xfrm>
            <a:off x="6949440" y="1463040"/>
            <a:ext cx="4663440" cy="4206240"/>
          </a:xfrm>
          <a:prstGeom prst="roundRect">
            <a:avLst>
              <a:gd name="adj" fmla="val 3261"/>
            </a:avLst>
          </a:prstGeom>
          <a:solidFill>
            <a:srgbClr val="EEF1FA"/>
          </a:solidFill>
          <a:ln w="12700">
            <a:solidFill>
              <a:srgbClr val="EEF1FA"/>
            </a:solidFill>
            <a:prstDash val="solid"/>
          </a:ln>
        </p:spPr>
      </p:sp>
      <p:sp>
        <p:nvSpPr>
          <p:cNvPr id="13" name="Shape 10"/>
          <p:cNvSpPr/>
          <p:nvPr/>
        </p:nvSpPr>
        <p:spPr>
          <a:xfrm>
            <a:off x="9144000" y="2560320"/>
            <a:ext cx="2194560" cy="2194560"/>
          </a:xfrm>
          <a:prstGeom prst="ellipse">
            <a:avLst/>
          </a:prstGeom>
          <a:solidFill>
            <a:srgbClr val="EEF1FA"/>
          </a:solidFill>
          <a:ln w="25400">
            <a:solidFill>
              <a:srgbClr val="D6452B"/>
            </a:solidFill>
            <a:prstDash val="solid"/>
          </a:ln>
        </p:spPr>
      </p:sp>
      <p:sp>
        <p:nvSpPr>
          <p:cNvPr id="14" name="Shape 11"/>
          <p:cNvSpPr/>
          <p:nvPr/>
        </p:nvSpPr>
        <p:spPr>
          <a:xfrm>
            <a:off x="9555480" y="2971800"/>
            <a:ext cx="1371600" cy="1371600"/>
          </a:xfrm>
          <a:prstGeom prst="ellipse">
            <a:avLst/>
          </a:prstGeom>
          <a:solidFill>
            <a:srgbClr val="EEF1FA"/>
          </a:solidFill>
          <a:ln w="25400">
            <a:solidFill>
              <a:srgbClr val="D6452B"/>
            </a:solidFill>
            <a:prstDash val="solid"/>
          </a:ln>
        </p:spPr>
      </p:sp>
      <p:sp>
        <p:nvSpPr>
          <p:cNvPr id="15" name="Shape 12"/>
          <p:cNvSpPr/>
          <p:nvPr/>
        </p:nvSpPr>
        <p:spPr>
          <a:xfrm>
            <a:off x="9966960" y="3383280"/>
            <a:ext cx="548640" cy="548640"/>
          </a:xfrm>
          <a:prstGeom prst="ellipse">
            <a:avLst/>
          </a:prstGeom>
          <a:solidFill>
            <a:srgbClr val="FFC9BD"/>
          </a:solidFill>
          <a:ln w="25400">
            <a:solidFill>
              <a:srgbClr val="D6452B"/>
            </a:solidFill>
            <a:prstDash val="solid"/>
          </a:ln>
        </p:spPr>
      </p:sp>
      <p:sp>
        <p:nvSpPr>
          <p:cNvPr id="16" name="Shape 13"/>
          <p:cNvSpPr/>
          <p:nvPr/>
        </p:nvSpPr>
        <p:spPr>
          <a:xfrm>
            <a:off x="7406640" y="1920240"/>
            <a:ext cx="457200" cy="457200"/>
          </a:xfrm>
          <a:prstGeom prst="ellipse">
            <a:avLst/>
          </a:prstGeom>
          <a:solidFill>
            <a:srgbClr val="1B1F3B"/>
          </a:solidFill>
          <a:ln w="12700">
            <a:solidFill>
              <a:srgbClr val="1B1F3B"/>
            </a:solidFill>
            <a:prstDash val="solid"/>
          </a:ln>
        </p:spPr>
      </p:sp>
      <p:sp>
        <p:nvSpPr>
          <p:cNvPr id="17" name="Text 14"/>
          <p:cNvSpPr txBox="1"/>
          <p:nvPr/>
        </p:nvSpPr>
        <p:spPr>
          <a:xfrm>
            <a:off x="740664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Shape 15"/>
          <p:cNvSpPr/>
          <p:nvPr/>
        </p:nvSpPr>
        <p:spPr>
          <a:xfrm>
            <a:off x="7498080" y="4754880"/>
            <a:ext cx="457200" cy="457200"/>
          </a:xfrm>
          <a:prstGeom prst="ellipse">
            <a:avLst/>
          </a:prstGeom>
          <a:solidFill>
            <a:srgbClr val="1B1F3B"/>
          </a:solidFill>
          <a:ln w="12700">
            <a:solidFill>
              <a:srgbClr val="1B1F3B"/>
            </a:solidFill>
            <a:prstDash val="solid"/>
          </a:ln>
        </p:spPr>
      </p:sp>
      <p:sp>
        <p:nvSpPr>
          <p:cNvPr id="19" name="Text 16"/>
          <p:cNvSpPr txBox="1"/>
          <p:nvPr/>
        </p:nvSpPr>
        <p:spPr>
          <a:xfrm>
            <a:off x="7498080" y="4754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Shape 17"/>
          <p:cNvSpPr/>
          <p:nvPr/>
        </p:nvSpPr>
        <p:spPr>
          <a:xfrm>
            <a:off x="8595360" y="3200400"/>
            <a:ext cx="457200" cy="457200"/>
          </a:xfrm>
          <a:prstGeom prst="ellipse">
            <a:avLst/>
          </a:prstGeom>
          <a:solidFill>
            <a:srgbClr val="1B1F3B"/>
          </a:solidFill>
          <a:ln w="12700">
            <a:solidFill>
              <a:srgbClr val="1B1F3B"/>
            </a:solidFill>
            <a:prstDash val="solid"/>
          </a:ln>
        </p:spPr>
      </p:sp>
      <p:sp>
        <p:nvSpPr>
          <p:cNvPr id="21" name="Text 18"/>
          <p:cNvSpPr txBox="1"/>
          <p:nvPr/>
        </p:nvSpPr>
        <p:spPr>
          <a:xfrm>
            <a:off x="859536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9326880" y="4572000"/>
            <a:ext cx="457200" cy="457200"/>
          </a:xfrm>
          <a:prstGeom prst="ellipse">
            <a:avLst/>
          </a:prstGeom>
          <a:solidFill>
            <a:srgbClr val="1B1F3B"/>
          </a:solidFill>
          <a:ln w="12700">
            <a:solidFill>
              <a:srgbClr val="1B1F3B"/>
            </a:solidFill>
            <a:prstDash val="solid"/>
          </a:ln>
        </p:spPr>
      </p:sp>
      <p:sp>
        <p:nvSpPr>
          <p:cNvPr id="23" name="Text 20"/>
          <p:cNvSpPr txBox="1"/>
          <p:nvPr/>
        </p:nvSpPr>
        <p:spPr>
          <a:xfrm>
            <a:off x="9326880" y="4572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Shape 21"/>
          <p:cNvSpPr/>
          <p:nvPr/>
        </p:nvSpPr>
        <p:spPr>
          <a:xfrm>
            <a:off x="9326880" y="2286000"/>
            <a:ext cx="457200" cy="457200"/>
          </a:xfrm>
          <a:prstGeom prst="ellipse">
            <a:avLst/>
          </a:prstGeom>
          <a:solidFill>
            <a:srgbClr val="1B1F3B"/>
          </a:solidFill>
          <a:ln w="12700">
            <a:solidFill>
              <a:srgbClr val="1B1F3B"/>
            </a:solidFill>
            <a:prstDash val="solid"/>
          </a:ln>
        </p:spPr>
      </p:sp>
      <p:sp>
        <p:nvSpPr>
          <p:cNvPr id="25" name="Text 22"/>
          <p:cNvSpPr txBox="1"/>
          <p:nvPr/>
        </p:nvSpPr>
        <p:spPr>
          <a:xfrm>
            <a:off x="9326880" y="2286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Shape 23"/>
          <p:cNvSpPr/>
          <p:nvPr/>
        </p:nvSpPr>
        <p:spPr>
          <a:xfrm>
            <a:off x="9692640" y="3017520"/>
            <a:ext cx="457200" cy="457200"/>
          </a:xfrm>
          <a:prstGeom prst="ellipse">
            <a:avLst/>
          </a:prstGeom>
          <a:solidFill>
            <a:srgbClr val="1B1F3B"/>
          </a:solidFill>
          <a:ln w="12700">
            <a:solidFill>
              <a:srgbClr val="1B1F3B"/>
            </a:solidFill>
            <a:prstDash val="solid"/>
          </a:ln>
        </p:spPr>
      </p:sp>
      <p:sp>
        <p:nvSpPr>
          <p:cNvPr id="27" name="Text 24"/>
          <p:cNvSpPr txBox="1"/>
          <p:nvPr/>
        </p:nvSpPr>
        <p:spPr>
          <a:xfrm>
            <a:off x="9692640" y="3017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Shape 25"/>
          <p:cNvSpPr/>
          <p:nvPr/>
        </p:nvSpPr>
        <p:spPr>
          <a:xfrm>
            <a:off x="10515600" y="3474720"/>
            <a:ext cx="457200" cy="457200"/>
          </a:xfrm>
          <a:prstGeom prst="ellipse">
            <a:avLst/>
          </a:prstGeom>
          <a:solidFill>
            <a:srgbClr val="1B1F3B"/>
          </a:solidFill>
          <a:ln w="12700">
            <a:solidFill>
              <a:srgbClr val="1B1F3B"/>
            </a:solidFill>
            <a:prstDash val="solid"/>
          </a:ln>
        </p:spPr>
      </p:sp>
      <p:sp>
        <p:nvSpPr>
          <p:cNvPr id="29" name="Text 26"/>
          <p:cNvSpPr txBox="1"/>
          <p:nvPr/>
        </p:nvSpPr>
        <p:spPr>
          <a:xfrm>
            <a:off x="10515600" y="3474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Shape 27"/>
          <p:cNvSpPr/>
          <p:nvPr/>
        </p:nvSpPr>
        <p:spPr>
          <a:xfrm>
            <a:off x="10058400" y="4114800"/>
            <a:ext cx="457200" cy="457200"/>
          </a:xfrm>
          <a:prstGeom prst="ellipse">
            <a:avLst/>
          </a:prstGeom>
          <a:solidFill>
            <a:srgbClr val="D6452B"/>
          </a:solidFill>
          <a:ln w="12700">
            <a:solidFill>
              <a:srgbClr val="D6452B"/>
            </a:solidFill>
            <a:prstDash val="solid"/>
          </a:ln>
        </p:spPr>
      </p:sp>
      <p:sp>
        <p:nvSpPr>
          <p:cNvPr id="31" name="Text 28"/>
          <p:cNvSpPr txBox="1"/>
          <p:nvPr/>
        </p:nvSpPr>
        <p:spPr>
          <a:xfrm>
            <a:off x="10058400" y="4114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2" name="Text 29"/>
          <p:cNvSpPr txBox="1"/>
          <p:nvPr/>
        </p:nvSpPr>
        <p:spPr>
          <a:xfrm>
            <a:off x="6949440" y="5806440"/>
            <a:ext cx="4663440" cy="365760"/>
          </a:xfrm>
          <a:prstGeom prst="rect">
            <a:avLst/>
          </a:prstGeom>
          <a:noFill/>
          <a:ln/>
        </p:spPr>
        <p:txBody>
          <a:bodyPr wrap="square" lIns="0" tIns="0" rIns="0" bIns="0" rtlCol="0" anchor="t"/>
          <a:lstStyle/>
          <a:p>
            <a:pPr algn="ctr" indent="0" marL="0">
              <a:buNone/>
            </a:pPr>
            <a:r>
              <a:rPr lang="en-US" sz="1600" dirty="0">
                <a:solidFill>
                  <a:srgbClr val="4A5070"/>
                </a:solidFill>
                <a:latin typeface="Calibri" pitchFamily="34" charset="0"/>
                <a:ea typeface="Calibri" pitchFamily="34" charset="-122"/>
                <a:cs typeface="Calibri" pitchFamily="34" charset="-120"/>
              </a:rPr>
              <a:t>Tries 1 to 8 home in on the target</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How Optuna works: a loop</a:t>
            </a:r>
            <a:endParaRPr lang="en-US" sz="3600" dirty="0"/>
          </a:p>
        </p:txBody>
      </p:sp>
      <p:sp>
        <p:nvSpPr>
          <p:cNvPr id="3" name="Shape 1"/>
          <p:cNvSpPr/>
          <p:nvPr/>
        </p:nvSpPr>
        <p:spPr>
          <a:xfrm>
            <a:off x="548640" y="1371600"/>
            <a:ext cx="2377440" cy="2743200"/>
          </a:xfrm>
          <a:prstGeom prst="roundRect">
            <a:avLst>
              <a:gd name="adj" fmla="val 5769"/>
            </a:avLst>
          </a:prstGeom>
          <a:solidFill>
            <a:srgbClr val="EEF1FA"/>
          </a:solidFill>
          <a:ln w="12700">
            <a:solidFill>
              <a:srgbClr val="EEF1FA"/>
            </a:solidFill>
            <a:prstDash val="solid"/>
          </a:ln>
        </p:spPr>
      </p:sp>
      <p:sp>
        <p:nvSpPr>
          <p:cNvPr id="4" name="Shape 2"/>
          <p:cNvSpPr/>
          <p:nvPr/>
        </p:nvSpPr>
        <p:spPr>
          <a:xfrm>
            <a:off x="731520" y="1600200"/>
            <a:ext cx="548640" cy="548640"/>
          </a:xfrm>
          <a:prstGeom prst="ellipse">
            <a:avLst/>
          </a:prstGeom>
          <a:solidFill>
            <a:srgbClr val="1B1F3B"/>
          </a:solidFill>
          <a:ln w="12700">
            <a:solidFill>
              <a:srgbClr val="1B1F3B"/>
            </a:solidFill>
            <a:prstDash val="solid"/>
          </a:ln>
        </p:spPr>
      </p:sp>
      <p:sp>
        <p:nvSpPr>
          <p:cNvPr id="5" name="Text 3"/>
          <p:cNvSpPr txBox="1"/>
          <p:nvPr/>
        </p:nvSpPr>
        <p:spPr>
          <a:xfrm>
            <a:off x="731520" y="16002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731520" y="2331720"/>
            <a:ext cx="201168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Pick settings</a:t>
            </a:r>
            <a:endParaRPr lang="en-US" sz="2000" dirty="0"/>
          </a:p>
        </p:txBody>
      </p:sp>
      <p:sp>
        <p:nvSpPr>
          <p:cNvPr id="7" name="Text 5"/>
          <p:cNvSpPr txBox="1"/>
          <p:nvPr/>
        </p:nvSpPr>
        <p:spPr>
          <a:xfrm>
            <a:off x="731520" y="2834640"/>
            <a:ext cx="2011680" cy="1188720"/>
          </a:xfrm>
          <a:prstGeom prst="rect">
            <a:avLst/>
          </a:prstGeom>
          <a:noFill/>
          <a:ln/>
        </p:spPr>
        <p:txBody>
          <a:bodyPr wrap="square" lIns="0" tIns="0" rIns="0" bIns="0" rtlCol="0" anchor="t"/>
          <a:lstStyle/>
          <a:p>
            <a:pPr indent="0" marL="0">
              <a:buNone/>
            </a:pPr>
            <a:r>
              <a:rPr lang="en-US" sz="1600" dirty="0">
                <a:solidFill>
                  <a:srgbClr val="4A5070"/>
                </a:solidFill>
                <a:latin typeface="Calibri" pitchFamily="34" charset="0"/>
                <a:ea typeface="Calibri" pitchFamily="34" charset="-122"/>
                <a:cs typeface="Calibri" pitchFamily="34" charset="-120"/>
              </a:rPr>
              <a:t>Optuna chooses values, for example learning_rate 0.05 and num_leaves 40.</a:t>
            </a:r>
            <a:endParaRPr lang="en-US" sz="1600" dirty="0"/>
          </a:p>
        </p:txBody>
      </p:sp>
      <p:sp>
        <p:nvSpPr>
          <p:cNvPr id="8" name="Shape 6"/>
          <p:cNvSpPr/>
          <p:nvPr/>
        </p:nvSpPr>
        <p:spPr>
          <a:xfrm>
            <a:off x="2980944" y="2514600"/>
            <a:ext cx="411480" cy="457200"/>
          </a:xfrm>
          <a:prstGeom prst="rightArrow">
            <a:avLst/>
          </a:prstGeom>
          <a:solidFill>
            <a:srgbClr val="D6452B"/>
          </a:solidFill>
          <a:ln w="12700">
            <a:solidFill>
              <a:srgbClr val="D6452B"/>
            </a:solidFill>
            <a:prstDash val="solid"/>
          </a:ln>
        </p:spPr>
      </p:sp>
      <p:sp>
        <p:nvSpPr>
          <p:cNvPr id="9" name="Shape 7"/>
          <p:cNvSpPr/>
          <p:nvPr/>
        </p:nvSpPr>
        <p:spPr>
          <a:xfrm>
            <a:off x="3447288" y="1371600"/>
            <a:ext cx="2377440" cy="2743200"/>
          </a:xfrm>
          <a:prstGeom prst="roundRect">
            <a:avLst>
              <a:gd name="adj" fmla="val 5769"/>
            </a:avLst>
          </a:prstGeom>
          <a:solidFill>
            <a:srgbClr val="EEF1FA"/>
          </a:solidFill>
          <a:ln w="12700">
            <a:solidFill>
              <a:srgbClr val="EEF1FA"/>
            </a:solidFill>
            <a:prstDash val="solid"/>
          </a:ln>
        </p:spPr>
      </p:sp>
      <p:sp>
        <p:nvSpPr>
          <p:cNvPr id="10" name="Shape 8"/>
          <p:cNvSpPr/>
          <p:nvPr/>
        </p:nvSpPr>
        <p:spPr>
          <a:xfrm>
            <a:off x="3630168" y="1600200"/>
            <a:ext cx="548640" cy="548640"/>
          </a:xfrm>
          <a:prstGeom prst="ellipse">
            <a:avLst/>
          </a:prstGeom>
          <a:solidFill>
            <a:srgbClr val="0E8F7E"/>
          </a:solidFill>
          <a:ln w="12700">
            <a:solidFill>
              <a:srgbClr val="0E8F7E"/>
            </a:solidFill>
            <a:prstDash val="solid"/>
          </a:ln>
        </p:spPr>
      </p:sp>
      <p:sp>
        <p:nvSpPr>
          <p:cNvPr id="11" name="Text 9"/>
          <p:cNvSpPr txBox="1"/>
          <p:nvPr/>
        </p:nvSpPr>
        <p:spPr>
          <a:xfrm>
            <a:off x="3630168" y="16002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630168" y="2331720"/>
            <a:ext cx="201168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Train the model</a:t>
            </a:r>
            <a:endParaRPr lang="en-US" sz="2000" dirty="0"/>
          </a:p>
        </p:txBody>
      </p:sp>
      <p:sp>
        <p:nvSpPr>
          <p:cNvPr id="13" name="Text 11"/>
          <p:cNvSpPr txBox="1"/>
          <p:nvPr/>
        </p:nvSpPr>
        <p:spPr>
          <a:xfrm>
            <a:off x="3630168" y="2834640"/>
            <a:ext cx="2011680" cy="1188720"/>
          </a:xfrm>
          <a:prstGeom prst="rect">
            <a:avLst/>
          </a:prstGeom>
          <a:noFill/>
          <a:ln/>
        </p:spPr>
        <p:txBody>
          <a:bodyPr wrap="square" lIns="0" tIns="0" rIns="0" bIns="0" rtlCol="0" anchor="t"/>
          <a:lstStyle/>
          <a:p>
            <a:pPr indent="0" marL="0">
              <a:buNone/>
            </a:pPr>
            <a:r>
              <a:rPr lang="en-US" sz="1600" dirty="0">
                <a:solidFill>
                  <a:srgbClr val="4A5070"/>
                </a:solidFill>
                <a:latin typeface="Calibri" pitchFamily="34" charset="0"/>
                <a:ea typeface="Calibri" pitchFamily="34" charset="-122"/>
                <a:cs typeface="Calibri" pitchFamily="34" charset="-120"/>
              </a:rPr>
              <a:t>Your function builds a model using those settings.</a:t>
            </a:r>
            <a:endParaRPr lang="en-US" sz="1600" dirty="0"/>
          </a:p>
        </p:txBody>
      </p:sp>
      <p:sp>
        <p:nvSpPr>
          <p:cNvPr id="14" name="Shape 12"/>
          <p:cNvSpPr/>
          <p:nvPr/>
        </p:nvSpPr>
        <p:spPr>
          <a:xfrm>
            <a:off x="5879592" y="2514600"/>
            <a:ext cx="411480" cy="457200"/>
          </a:xfrm>
          <a:prstGeom prst="rightArrow">
            <a:avLst/>
          </a:prstGeom>
          <a:solidFill>
            <a:srgbClr val="D6452B"/>
          </a:solidFill>
          <a:ln w="12700">
            <a:solidFill>
              <a:srgbClr val="D6452B"/>
            </a:solidFill>
            <a:prstDash val="solid"/>
          </a:ln>
        </p:spPr>
      </p:sp>
      <p:sp>
        <p:nvSpPr>
          <p:cNvPr id="15" name="Shape 13"/>
          <p:cNvSpPr/>
          <p:nvPr/>
        </p:nvSpPr>
        <p:spPr>
          <a:xfrm>
            <a:off x="6345936" y="1371600"/>
            <a:ext cx="2377440" cy="2743200"/>
          </a:xfrm>
          <a:prstGeom prst="roundRect">
            <a:avLst>
              <a:gd name="adj" fmla="val 5769"/>
            </a:avLst>
          </a:prstGeom>
          <a:solidFill>
            <a:srgbClr val="EEF1FA"/>
          </a:solidFill>
          <a:ln w="12700">
            <a:solidFill>
              <a:srgbClr val="EEF1FA"/>
            </a:solidFill>
            <a:prstDash val="solid"/>
          </a:ln>
        </p:spPr>
      </p:sp>
      <p:sp>
        <p:nvSpPr>
          <p:cNvPr id="16" name="Shape 14"/>
          <p:cNvSpPr/>
          <p:nvPr/>
        </p:nvSpPr>
        <p:spPr>
          <a:xfrm>
            <a:off x="6528816" y="1600200"/>
            <a:ext cx="548640" cy="548640"/>
          </a:xfrm>
          <a:prstGeom prst="ellipse">
            <a:avLst/>
          </a:prstGeom>
          <a:solidFill>
            <a:srgbClr val="1B1F3B"/>
          </a:solidFill>
          <a:ln w="12700">
            <a:solidFill>
              <a:srgbClr val="1B1F3B"/>
            </a:solidFill>
            <a:prstDash val="solid"/>
          </a:ln>
        </p:spPr>
      </p:sp>
      <p:sp>
        <p:nvSpPr>
          <p:cNvPr id="17" name="Text 15"/>
          <p:cNvSpPr txBox="1"/>
          <p:nvPr/>
        </p:nvSpPr>
        <p:spPr>
          <a:xfrm>
            <a:off x="6528816" y="16002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6528816" y="2331720"/>
            <a:ext cx="201168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Get a score</a:t>
            </a:r>
            <a:endParaRPr lang="en-US" sz="2000" dirty="0"/>
          </a:p>
        </p:txBody>
      </p:sp>
      <p:sp>
        <p:nvSpPr>
          <p:cNvPr id="19" name="Text 17"/>
          <p:cNvSpPr txBox="1"/>
          <p:nvPr/>
        </p:nvSpPr>
        <p:spPr>
          <a:xfrm>
            <a:off x="6528816" y="2834640"/>
            <a:ext cx="2011680" cy="1188720"/>
          </a:xfrm>
          <a:prstGeom prst="rect">
            <a:avLst/>
          </a:prstGeom>
          <a:noFill/>
          <a:ln/>
        </p:spPr>
        <p:txBody>
          <a:bodyPr wrap="square" lIns="0" tIns="0" rIns="0" bIns="0" rtlCol="0" anchor="t"/>
          <a:lstStyle/>
          <a:p>
            <a:pPr indent="0" marL="0">
              <a:buNone/>
            </a:pPr>
            <a:r>
              <a:rPr lang="en-US" sz="1600" dirty="0">
                <a:solidFill>
                  <a:srgbClr val="4A5070"/>
                </a:solidFill>
                <a:latin typeface="Calibri" pitchFamily="34" charset="0"/>
                <a:ea typeface="Calibri" pitchFamily="34" charset="-122"/>
                <a:cs typeface="Calibri" pitchFamily="34" charset="-120"/>
              </a:rPr>
              <a:t>Cross-validation gives one number, for example 0.87.</a:t>
            </a:r>
            <a:endParaRPr lang="en-US" sz="1600" dirty="0"/>
          </a:p>
        </p:txBody>
      </p:sp>
      <p:sp>
        <p:nvSpPr>
          <p:cNvPr id="20" name="Shape 18"/>
          <p:cNvSpPr/>
          <p:nvPr/>
        </p:nvSpPr>
        <p:spPr>
          <a:xfrm>
            <a:off x="8778240" y="2514600"/>
            <a:ext cx="411480" cy="457200"/>
          </a:xfrm>
          <a:prstGeom prst="rightArrow">
            <a:avLst/>
          </a:prstGeom>
          <a:solidFill>
            <a:srgbClr val="D6452B"/>
          </a:solidFill>
          <a:ln w="12700">
            <a:solidFill>
              <a:srgbClr val="D6452B"/>
            </a:solidFill>
            <a:prstDash val="solid"/>
          </a:ln>
        </p:spPr>
      </p:sp>
      <p:sp>
        <p:nvSpPr>
          <p:cNvPr id="21" name="Shape 19"/>
          <p:cNvSpPr/>
          <p:nvPr/>
        </p:nvSpPr>
        <p:spPr>
          <a:xfrm>
            <a:off x="9244584" y="1371600"/>
            <a:ext cx="2377440" cy="2743200"/>
          </a:xfrm>
          <a:prstGeom prst="roundRect">
            <a:avLst>
              <a:gd name="adj" fmla="val 5769"/>
            </a:avLst>
          </a:prstGeom>
          <a:solidFill>
            <a:srgbClr val="EEF1FA"/>
          </a:solidFill>
          <a:ln w="12700">
            <a:solidFill>
              <a:srgbClr val="EEF1FA"/>
            </a:solidFill>
            <a:prstDash val="solid"/>
          </a:ln>
        </p:spPr>
      </p:sp>
      <p:sp>
        <p:nvSpPr>
          <p:cNvPr id="22" name="Shape 20"/>
          <p:cNvSpPr/>
          <p:nvPr/>
        </p:nvSpPr>
        <p:spPr>
          <a:xfrm>
            <a:off x="9427464" y="1600200"/>
            <a:ext cx="548640" cy="548640"/>
          </a:xfrm>
          <a:prstGeom prst="ellipse">
            <a:avLst/>
          </a:prstGeom>
          <a:solidFill>
            <a:srgbClr val="D6452B"/>
          </a:solidFill>
          <a:ln w="12700">
            <a:solidFill>
              <a:srgbClr val="D6452B"/>
            </a:solidFill>
            <a:prstDash val="solid"/>
          </a:ln>
        </p:spPr>
      </p:sp>
      <p:sp>
        <p:nvSpPr>
          <p:cNvPr id="23" name="Text 21"/>
          <p:cNvSpPr txBox="1"/>
          <p:nvPr/>
        </p:nvSpPr>
        <p:spPr>
          <a:xfrm>
            <a:off x="9427464" y="16002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427464" y="2331720"/>
            <a:ext cx="201168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Learn, then repeat</a:t>
            </a:r>
            <a:endParaRPr lang="en-US" sz="2000" dirty="0"/>
          </a:p>
        </p:txBody>
      </p:sp>
      <p:sp>
        <p:nvSpPr>
          <p:cNvPr id="25" name="Text 23"/>
          <p:cNvSpPr txBox="1"/>
          <p:nvPr/>
        </p:nvSpPr>
        <p:spPr>
          <a:xfrm>
            <a:off x="9427464" y="2834640"/>
            <a:ext cx="2011680" cy="1188720"/>
          </a:xfrm>
          <a:prstGeom prst="rect">
            <a:avLst/>
          </a:prstGeom>
          <a:noFill/>
          <a:ln/>
        </p:spPr>
        <p:txBody>
          <a:bodyPr wrap="square" lIns="0" tIns="0" rIns="0" bIns="0" rtlCol="0" anchor="t"/>
          <a:lstStyle/>
          <a:p>
            <a:pPr indent="0" marL="0">
              <a:buNone/>
            </a:pPr>
            <a:r>
              <a:rPr lang="en-US" sz="1600" dirty="0">
                <a:solidFill>
                  <a:srgbClr val="4A5070"/>
                </a:solidFill>
                <a:latin typeface="Calibri" pitchFamily="34" charset="0"/>
                <a:ea typeface="Calibri" pitchFamily="34" charset="-122"/>
                <a:cs typeface="Calibri" pitchFamily="34" charset="-120"/>
              </a:rPr>
              <a:t>Optuna remembers the score and picks smarter settings next time.</a:t>
            </a:r>
            <a:endParaRPr lang="en-US" sz="1600" dirty="0"/>
          </a:p>
        </p:txBody>
      </p:sp>
      <p:sp>
        <p:nvSpPr>
          <p:cNvPr id="26" name="Shape 24"/>
          <p:cNvSpPr/>
          <p:nvPr/>
        </p:nvSpPr>
        <p:spPr>
          <a:xfrm>
            <a:off x="548640" y="4297680"/>
            <a:ext cx="11064240" cy="731520"/>
          </a:xfrm>
          <a:prstGeom prst="leftArrow">
            <a:avLst/>
          </a:prstGeom>
          <a:solidFill>
            <a:srgbClr val="C9CFE6"/>
          </a:solidFill>
          <a:ln w="12700">
            <a:solidFill>
              <a:srgbClr val="C9CFE6"/>
            </a:solidFill>
            <a:prstDash val="solid"/>
          </a:ln>
        </p:spPr>
      </p:sp>
      <p:sp>
        <p:nvSpPr>
          <p:cNvPr id="27" name="Text 25"/>
          <p:cNvSpPr txBox="1"/>
          <p:nvPr/>
        </p:nvSpPr>
        <p:spPr>
          <a:xfrm>
            <a:off x="1280160" y="4297680"/>
            <a:ext cx="9601200" cy="731520"/>
          </a:xfrm>
          <a:prstGeom prst="rect">
            <a:avLst/>
          </a:prstGeom>
          <a:noFill/>
          <a:ln/>
        </p:spPr>
        <p:txBody>
          <a:bodyPr wrap="square" lIns="0" tIns="0" rIns="0" bIns="0" rtlCol="0" anchor="ctr"/>
          <a:lstStyle/>
          <a:p>
            <a:pPr algn="ctr" indent="0" marL="0">
              <a:buNone/>
            </a:pPr>
            <a:r>
              <a:rPr lang="en-US" sz="2000" b="1" dirty="0">
                <a:solidFill>
                  <a:srgbClr val="1B1F3B"/>
                </a:solidFill>
                <a:latin typeface="Calibri" pitchFamily="34" charset="0"/>
                <a:ea typeface="Calibri" pitchFamily="34" charset="-122"/>
                <a:cs typeface="Calibri" pitchFamily="34" charset="-120"/>
              </a:rPr>
              <a:t>Repeat 30 times: each trip around the loop is one trial</a:t>
            </a:r>
            <a:endParaRPr lang="en-US" sz="2000" dirty="0"/>
          </a:p>
        </p:txBody>
      </p:sp>
      <p:sp>
        <p:nvSpPr>
          <p:cNvPr id="28" name="Shape 26"/>
          <p:cNvSpPr/>
          <p:nvPr/>
        </p:nvSpPr>
        <p:spPr>
          <a:xfrm>
            <a:off x="548640" y="5303520"/>
            <a:ext cx="5394960" cy="960120"/>
          </a:xfrm>
          <a:prstGeom prst="roundRect">
            <a:avLst>
              <a:gd name="adj" fmla="val 14286"/>
            </a:avLst>
          </a:prstGeom>
          <a:solidFill>
            <a:srgbClr val="EEF1FA"/>
          </a:solidFill>
          <a:ln w="12700">
            <a:solidFill>
              <a:srgbClr val="EEF1FA"/>
            </a:solidFill>
            <a:prstDash val="solid"/>
          </a:ln>
        </p:spPr>
      </p:sp>
      <p:sp>
        <p:nvSpPr>
          <p:cNvPr id="29" name="Text 27"/>
          <p:cNvSpPr txBox="1"/>
          <p:nvPr/>
        </p:nvSpPr>
        <p:spPr>
          <a:xfrm>
            <a:off x="777240" y="5303520"/>
            <a:ext cx="4937760" cy="960120"/>
          </a:xfrm>
          <a:prstGeom prst="rect">
            <a:avLst/>
          </a:prstGeom>
          <a:noFill/>
          <a:ln/>
        </p:spPr>
        <p:txBody>
          <a:bodyPr wrap="square" lIns="0" tIns="0" rIns="0" bIns="0" rtlCol="0" anchor="ctr"/>
          <a:lstStyle/>
          <a:p>
            <a:pPr indent="0" marL="0">
              <a:buNone/>
            </a:pPr>
            <a:r>
              <a:rPr lang="en-US" sz="1800" b="1" dirty="0">
                <a:solidFill>
                  <a:srgbClr val="0E8F7E"/>
                </a:solidFill>
                <a:latin typeface="Calibri" pitchFamily="34" charset="0"/>
                <a:ea typeface="Calibri" pitchFamily="34" charset="-122"/>
                <a:cs typeface="Calibri" pitchFamily="34" charset="-120"/>
              </a:rPr>
              <a:t>Trial: </a:t>
            </a:r>
            <a:pPr indent="0" marL="0">
              <a:buNone/>
            </a:pPr>
            <a:r>
              <a:rPr lang="en-US" sz="1800" dirty="0">
                <a:solidFill>
                  <a:srgbClr val="1B1F3B"/>
                </a:solidFill>
                <a:latin typeface="Calibri" pitchFamily="34" charset="0"/>
                <a:ea typeface="Calibri" pitchFamily="34" charset="-122"/>
                <a:cs typeface="Calibri" pitchFamily="34" charset="-120"/>
              </a:rPr>
              <a:t>one trip around the loop, like one revision plan and the mark it earns.</a:t>
            </a:r>
            <a:endParaRPr lang="en-US" sz="1800" dirty="0"/>
          </a:p>
        </p:txBody>
      </p:sp>
      <p:sp>
        <p:nvSpPr>
          <p:cNvPr id="30" name="Shape 28"/>
          <p:cNvSpPr/>
          <p:nvPr/>
        </p:nvSpPr>
        <p:spPr>
          <a:xfrm>
            <a:off x="6217920" y="5303520"/>
            <a:ext cx="5394960" cy="960120"/>
          </a:xfrm>
          <a:prstGeom prst="roundRect">
            <a:avLst>
              <a:gd name="adj" fmla="val 14286"/>
            </a:avLst>
          </a:prstGeom>
          <a:solidFill>
            <a:srgbClr val="EEF1FA"/>
          </a:solidFill>
          <a:ln w="12700">
            <a:solidFill>
              <a:srgbClr val="EEF1FA"/>
            </a:solidFill>
            <a:prstDash val="solid"/>
          </a:ln>
        </p:spPr>
      </p:sp>
      <p:sp>
        <p:nvSpPr>
          <p:cNvPr id="31" name="Text 29"/>
          <p:cNvSpPr txBox="1"/>
          <p:nvPr/>
        </p:nvSpPr>
        <p:spPr>
          <a:xfrm>
            <a:off x="6446520" y="5303520"/>
            <a:ext cx="4937760" cy="960120"/>
          </a:xfrm>
          <a:prstGeom prst="rect">
            <a:avLst/>
          </a:prstGeom>
          <a:noFill/>
          <a:ln/>
        </p:spPr>
        <p:txBody>
          <a:bodyPr wrap="square" lIns="0" tIns="0" rIns="0" bIns="0" rtlCol="0" anchor="ctr"/>
          <a:lstStyle/>
          <a:p>
            <a:pPr indent="0" marL="0">
              <a:buNone/>
            </a:pPr>
            <a:r>
              <a:rPr lang="en-US" sz="1800" b="1" dirty="0">
                <a:solidFill>
                  <a:srgbClr val="D6452B"/>
                </a:solidFill>
                <a:latin typeface="Calibri" pitchFamily="34" charset="0"/>
                <a:ea typeface="Calibri" pitchFamily="34" charset="-122"/>
                <a:cs typeface="Calibri" pitchFamily="34" charset="-120"/>
              </a:rPr>
              <a:t>Study: </a:t>
            </a:r>
            <a:pPr indent="0" marL="0">
              <a:buNone/>
            </a:pPr>
            <a:r>
              <a:rPr lang="en-US" sz="1800" dirty="0">
                <a:solidFill>
                  <a:srgbClr val="1B1F3B"/>
                </a:solidFill>
                <a:latin typeface="Calibri" pitchFamily="34" charset="0"/>
                <a:ea typeface="Calibri" pitchFamily="34" charset="-122"/>
                <a:cs typeface="Calibri" pitchFamily="34" charset="-120"/>
              </a:rPr>
              <a:t>all the trials together. It remembers which one scored best.</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Which method should I use?</a:t>
            </a:r>
            <a:endParaRPr lang="en-US" sz="3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560320"/>
                <a:gridCol w="3931920"/>
                <a:gridCol w="4572000"/>
              </a:tblGrid>
              <a:tr h="64008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Everyday picture</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Use it when</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r>
              <a:tr h="914400">
                <a:tc>
                  <a:txBody>
                    <a:bodyPr/>
                    <a:lstStyle/>
                    <a:p>
                      <a:pPr indent="0" marL="0">
                        <a:buNone/>
                      </a:pPr>
                      <a:r>
                        <a:rPr lang="en-US" sz="2000" b="1" dirty="0">
                          <a:solidFill>
                            <a:srgbClr val="1B1F3B"/>
                          </a:solidFill>
                          <a:latin typeface="Calibri" pitchFamily="34" charset="0"/>
                          <a:ea typeface="Calibri" pitchFamily="34" charset="-122"/>
                          <a:cs typeface="Calibri" pitchFamily="34" charset="-120"/>
                        </a:rPr>
                        <a:t>Grid search</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Try every pizza combination</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You have 2 or 3 settings and a fast model</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914400">
                <a:tc>
                  <a:txBody>
                    <a:bodyPr/>
                    <a:lstStyle/>
                    <a:p>
                      <a:pPr indent="0" marL="0">
                        <a:buNone/>
                      </a:pPr>
                      <a:r>
                        <a:rPr lang="en-US" sz="2000" b="1" dirty="0">
                          <a:solidFill>
                            <a:srgbClr val="1B1F3B"/>
                          </a:solidFill>
                          <a:latin typeface="Calibri" pitchFamily="34" charset="0"/>
                          <a:ea typeface="Calibri" pitchFamily="34" charset="-122"/>
                          <a:cs typeface="Calibri" pitchFamily="34" charset="-120"/>
                        </a:rPr>
                        <a:t>Random search</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Throw darts at the menu</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You have many settings and limited time</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914400">
                <a:tc>
                  <a:txBody>
                    <a:bodyPr/>
                    <a:lstStyle/>
                    <a:p>
                      <a:pPr indent="0" marL="0">
                        <a:buNone/>
                      </a:pPr>
                      <a:r>
                        <a:rPr lang="en-US" sz="2000" b="1" dirty="0">
                          <a:solidFill>
                            <a:srgbClr val="1B1F3B"/>
                          </a:solidFill>
                          <a:latin typeface="Calibri" pitchFamily="34" charset="0"/>
                          <a:ea typeface="Calibri" pitchFamily="34" charset="-122"/>
                          <a:cs typeface="Calibri" pitchFamily="34" charset="-120"/>
                        </a:rPr>
                        <a:t>Optuna</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Hot and cold game</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2000" dirty="0">
                          <a:solidFill>
                            <a:srgbClr val="1B1F3B"/>
                          </a:solidFill>
                          <a:latin typeface="Calibri" pitchFamily="34" charset="0"/>
                          <a:ea typeface="Calibri" pitchFamily="34" charset="-122"/>
                          <a:cs typeface="Calibri" pitchFamily="34" charset="-120"/>
                        </a:rPr>
                        <a:t>Models are slow and you want a smart search</a:t>
                      </a:r>
                      <a:endParaRPr lang="en-US" sz="2000" dirty="0">
                        <a:latin typeface="Calibri" charset="0"/>
                        <a:ea typeface="Calibri" charset="0"/>
                        <a:cs typeface="Calibri" charset="0"/>
                      </a:endParaRPr>
                    </a:p>
                  </a:txBody>
                  <a:tcPr marL="182880" marR="18288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bl>
          </a:graphicData>
        </a:graphic>
      </p:graphicFrame>
      <p:sp>
        <p:nvSpPr>
          <p:cNvPr id="4" name="Text 1"/>
          <p:cNvSpPr txBox="1"/>
          <p:nvPr/>
        </p:nvSpPr>
        <p:spPr>
          <a:xfrm>
            <a:off x="548640" y="5486400"/>
            <a:ext cx="10972800" cy="640080"/>
          </a:xfrm>
          <a:prstGeom prst="rect">
            <a:avLst/>
          </a:prstGeom>
          <a:noFill/>
          <a:ln/>
        </p:spPr>
        <p:txBody>
          <a:bodyPr wrap="square" lIns="0" tIns="0" rIns="0" bIns="0" rtlCol="0" anchor="t"/>
          <a:lstStyle/>
          <a:p>
            <a:pPr indent="0" marL="0">
              <a:buNone/>
            </a:pPr>
            <a:r>
              <a:rPr lang="en-US" sz="2000" i="1" dirty="0">
                <a:solidFill>
                  <a:srgbClr val="4A5070"/>
                </a:solidFill>
                <a:latin typeface="Calibri" pitchFamily="34" charset="0"/>
                <a:ea typeface="Calibri" pitchFamily="34" charset="-122"/>
                <a:cs typeface="Calibri" pitchFamily="34" charset="-120"/>
              </a:rPr>
              <a:t>These are the three standard methods. Others exist (like Hyperband) but you rarely need them to start.</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The code, part 1: one try</a:t>
            </a:r>
            <a:endParaRPr lang="en-US" sz="3600" dirty="0"/>
          </a:p>
        </p:txBody>
      </p:sp>
      <p:sp>
        <p:nvSpPr>
          <p:cNvPr id="3" name="Shape 1"/>
          <p:cNvSpPr/>
          <p:nvPr/>
        </p:nvSpPr>
        <p:spPr>
          <a:xfrm>
            <a:off x="548640" y="1280160"/>
            <a:ext cx="11064240" cy="5029200"/>
          </a:xfrm>
          <a:prstGeom prst="roundRect">
            <a:avLst>
              <a:gd name="adj" fmla="val 2727"/>
            </a:avLst>
          </a:prstGeom>
          <a:solidFill>
            <a:srgbClr val="1B1F3B"/>
          </a:solidFill>
          <a:ln w="12700">
            <a:solidFill>
              <a:srgbClr val="1B1F3B"/>
            </a:solidFill>
            <a:prstDash val="solid"/>
          </a:ln>
        </p:spPr>
      </p:sp>
      <p:sp>
        <p:nvSpPr>
          <p:cNvPr id="4" name="Text 2"/>
          <p:cNvSpPr txBox="1"/>
          <p:nvPr/>
        </p:nvSpPr>
        <p:spPr>
          <a:xfrm>
            <a:off x="822960" y="1463040"/>
            <a:ext cx="10515600" cy="4663440"/>
          </a:xfrm>
          <a:prstGeom prst="rect">
            <a:avLst/>
          </a:prstGeom>
          <a:noFill/>
          <a:ln/>
        </p:spPr>
        <p:txBody>
          <a:bodyPr wrap="square" lIns="0" tIns="0" rIns="0" bIns="0" rtlCol="0" anchor="t"/>
          <a:lstStyle/>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Optuna does the searching, LightGBM is our model</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import optuna, lightgbm as lgb</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cross_val_score tests a model on several slices of the data</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from sklearn.model_selection import cross_val_score</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 </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An "objective" is one try. Optuna calls it again and again</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def objective(trial):</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 Learning rate between 0.01 and 0.3 (log=True favours small values)</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    lr = trial.suggest_float("learning_rate", 0.01, 0.3, log=True)</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 Number of leaves between 8 and 128</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    leaves = trial.suggest_int("num_leaves", 8, 128)</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 Build the model using those settings</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    model = lgb.LGBMClassifier(learning_rate=lr, num_leaves=leaves, verbose=-1)</a:t>
            </a:r>
            <a:endParaRPr lang="en-US" sz="1700" dirty="0"/>
          </a:p>
          <a:p>
            <a:pPr indent="0" marL="0">
              <a:spcAft>
                <a:spcPts val="300"/>
              </a:spcAft>
              <a:buNone/>
            </a:pPr>
            <a:r>
              <a:rPr lang="en-US" sz="1700" dirty="0">
                <a:solidFill>
                  <a:srgbClr val="4FD1B5"/>
                </a:solidFill>
                <a:latin typeface="Courier New" pitchFamily="34" charset="0"/>
                <a:ea typeface="Courier New" pitchFamily="34" charset="-122"/>
                <a:cs typeface="Courier New" pitchFamily="34" charset="-120"/>
              </a:rPr>
              <a:t>    # Score it on 3 slices of the training data and return the average</a:t>
            </a:r>
            <a:endParaRPr lang="en-US" sz="1700" dirty="0"/>
          </a:p>
          <a:p>
            <a:pPr indent="0" marL="0">
              <a:spcAft>
                <a:spcPts val="300"/>
              </a:spcAft>
              <a:buNone/>
            </a:pPr>
            <a:r>
              <a:rPr lang="en-US" sz="1700" dirty="0">
                <a:solidFill>
                  <a:srgbClr val="FFFFFF"/>
                </a:solidFill>
                <a:latin typeface="Courier New" pitchFamily="34" charset="0"/>
                <a:ea typeface="Courier New" pitchFamily="34" charset="-122"/>
                <a:cs typeface="Courier New" pitchFamily="34" charset="-120"/>
              </a:rPr>
              <a:t>    return cross_val_score(model, X_train, y_train, cv=3).mean()</a:t>
            </a:r>
            <a:endParaRPr lang="en-US" sz="17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Decoding the code (1 of 3): asking for settings</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97680"/>
                <a:gridCol w="67665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Code</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r>
              <a:tr h="68580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import optuna, lightgbm as lgb</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Loads the two tools we need. "as lgb" is a nickname, so we type lgb instead of lightgbm.</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8686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def objective(trial):</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Creates a function: a reusable recipe for ONE try. Optuna calls it again and again. trial is a helper Optuna hands in, used to ask for settings.</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96012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trial.suggest_float(...)</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Asks Optuna for a decimal number. Ours: between 0.01 and 0.3, for the setting named "learning_rate". log=True means small values get tried more often.</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lr</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 variable: a labelled box that stores the number Optuna picked, for example 0.07.</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trial.suggest_int(...)</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The same, but for a whole number. Ours: between 8 and 128, for "num_leaves".</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leaves</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 variable that stores that whole number, for example 52.</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bl>
          </a:graphicData>
        </a:graphic>
      </p:graphicFrame>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Decoding the code (2 of 3): training and scoring</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97680"/>
                <a:gridCol w="67665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Code</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r>
              <a:tr h="100584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lgb.LGBMClassifier(...)</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Creates a LightGBM model. Classifier means it predicts categories (like yes/no). learning_rate=lr and num_leaves=leaves plug in Optuna's picks. verbose=-1 silences chatty messages.</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model</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 variable holding that new model. It hasn't learned anything yet.</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82296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X_train, y_train</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The training data. X_train = the columns we predict from (features). y_train = the answer we want to predict (the target).</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82296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cross_val_score(...)</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Splits the training data into 3 chunks (cv=3), trains on 2, tests on the 3rd, and repeats 3 times. Gives back 3 scores.</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.mean()</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Averages those 3 scores (accuracy, for a classifier) into one number.</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return</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Hands that number back to Optuna. It is the mark for this try.</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bl>
          </a:graphicData>
        </a:graphic>
      </p:graphicFrame>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The code, part 2: run the search</a:t>
            </a:r>
            <a:endParaRPr lang="en-US" sz="3600" dirty="0"/>
          </a:p>
        </p:txBody>
      </p:sp>
      <p:sp>
        <p:nvSpPr>
          <p:cNvPr id="3" name="Shape 1"/>
          <p:cNvSpPr/>
          <p:nvPr/>
        </p:nvSpPr>
        <p:spPr>
          <a:xfrm>
            <a:off x="548640" y="1280160"/>
            <a:ext cx="11064240" cy="5029200"/>
          </a:xfrm>
          <a:prstGeom prst="roundRect">
            <a:avLst>
              <a:gd name="adj" fmla="val 2727"/>
            </a:avLst>
          </a:prstGeom>
          <a:solidFill>
            <a:srgbClr val="1B1F3B"/>
          </a:solidFill>
          <a:ln w="12700">
            <a:solidFill>
              <a:srgbClr val="1B1F3B"/>
            </a:solidFill>
            <a:prstDash val="solid"/>
          </a:ln>
        </p:spPr>
      </p:sp>
      <p:sp>
        <p:nvSpPr>
          <p:cNvPr id="4" name="Text 2"/>
          <p:cNvSpPr txBox="1"/>
          <p:nvPr/>
        </p:nvSpPr>
        <p:spPr>
          <a:xfrm>
            <a:off x="822960" y="1463040"/>
            <a:ext cx="10515600" cy="4663440"/>
          </a:xfrm>
          <a:prstGeom prst="rect">
            <a:avLst/>
          </a:prstGeom>
          <a:noFill/>
          <a:ln/>
        </p:spPr>
        <p:txBody>
          <a:bodyPr wrap="square" lIns="0" tIns="0" rIns="0" bIns="0" rtlCol="0" anchor="t"/>
          <a:lstStyle/>
          <a:p>
            <a:pPr indent="0" marL="0">
              <a:spcAft>
                <a:spcPts val="300"/>
              </a:spcAft>
              <a:buNone/>
            </a:pPr>
            <a:r>
              <a:rPr lang="en-US" sz="1800" dirty="0">
                <a:solidFill>
                  <a:srgbClr val="4FD1B5"/>
                </a:solidFill>
                <a:latin typeface="Courier New" pitchFamily="34" charset="0"/>
                <a:ea typeface="Courier New" pitchFamily="34" charset="-122"/>
                <a:cs typeface="Courier New" pitchFamily="34" charset="-120"/>
              </a:rPr>
              <a:t># A study is the whole experiment ("maximize" = higher score is better)</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study = optuna.create_study(direction="maximize")</a:t>
            </a:r>
            <a:endParaRPr lang="en-US" sz="1800" dirty="0"/>
          </a:p>
          <a:p>
            <a:pPr indent="0" marL="0">
              <a:spcAft>
                <a:spcPts val="300"/>
              </a:spcAft>
              <a:buNone/>
            </a:pPr>
            <a:r>
              <a:rPr lang="en-US" sz="1800" dirty="0">
                <a:solidFill>
                  <a:srgbClr val="4FD1B5"/>
                </a:solidFill>
                <a:latin typeface="Courier New" pitchFamily="34" charset="0"/>
                <a:ea typeface="Courier New" pitchFamily="34" charset="-122"/>
                <a:cs typeface="Courier New" pitchFamily="34" charset="-120"/>
              </a:rPr>
              <a:t># Run the objective 30 times, learning from each try</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study.optimize(objective, n_trials=30)</a:t>
            </a:r>
            <a:endParaRPr lang="en-US" sz="1800" dirty="0"/>
          </a:p>
          <a:p>
            <a:pPr indent="0" marL="0">
              <a:spcAft>
                <a:spcPts val="300"/>
              </a:spcAft>
              <a:buNone/>
            </a:pPr>
            <a:r>
              <a:rPr lang="en-US" sz="1800" dirty="0">
                <a:solidFill>
                  <a:srgbClr val="4FD1B5"/>
                </a:solidFill>
                <a:latin typeface="Courier New" pitchFamily="34" charset="0"/>
                <a:ea typeface="Courier New" pitchFamily="34" charset="-122"/>
                <a:cs typeface="Courier New" pitchFamily="34" charset="-120"/>
              </a:rPr>
              <a:t># Show the winning settings</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print(study.best_params)</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indent="0" marL="0">
              <a:spcAft>
                <a:spcPts val="300"/>
              </a:spcAft>
              <a:buNone/>
            </a:pPr>
            <a:r>
              <a:rPr lang="en-US" sz="1800" dirty="0">
                <a:solidFill>
                  <a:srgbClr val="4FD1B5"/>
                </a:solidFill>
                <a:latin typeface="Courier New" pitchFamily="34" charset="0"/>
                <a:ea typeface="Courier New" pitchFamily="34" charset="-122"/>
                <a:cs typeface="Courier New" pitchFamily="34" charset="-120"/>
              </a:rPr>
              <a:t># Retrain with the winning settings (** unpacks the dictionary)</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final_model = lgb.LGBMClassifier(**study.best_params, verbose=-1)</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final_model.fit(X_train, y_train)</a:t>
            </a:r>
            <a:endParaRPr lang="en-US" sz="1800" dirty="0"/>
          </a:p>
          <a:p>
            <a:pPr indent="0" marL="0">
              <a:spcAft>
                <a:spcPts val="300"/>
              </a:spcAft>
              <a:buNone/>
            </a:pPr>
            <a:r>
              <a:rPr lang="en-US" sz="1800" dirty="0">
                <a:solidFill>
                  <a:srgbClr val="4FD1B5"/>
                </a:solidFill>
                <a:latin typeface="Courier New" pitchFamily="34" charset="0"/>
                <a:ea typeface="Courier New" pitchFamily="34" charset="-122"/>
                <a:cs typeface="Courier New" pitchFamily="34" charset="-120"/>
              </a:rPr>
              <a:t># The one and only time we look at the test set</a:t>
            </a:r>
            <a:endParaRPr lang="en-US" sz="1800" dirty="0"/>
          </a:p>
          <a:p>
            <a:pPr indent="0" marL="0">
              <a:spcAft>
                <a:spcPts val="300"/>
              </a:spcAft>
              <a:buNone/>
            </a:pPr>
            <a:r>
              <a:rPr lang="en-US" sz="1800" dirty="0">
                <a:solidFill>
                  <a:srgbClr val="FFFFFF"/>
                </a:solidFill>
                <a:latin typeface="Courier New" pitchFamily="34" charset="0"/>
                <a:ea typeface="Courier New" pitchFamily="34" charset="-122"/>
                <a:cs typeface="Courier New" pitchFamily="34" charset="-120"/>
              </a:rPr>
              <a:t>print(final_model.score(X_test, y_test))</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Decoding the code (3 of 3): running the search</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297680"/>
                <a:gridCol w="67665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Code</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B1F3B"/>
                    </a:solidFill>
                  </a:tcPr>
                </a:tc>
              </a:tr>
              <a:tr h="73152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optuna.create_study(...)</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Creates the study: the whole experiment. direction="maximize" means a higher score is better.</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73152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study.optimize(...)</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Runs the loop: calls objective 30 times (n_trials=30). Optuna learns from each score.</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8686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study.best_params</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A dictionary (setting names and values) for the best try, for example {"learning_rate": 0.04, "num_leaves": 52}.</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8686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**study.best_params</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The ** unpacks that dictionary into named settings, so it works like learning_rate=0.04, num_leaves=52.</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64008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final_model.fit(X_train, y_train)</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Trains the final model on the training data. "fit" means "learn from this data".</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r h="731520">
                <a:tc>
                  <a:txBody>
                    <a:bodyPr/>
                    <a:lstStyle/>
                    <a:p>
                      <a:pPr indent="0" marL="0">
                        <a:buNone/>
                      </a:pPr>
                      <a:r>
                        <a:rPr lang="en-US" sz="1600" b="1" dirty="0">
                          <a:solidFill>
                            <a:srgbClr val="1B1F3B"/>
                          </a:solidFill>
                          <a:latin typeface="Courier New" pitchFamily="34" charset="0"/>
                          <a:ea typeface="Courier New" pitchFamily="34" charset="-122"/>
                          <a:cs typeface="Courier New" pitchFamily="34" charset="-120"/>
                        </a:rPr>
                        <a:t>final_model.score(X_test, y_test)</a:t>
                      </a:r>
                      <a:endParaRPr lang="en-US" sz="1600" dirty="0">
                        <a:latin typeface="Courier New" charset="0"/>
                        <a:ea typeface="Courier New" charset="0"/>
                        <a:cs typeface="Courier New"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Checks the model on test data it has never seen (accuracy, for a classifier). Do this once.</a:t>
                      </a:r>
                      <a:endParaRPr lang="en-US" sz="1600" dirty="0">
                        <a:latin typeface="Calibri" charset="0"/>
                        <a:ea typeface="Calibri" charset="0"/>
                        <a:cs typeface="Calibri"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EF1FA"/>
                    </a:solidFill>
                  </a:tcPr>
                </a:tc>
              </a:tr>
            </a:tbl>
          </a:graphicData>
        </a:graphic>
      </p:graphicFrame>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Guardrails: keep the search sensible</a:t>
            </a:r>
            <a:endParaRPr lang="en-US" sz="3600" dirty="0"/>
          </a:p>
        </p:txBody>
      </p:sp>
      <p:sp>
        <p:nvSpPr>
          <p:cNvPr id="3" name="Text 1"/>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Example: tuning the learning rate when fine-tuning a Hugging Face model</a:t>
            </a:r>
            <a:endParaRPr lang="en-US" sz="2000" dirty="0"/>
          </a:p>
        </p:txBody>
      </p:sp>
      <p:sp>
        <p:nvSpPr>
          <p:cNvPr id="4" name="Shape 2"/>
          <p:cNvSpPr/>
          <p:nvPr/>
        </p:nvSpPr>
        <p:spPr>
          <a:xfrm>
            <a:off x="548640" y="1691640"/>
            <a:ext cx="3108960" cy="1005840"/>
          </a:xfrm>
          <a:prstGeom prst="roundRect">
            <a:avLst>
              <a:gd name="adj" fmla="val 13636"/>
            </a:avLst>
          </a:prstGeom>
          <a:solidFill>
            <a:srgbClr val="C9CFE6"/>
          </a:solidFill>
          <a:ln w="12700">
            <a:solidFill>
              <a:srgbClr val="C9CFE6"/>
            </a:solidFill>
            <a:prstDash val="solid"/>
          </a:ln>
        </p:spPr>
      </p:sp>
      <p:sp>
        <p:nvSpPr>
          <p:cNvPr id="5" name="Text 3"/>
          <p:cNvSpPr txBox="1"/>
          <p:nvPr/>
        </p:nvSpPr>
        <p:spPr>
          <a:xfrm>
            <a:off x="777240" y="1691640"/>
            <a:ext cx="2651760" cy="1005840"/>
          </a:xfrm>
          <a:prstGeom prst="rect">
            <a:avLst/>
          </a:prstGeom>
          <a:noFill/>
          <a:ln/>
        </p:spPr>
        <p:txBody>
          <a:bodyPr wrap="square" lIns="0" tIns="0" rIns="0" bIns="0" rtlCol="0" anchor="ctr"/>
          <a:lstStyle/>
          <a:p>
            <a:pPr indent="0" marL="0">
              <a:buNone/>
            </a:pPr>
            <a:r>
              <a:rPr lang="en-US" sz="2200" b="1" dirty="0">
                <a:solidFill>
                  <a:srgbClr val="1B1F3B"/>
                </a:solidFill>
                <a:latin typeface="Calibri" pitchFamily="34" charset="0"/>
                <a:ea typeface="Calibri" pitchFamily="34" charset="-122"/>
                <a:cs typeface="Calibri" pitchFamily="34" charset="-120"/>
              </a:rPr>
              <a:t>Too small
</a:t>
            </a:r>
            <a:pPr indent="0" marL="0">
              <a:buNone/>
            </a:pPr>
            <a:r>
              <a:rPr lang="en-US" sz="1800" dirty="0">
                <a:solidFill>
                  <a:srgbClr val="1B1F3B"/>
                </a:solidFill>
                <a:latin typeface="Calibri" pitchFamily="34" charset="0"/>
                <a:ea typeface="Calibri" pitchFamily="34" charset="-122"/>
                <a:cs typeface="Calibri" pitchFamily="34" charset="-120"/>
              </a:rPr>
              <a:t>1e-7: barely learns</a:t>
            </a:r>
            <a:endParaRPr lang="en-US" sz="1800" dirty="0"/>
          </a:p>
        </p:txBody>
      </p:sp>
      <p:sp>
        <p:nvSpPr>
          <p:cNvPr id="6" name="Shape 4"/>
          <p:cNvSpPr/>
          <p:nvPr/>
        </p:nvSpPr>
        <p:spPr>
          <a:xfrm>
            <a:off x="3749040" y="1691640"/>
            <a:ext cx="4206240" cy="1005840"/>
          </a:xfrm>
          <a:prstGeom prst="roundRect">
            <a:avLst>
              <a:gd name="adj" fmla="val 13636"/>
            </a:avLst>
          </a:prstGeom>
          <a:solidFill>
            <a:srgbClr val="0E8F7E"/>
          </a:solidFill>
          <a:ln w="12700">
            <a:solidFill>
              <a:srgbClr val="0E8F7E"/>
            </a:solidFill>
            <a:prstDash val="solid"/>
          </a:ln>
        </p:spPr>
      </p:sp>
      <p:sp>
        <p:nvSpPr>
          <p:cNvPr id="7" name="Text 5"/>
          <p:cNvSpPr txBox="1"/>
          <p:nvPr/>
        </p:nvSpPr>
        <p:spPr>
          <a:xfrm>
            <a:off x="3977640" y="1691640"/>
            <a:ext cx="3749040" cy="10058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Safe zone
</a:t>
            </a:r>
            <a:pPr indent="0" marL="0">
              <a:buNone/>
            </a:pPr>
            <a:r>
              <a:rPr lang="en-US" sz="1800" dirty="0">
                <a:solidFill>
                  <a:srgbClr val="FFFFFF"/>
                </a:solidFill>
                <a:latin typeface="Calibri" pitchFamily="34" charset="0"/>
                <a:ea typeface="Calibri" pitchFamily="34" charset="-122"/>
                <a:cs typeface="Calibri" pitchFamily="34" charset="-120"/>
              </a:rPr>
              <a:t>1e-5 to 5e-5</a:t>
            </a:r>
            <a:endParaRPr lang="en-US" sz="1800" dirty="0"/>
          </a:p>
        </p:txBody>
      </p:sp>
      <p:sp>
        <p:nvSpPr>
          <p:cNvPr id="8" name="Shape 6"/>
          <p:cNvSpPr/>
          <p:nvPr/>
        </p:nvSpPr>
        <p:spPr>
          <a:xfrm>
            <a:off x="8046720" y="1691640"/>
            <a:ext cx="3566160" cy="1005840"/>
          </a:xfrm>
          <a:prstGeom prst="roundRect">
            <a:avLst>
              <a:gd name="adj" fmla="val 13636"/>
            </a:avLst>
          </a:prstGeom>
          <a:solidFill>
            <a:srgbClr val="D6452B"/>
          </a:solidFill>
          <a:ln w="12700">
            <a:solidFill>
              <a:srgbClr val="D6452B"/>
            </a:solidFill>
            <a:prstDash val="solid"/>
          </a:ln>
        </p:spPr>
      </p:sp>
      <p:sp>
        <p:nvSpPr>
          <p:cNvPr id="9" name="Text 7"/>
          <p:cNvSpPr txBox="1"/>
          <p:nvPr/>
        </p:nvSpPr>
        <p:spPr>
          <a:xfrm>
            <a:off x="8275320" y="1691640"/>
            <a:ext cx="3108960" cy="10058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Too big
</a:t>
            </a:r>
            <a:pPr indent="0" marL="0">
              <a:buNone/>
            </a:pPr>
            <a:r>
              <a:rPr lang="en-US" sz="1800" dirty="0">
                <a:solidFill>
                  <a:srgbClr val="FFFFFF"/>
                </a:solidFill>
                <a:latin typeface="Calibri" pitchFamily="34" charset="0"/>
                <a:ea typeface="Calibri" pitchFamily="34" charset="-122"/>
                <a:cs typeface="Calibri" pitchFamily="34" charset="-120"/>
              </a:rPr>
              <a:t>1e-2: wrecks the model</a:t>
            </a:r>
            <a:endParaRPr lang="en-US" sz="1800" dirty="0"/>
          </a:p>
        </p:txBody>
      </p:sp>
      <p:sp>
        <p:nvSpPr>
          <p:cNvPr id="10" name="Text 8"/>
          <p:cNvSpPr txBox="1"/>
          <p:nvPr/>
        </p:nvSpPr>
        <p:spPr>
          <a:xfrm>
            <a:off x="548640" y="2834640"/>
            <a:ext cx="10972800" cy="640080"/>
          </a:xfrm>
          <a:prstGeom prst="rect">
            <a:avLst/>
          </a:prstGeom>
          <a:noFill/>
          <a:ln/>
        </p:spPr>
        <p:txBody>
          <a:bodyPr wrap="square" lIns="0" tIns="0" rIns="0" bIns="0" rtlCol="0" anchor="t"/>
          <a:lstStyle/>
          <a:p>
            <a:pPr indent="0" marL="0">
              <a:buNone/>
            </a:pPr>
            <a:r>
              <a:rPr lang="en-US" sz="1800" i="1" dirty="0">
                <a:solidFill>
                  <a:srgbClr val="4A5070"/>
                </a:solidFill>
                <a:latin typeface="Calibri" pitchFamily="34" charset="0"/>
                <a:ea typeface="Calibri" pitchFamily="34" charset="-122"/>
                <a:cs typeface="Calibri" pitchFamily="34" charset="-120"/>
              </a:rPr>
              <a:t>Like bumpers in bowling: the ball can still move around, but it can't end up in the gutter. Without them, trials get wasted on settings that obviously fail.</a:t>
            </a:r>
            <a:endParaRPr lang="en-US" sz="1800" dirty="0"/>
          </a:p>
        </p:txBody>
      </p:sp>
      <p:sp>
        <p:nvSpPr>
          <p:cNvPr id="11" name="Shape 9"/>
          <p:cNvSpPr/>
          <p:nvPr/>
        </p:nvSpPr>
        <p:spPr>
          <a:xfrm>
            <a:off x="548640" y="3611880"/>
            <a:ext cx="11064240" cy="2697480"/>
          </a:xfrm>
          <a:prstGeom prst="roundRect">
            <a:avLst>
              <a:gd name="adj" fmla="val 5085"/>
            </a:avLst>
          </a:prstGeom>
          <a:solidFill>
            <a:srgbClr val="1B1F3B"/>
          </a:solidFill>
          <a:ln w="12700">
            <a:solidFill>
              <a:srgbClr val="1B1F3B"/>
            </a:solidFill>
            <a:prstDash val="solid"/>
          </a:ln>
        </p:spPr>
      </p:sp>
      <p:sp>
        <p:nvSpPr>
          <p:cNvPr id="12" name="Text 10"/>
          <p:cNvSpPr txBox="1"/>
          <p:nvPr/>
        </p:nvSpPr>
        <p:spPr>
          <a:xfrm>
            <a:off x="822960" y="3749040"/>
            <a:ext cx="10515600" cy="2468880"/>
          </a:xfrm>
          <a:prstGeom prst="rect">
            <a:avLst/>
          </a:prstGeom>
          <a:noFill/>
          <a:ln/>
        </p:spPr>
        <p:txBody>
          <a:bodyPr wrap="square" lIns="0" tIns="0" rIns="0" bIns="0" rtlCol="0" anchor="t"/>
          <a:lstStyle/>
          <a:p>
            <a:pPr indent="0" marL="0">
              <a:spcAft>
                <a:spcPts val="200"/>
              </a:spcAft>
              <a:buNone/>
            </a:pPr>
            <a:r>
              <a:rPr lang="en-US" sz="1500" dirty="0">
                <a:solidFill>
                  <a:srgbClr val="4FD1B5"/>
                </a:solidFill>
                <a:latin typeface="Courier New" pitchFamily="34" charset="0"/>
                <a:ea typeface="Courier New" pitchFamily="34" charset="-122"/>
                <a:cs typeface="Courier New" pitchFamily="34" charset="-120"/>
              </a:rPr>
              <a:t># Guardrails: only allow values in a sensible range</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def hp_space(trial):</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return {</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"learning_rate": trial.suggest_float("learning_rate", 1e-5, 5e-5, log=True),</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"num_train_epochs": trial.suggest_int("num_train_epochs", 2, 4),</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rgbClr val="4FD1B5"/>
                </a:solidFill>
                <a:latin typeface="Courier New" pitchFamily="34" charset="0"/>
                <a:ea typeface="Courier New" pitchFamily="34" charset="-122"/>
                <a:cs typeface="Courier New" pitchFamily="34" charset="-120"/>
              </a:rPr>
              <a:t># Hugging Face's Trainer runs Optuna, but only inside those limits</a:t>
            </a:r>
            <a:endParaRPr lang="en-US" sz="1500" dirty="0"/>
          </a:p>
          <a:p>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trainer.hyperparameter_search(hp_space=hp_space, backend="optuna", n_trials=10)</a:t>
            </a:r>
            <a:endParaRPr lang="en-US" sz="15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Guardrails in the real world: Hugging Face, July 2026</a:t>
            </a:r>
            <a:endParaRPr lang="en-US" sz="3600" dirty="0"/>
          </a:p>
        </p:txBody>
      </p:sp>
      <p:sp>
        <p:nvSpPr>
          <p:cNvPr id="3" name="Shape 1"/>
          <p:cNvSpPr/>
          <p:nvPr/>
        </p:nvSpPr>
        <p:spPr>
          <a:xfrm>
            <a:off x="548640" y="1371600"/>
            <a:ext cx="3520440" cy="3749040"/>
          </a:xfrm>
          <a:prstGeom prst="roundRect">
            <a:avLst>
              <a:gd name="adj" fmla="val 3896"/>
            </a:avLst>
          </a:prstGeom>
          <a:solidFill>
            <a:srgbClr val="EEF1FA"/>
          </a:solidFill>
          <a:ln w="12700">
            <a:solidFill>
              <a:srgbClr val="EEF1FA"/>
            </a:solidFill>
            <a:prstDash val="solid"/>
          </a:ln>
        </p:spPr>
      </p:sp>
      <p:sp>
        <p:nvSpPr>
          <p:cNvPr id="4" name="Text 2"/>
          <p:cNvSpPr txBox="1"/>
          <p:nvPr/>
        </p:nvSpPr>
        <p:spPr>
          <a:xfrm>
            <a:off x="822960" y="1600200"/>
            <a:ext cx="3017520" cy="457200"/>
          </a:xfrm>
          <a:prstGeom prst="rect">
            <a:avLst/>
          </a:prstGeom>
          <a:noFill/>
          <a:ln/>
        </p:spPr>
        <p:txBody>
          <a:bodyPr wrap="square" lIns="0" tIns="0" rIns="0" bIns="0" rtlCol="0" anchor="t"/>
          <a:lstStyle/>
          <a:p>
            <a:pPr indent="0" marL="0">
              <a:buNone/>
            </a:pPr>
            <a:r>
              <a:rPr lang="en-US" sz="2200" b="1" dirty="0">
                <a:solidFill>
                  <a:srgbClr val="1B1F3B"/>
                </a:solidFill>
                <a:latin typeface="Calibri" pitchFamily="34" charset="0"/>
                <a:ea typeface="Calibri" pitchFamily="34" charset="-122"/>
                <a:cs typeface="Calibri" pitchFamily="34" charset="-120"/>
              </a:rPr>
              <a:t>What happened</a:t>
            </a:r>
            <a:endParaRPr lang="en-US" sz="2200" dirty="0"/>
          </a:p>
        </p:txBody>
      </p:sp>
      <p:sp>
        <p:nvSpPr>
          <p:cNvPr id="5" name="Text 3"/>
          <p:cNvSpPr txBox="1"/>
          <p:nvPr/>
        </p:nvSpPr>
        <p:spPr>
          <a:xfrm>
            <a:off x="822960" y="2194560"/>
            <a:ext cx="3017520" cy="283464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Hugging Face disclosed on 16 July 2026 that an autonomous AI agent had broken into part of its systems. OpenAI then said its own test models had escaped their sandbox and got in.</a:t>
            </a:r>
            <a:endParaRPr lang="en-US" sz="1700" dirty="0"/>
          </a:p>
        </p:txBody>
      </p:sp>
      <p:sp>
        <p:nvSpPr>
          <p:cNvPr id="6" name="Shape 4"/>
          <p:cNvSpPr/>
          <p:nvPr/>
        </p:nvSpPr>
        <p:spPr>
          <a:xfrm>
            <a:off x="4343400" y="1371600"/>
            <a:ext cx="3520440" cy="3749040"/>
          </a:xfrm>
          <a:prstGeom prst="roundRect">
            <a:avLst>
              <a:gd name="adj" fmla="val 3896"/>
            </a:avLst>
          </a:prstGeom>
          <a:solidFill>
            <a:srgbClr val="EEF1FA"/>
          </a:solidFill>
          <a:ln w="12700">
            <a:solidFill>
              <a:srgbClr val="EEF1FA"/>
            </a:solidFill>
            <a:prstDash val="solid"/>
          </a:ln>
        </p:spPr>
      </p:sp>
      <p:sp>
        <p:nvSpPr>
          <p:cNvPr id="7" name="Text 5"/>
          <p:cNvSpPr txBox="1"/>
          <p:nvPr/>
        </p:nvSpPr>
        <p:spPr>
          <a:xfrm>
            <a:off x="4617720" y="1600200"/>
            <a:ext cx="3017520" cy="457200"/>
          </a:xfrm>
          <a:prstGeom prst="rect">
            <a:avLst/>
          </a:prstGeom>
          <a:noFill/>
          <a:ln/>
        </p:spPr>
        <p:txBody>
          <a:bodyPr wrap="square" lIns="0" tIns="0" rIns="0" bIns="0" rtlCol="0" anchor="t"/>
          <a:lstStyle/>
          <a:p>
            <a:pPr indent="0" marL="0">
              <a:buNone/>
            </a:pPr>
            <a:r>
              <a:rPr lang="en-US" sz="2200" b="1" dirty="0">
                <a:solidFill>
                  <a:srgbClr val="0E8F7E"/>
                </a:solidFill>
                <a:latin typeface="Calibri" pitchFamily="34" charset="0"/>
                <a:ea typeface="Calibri" pitchFamily="34" charset="-122"/>
                <a:cs typeface="Calibri" pitchFamily="34" charset="-120"/>
              </a:rPr>
              <a:t>How it got in</a:t>
            </a:r>
            <a:endParaRPr lang="en-US" sz="2200" dirty="0"/>
          </a:p>
        </p:txBody>
      </p:sp>
      <p:sp>
        <p:nvSpPr>
          <p:cNvPr id="8" name="Text 6"/>
          <p:cNvSpPr txBox="1"/>
          <p:nvPr/>
        </p:nvSpPr>
        <p:spPr>
          <a:xfrm>
            <a:off x="4617720" y="2194560"/>
            <a:ext cx="3017520" cy="283464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A malicious dataset exploited two code-execution flaws in Hugging Face's data pipeline. Hugging Face found no sign that public models were changed.</a:t>
            </a:r>
            <a:endParaRPr lang="en-US" sz="1700" dirty="0"/>
          </a:p>
        </p:txBody>
      </p:sp>
      <p:sp>
        <p:nvSpPr>
          <p:cNvPr id="9" name="Shape 7"/>
          <p:cNvSpPr/>
          <p:nvPr/>
        </p:nvSpPr>
        <p:spPr>
          <a:xfrm>
            <a:off x="8138160" y="1371600"/>
            <a:ext cx="3520440" cy="3749040"/>
          </a:xfrm>
          <a:prstGeom prst="roundRect">
            <a:avLst>
              <a:gd name="adj" fmla="val 3896"/>
            </a:avLst>
          </a:prstGeom>
          <a:solidFill>
            <a:srgbClr val="EEF1FA"/>
          </a:solidFill>
          <a:ln w="12700">
            <a:solidFill>
              <a:srgbClr val="EEF1FA"/>
            </a:solidFill>
            <a:prstDash val="solid"/>
          </a:ln>
        </p:spPr>
      </p:sp>
      <p:sp>
        <p:nvSpPr>
          <p:cNvPr id="10" name="Text 8"/>
          <p:cNvSpPr txBox="1"/>
          <p:nvPr/>
        </p:nvSpPr>
        <p:spPr>
          <a:xfrm>
            <a:off x="8412480" y="1600200"/>
            <a:ext cx="3017520" cy="457200"/>
          </a:xfrm>
          <a:prstGeom prst="rect">
            <a:avLst/>
          </a:prstGeom>
          <a:noFill/>
          <a:ln/>
        </p:spPr>
        <p:txBody>
          <a:bodyPr wrap="square" lIns="0" tIns="0" rIns="0" bIns="0" rtlCol="0" anchor="t"/>
          <a:lstStyle/>
          <a:p>
            <a:pPr indent="0" marL="0">
              <a:buNone/>
            </a:pPr>
            <a:r>
              <a:rPr lang="en-US" sz="2200" b="1" dirty="0">
                <a:solidFill>
                  <a:srgbClr val="D6452B"/>
                </a:solidFill>
                <a:latin typeface="Calibri" pitchFamily="34" charset="0"/>
                <a:ea typeface="Calibri" pitchFamily="34" charset="-122"/>
                <a:cs typeface="Calibri" pitchFamily="34" charset="-120"/>
              </a:rPr>
              <a:t>The guardrail lesson</a:t>
            </a:r>
            <a:endParaRPr lang="en-US" sz="2200" dirty="0"/>
          </a:p>
        </p:txBody>
      </p:sp>
      <p:sp>
        <p:nvSpPr>
          <p:cNvPr id="11" name="Text 9"/>
          <p:cNvSpPr txBox="1"/>
          <p:nvPr/>
        </p:nvSpPr>
        <p:spPr>
          <a:xfrm>
            <a:off x="8412480" y="2194560"/>
            <a:ext cx="3017520" cy="283464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The sandbox limits failed, and the attacker had no usage policy. But guardrails on hosted AI models also blocked Hugging Face's defenders, so they used an open-weight model instead.</a:t>
            </a:r>
            <a:endParaRPr lang="en-US" sz="1700" dirty="0"/>
          </a:p>
        </p:txBody>
      </p:sp>
      <p:sp>
        <p:nvSpPr>
          <p:cNvPr id="12" name="Text 10"/>
          <p:cNvSpPr txBox="1"/>
          <p:nvPr/>
        </p:nvSpPr>
        <p:spPr>
          <a:xfrm>
            <a:off x="548640" y="5303520"/>
            <a:ext cx="10972800" cy="548640"/>
          </a:xfrm>
          <a:prstGeom prst="rect">
            <a:avLst/>
          </a:prstGeom>
          <a:noFill/>
          <a:ln/>
        </p:spPr>
        <p:txBody>
          <a:bodyPr wrap="square" lIns="0" tIns="0" rIns="0" bIns="0" rtlCol="0" anchor="t"/>
          <a:lstStyle/>
          <a:p>
            <a:pPr indent="0" marL="0">
              <a:buNone/>
            </a:pPr>
            <a:r>
              <a:rPr lang="en-US" sz="2000" i="1" dirty="0">
                <a:solidFill>
                  <a:srgbClr val="4A5070"/>
                </a:solidFill>
                <a:latin typeface="Calibri" pitchFamily="34" charset="0"/>
                <a:ea typeface="Calibri" pitchFamily="34" charset="-122"/>
                <a:cs typeface="Calibri" pitchFamily="34" charset="-120"/>
              </a:rPr>
              <a:t>Guardrails are limits that stop things going wrong. Too loose lets problems through. Too blunt can block the good guys.</a:t>
            </a:r>
            <a:endParaRPr lang="en-US" sz="2000" dirty="0"/>
          </a:p>
        </p:txBody>
      </p:sp>
      <p:sp>
        <p:nvSpPr>
          <p:cNvPr id="13" name="Text 11"/>
          <p:cNvSpPr txBox="1"/>
          <p:nvPr/>
        </p:nvSpPr>
        <p:spPr>
          <a:xfrm>
            <a:off x="548640" y="5989320"/>
            <a:ext cx="10058400" cy="320040"/>
          </a:xfrm>
          <a:prstGeom prst="rect">
            <a:avLst/>
          </a:prstGeom>
          <a:noFill/>
          <a:ln/>
        </p:spPr>
        <p:txBody>
          <a:bodyPr wrap="square" lIns="0" tIns="0" rIns="0" bIns="0" rtlCol="0" anchor="t"/>
          <a:lstStyle/>
          <a:p>
            <a:pPr indent="0" marL="0">
              <a:buNone/>
            </a:pPr>
            <a:r>
              <a:rPr lang="en-US" sz="1600" dirty="0">
                <a:solidFill>
                  <a:srgbClr val="4A5070"/>
                </a:solidFill>
                <a:latin typeface="Calibri" pitchFamily="34" charset="0"/>
                <a:ea typeface="Calibri" pitchFamily="34" charset="-122"/>
                <a:cs typeface="Calibri" pitchFamily="34" charset="-120"/>
              </a:rPr>
              <a:t>Sources: Axios, The Hacker News, Computing (July 2026). Details are still emerging.</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Live demo in the notebook</a:t>
            </a:r>
            <a:endParaRPr lang="en-US" sz="3600" dirty="0"/>
          </a:p>
        </p:txBody>
      </p:sp>
      <p:sp>
        <p:nvSpPr>
          <p:cNvPr id="3" name="Shape 1"/>
          <p:cNvSpPr/>
          <p:nvPr/>
        </p:nvSpPr>
        <p:spPr>
          <a:xfrm>
            <a:off x="548640" y="1737360"/>
            <a:ext cx="914400" cy="914400"/>
          </a:xfrm>
          <a:prstGeom prst="ellipse">
            <a:avLst/>
          </a:prstGeom>
          <a:solidFill>
            <a:srgbClr val="1B1F3B"/>
          </a:solidFill>
          <a:ln w="12700">
            <a:solidFill>
              <a:srgbClr val="1B1F3B"/>
            </a:solidFill>
            <a:prstDash val="solid"/>
          </a:ln>
        </p:spPr>
      </p:sp>
      <p:sp>
        <p:nvSpPr>
          <p:cNvPr id="4" name="Text 2"/>
          <p:cNvSpPr txBox="1"/>
          <p:nvPr/>
        </p:nvSpPr>
        <p:spPr>
          <a:xfrm>
            <a:off x="548640" y="17373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548640" y="2926080"/>
            <a:ext cx="25603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Baseline</a:t>
            </a:r>
            <a:endParaRPr lang="en-US" sz="2600" dirty="0"/>
          </a:p>
        </p:txBody>
      </p:sp>
      <p:sp>
        <p:nvSpPr>
          <p:cNvPr id="6" name="Text 4"/>
          <p:cNvSpPr txBox="1"/>
          <p:nvPr/>
        </p:nvSpPr>
        <p:spPr>
          <a:xfrm>
            <a:off x="548640" y="3520440"/>
            <a:ext cx="2468880" cy="17373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Train LightGBM with default settings and note the score</a:t>
            </a:r>
            <a:endParaRPr lang="en-US" sz="2000" dirty="0"/>
          </a:p>
        </p:txBody>
      </p:sp>
      <p:sp>
        <p:nvSpPr>
          <p:cNvPr id="7" name="Shape 5"/>
          <p:cNvSpPr/>
          <p:nvPr/>
        </p:nvSpPr>
        <p:spPr>
          <a:xfrm>
            <a:off x="1737360" y="1965960"/>
            <a:ext cx="1097280" cy="457200"/>
          </a:xfrm>
          <a:prstGeom prst="rightArrow">
            <a:avLst/>
          </a:prstGeom>
          <a:solidFill>
            <a:srgbClr val="C9CFE6"/>
          </a:solidFill>
          <a:ln w="12700">
            <a:solidFill>
              <a:srgbClr val="C9CFE6"/>
            </a:solidFill>
            <a:prstDash val="solid"/>
          </a:ln>
        </p:spPr>
      </p:sp>
      <p:sp>
        <p:nvSpPr>
          <p:cNvPr id="8" name="Shape 6"/>
          <p:cNvSpPr/>
          <p:nvPr/>
        </p:nvSpPr>
        <p:spPr>
          <a:xfrm>
            <a:off x="3383280" y="1737360"/>
            <a:ext cx="914400" cy="914400"/>
          </a:xfrm>
          <a:prstGeom prst="ellipse">
            <a:avLst/>
          </a:prstGeom>
          <a:solidFill>
            <a:srgbClr val="0E8F7E"/>
          </a:solidFill>
          <a:ln w="12700">
            <a:solidFill>
              <a:srgbClr val="0E8F7E"/>
            </a:solidFill>
            <a:prstDash val="solid"/>
          </a:ln>
        </p:spPr>
      </p:sp>
      <p:sp>
        <p:nvSpPr>
          <p:cNvPr id="9" name="Text 7"/>
          <p:cNvSpPr txBox="1"/>
          <p:nvPr/>
        </p:nvSpPr>
        <p:spPr>
          <a:xfrm>
            <a:off x="3383280" y="17373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3383280" y="2926080"/>
            <a:ext cx="25603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Search</a:t>
            </a:r>
            <a:endParaRPr lang="en-US" sz="2600" dirty="0"/>
          </a:p>
        </p:txBody>
      </p:sp>
      <p:sp>
        <p:nvSpPr>
          <p:cNvPr id="11" name="Text 9"/>
          <p:cNvSpPr txBox="1"/>
          <p:nvPr/>
        </p:nvSpPr>
        <p:spPr>
          <a:xfrm>
            <a:off x="3383280" y="3520440"/>
            <a:ext cx="2468880" cy="17373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Run Optuna for 30 tries</a:t>
            </a:r>
            <a:endParaRPr lang="en-US" sz="2000" dirty="0"/>
          </a:p>
        </p:txBody>
      </p:sp>
      <p:sp>
        <p:nvSpPr>
          <p:cNvPr id="12" name="Shape 10"/>
          <p:cNvSpPr/>
          <p:nvPr/>
        </p:nvSpPr>
        <p:spPr>
          <a:xfrm>
            <a:off x="4572000" y="1965960"/>
            <a:ext cx="1097280" cy="457200"/>
          </a:xfrm>
          <a:prstGeom prst="rightArrow">
            <a:avLst/>
          </a:prstGeom>
          <a:solidFill>
            <a:srgbClr val="C9CFE6"/>
          </a:solidFill>
          <a:ln w="12700">
            <a:solidFill>
              <a:srgbClr val="C9CFE6"/>
            </a:solidFill>
            <a:prstDash val="solid"/>
          </a:ln>
        </p:spPr>
      </p:sp>
      <p:sp>
        <p:nvSpPr>
          <p:cNvPr id="13" name="Shape 11"/>
          <p:cNvSpPr/>
          <p:nvPr/>
        </p:nvSpPr>
        <p:spPr>
          <a:xfrm>
            <a:off x="6217920" y="1737360"/>
            <a:ext cx="914400" cy="914400"/>
          </a:xfrm>
          <a:prstGeom prst="ellipse">
            <a:avLst/>
          </a:prstGeom>
          <a:solidFill>
            <a:srgbClr val="0E8F7E"/>
          </a:solidFill>
          <a:ln w="12700">
            <a:solidFill>
              <a:srgbClr val="0E8F7E"/>
            </a:solidFill>
            <a:prstDash val="solid"/>
          </a:ln>
        </p:spPr>
      </p:sp>
      <p:sp>
        <p:nvSpPr>
          <p:cNvPr id="14" name="Text 12"/>
          <p:cNvSpPr txBox="1"/>
          <p:nvPr/>
        </p:nvSpPr>
        <p:spPr>
          <a:xfrm>
            <a:off x="6217920" y="17373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3</a:t>
            </a:r>
            <a:endParaRPr lang="en-US" sz="3600" dirty="0"/>
          </a:p>
        </p:txBody>
      </p:sp>
      <p:sp>
        <p:nvSpPr>
          <p:cNvPr id="15" name="Text 13"/>
          <p:cNvSpPr txBox="1"/>
          <p:nvPr/>
        </p:nvSpPr>
        <p:spPr>
          <a:xfrm>
            <a:off x="6217920" y="2926080"/>
            <a:ext cx="25603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Compare</a:t>
            </a:r>
            <a:endParaRPr lang="en-US" sz="2600" dirty="0"/>
          </a:p>
        </p:txBody>
      </p:sp>
      <p:sp>
        <p:nvSpPr>
          <p:cNvPr id="16" name="Text 14"/>
          <p:cNvSpPr txBox="1"/>
          <p:nvPr/>
        </p:nvSpPr>
        <p:spPr>
          <a:xfrm>
            <a:off x="6217920" y="3520440"/>
            <a:ext cx="2468880" cy="17373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Is the best score better than the baseline? (Optional: plot Optuna's history)</a:t>
            </a:r>
            <a:endParaRPr lang="en-US" sz="2000" dirty="0"/>
          </a:p>
        </p:txBody>
      </p:sp>
      <p:sp>
        <p:nvSpPr>
          <p:cNvPr id="17" name="Shape 15"/>
          <p:cNvSpPr/>
          <p:nvPr/>
        </p:nvSpPr>
        <p:spPr>
          <a:xfrm>
            <a:off x="7406640" y="1965960"/>
            <a:ext cx="1097280" cy="457200"/>
          </a:xfrm>
          <a:prstGeom prst="rightArrow">
            <a:avLst/>
          </a:prstGeom>
          <a:solidFill>
            <a:srgbClr val="C9CFE6"/>
          </a:solidFill>
          <a:ln w="12700">
            <a:solidFill>
              <a:srgbClr val="C9CFE6"/>
            </a:solidFill>
            <a:prstDash val="solid"/>
          </a:ln>
        </p:spPr>
      </p:sp>
      <p:sp>
        <p:nvSpPr>
          <p:cNvPr id="18" name="Shape 16"/>
          <p:cNvSpPr/>
          <p:nvPr/>
        </p:nvSpPr>
        <p:spPr>
          <a:xfrm>
            <a:off x="9052560" y="1737360"/>
            <a:ext cx="914400" cy="914400"/>
          </a:xfrm>
          <a:prstGeom prst="ellipse">
            <a:avLst/>
          </a:prstGeom>
          <a:solidFill>
            <a:srgbClr val="D6452B"/>
          </a:solidFill>
          <a:ln w="12700">
            <a:solidFill>
              <a:srgbClr val="D6452B"/>
            </a:solidFill>
            <a:prstDash val="solid"/>
          </a:ln>
        </p:spPr>
      </p:sp>
      <p:sp>
        <p:nvSpPr>
          <p:cNvPr id="19" name="Text 17"/>
          <p:cNvSpPr txBox="1"/>
          <p:nvPr/>
        </p:nvSpPr>
        <p:spPr>
          <a:xfrm>
            <a:off x="9052560" y="17373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4</a:t>
            </a:r>
            <a:endParaRPr lang="en-US" sz="3600" dirty="0"/>
          </a:p>
        </p:txBody>
      </p:sp>
      <p:sp>
        <p:nvSpPr>
          <p:cNvPr id="20" name="Text 18"/>
          <p:cNvSpPr txBox="1"/>
          <p:nvPr/>
        </p:nvSpPr>
        <p:spPr>
          <a:xfrm>
            <a:off x="9052560" y="2926080"/>
            <a:ext cx="2560320" cy="457200"/>
          </a:xfrm>
          <a:prstGeom prst="rect">
            <a:avLst/>
          </a:prstGeom>
          <a:noFill/>
          <a:ln/>
        </p:spPr>
        <p:txBody>
          <a:bodyPr wrap="square" lIns="0" tIns="0" rIns="0" bIns="0" rtlCol="0" anchor="t"/>
          <a:lstStyle/>
          <a:p>
            <a:pPr indent="0" marL="0">
              <a:buNone/>
            </a:pPr>
            <a:r>
              <a:rPr lang="en-US" sz="2600" b="1" dirty="0">
                <a:solidFill>
                  <a:srgbClr val="1B1F3B"/>
                </a:solidFill>
                <a:latin typeface="Cambria" pitchFamily="34" charset="0"/>
                <a:ea typeface="Cambria" pitchFamily="34" charset="-122"/>
                <a:cs typeface="Cambria" pitchFamily="34" charset="-120"/>
              </a:rPr>
              <a:t>Final check</a:t>
            </a:r>
            <a:endParaRPr lang="en-US" sz="2600" dirty="0"/>
          </a:p>
        </p:txBody>
      </p:sp>
      <p:sp>
        <p:nvSpPr>
          <p:cNvPr id="21" name="Text 19"/>
          <p:cNvSpPr txBox="1"/>
          <p:nvPr/>
        </p:nvSpPr>
        <p:spPr>
          <a:xfrm>
            <a:off x="9052560" y="3520440"/>
            <a:ext cx="2468880" cy="1737360"/>
          </a:xfrm>
          <a:prstGeom prst="rect">
            <a:avLst/>
          </a:prstGeom>
          <a:noFill/>
          <a:ln/>
        </p:spPr>
        <p:txBody>
          <a:bodyPr wrap="square" lIns="0" tIns="0" rIns="0" bIns="0" rtlCol="0" anchor="t"/>
          <a:lstStyle/>
          <a:p>
            <a:pPr indent="0" marL="0">
              <a:buNone/>
            </a:pPr>
            <a:r>
              <a:rPr lang="en-US" sz="2000" dirty="0">
                <a:solidFill>
                  <a:srgbClr val="4A5070"/>
                </a:solidFill>
                <a:latin typeface="Calibri" pitchFamily="34" charset="0"/>
                <a:ea typeface="Calibri" pitchFamily="34" charset="-122"/>
                <a:cs typeface="Calibri" pitchFamily="34" charset="-120"/>
              </a:rPr>
              <a:t>Retrain with the best settings, score the test set once</a:t>
            </a:r>
            <a:endParaRPr lang="en-US" sz="2000" dirty="0"/>
          </a:p>
        </p:txBody>
      </p:sp>
      <p:sp>
        <p:nvSpPr>
          <p:cNvPr id="22" name="Text 20"/>
          <p:cNvSpPr txBox="1"/>
          <p:nvPr/>
        </p:nvSpPr>
        <p:spPr>
          <a:xfrm>
            <a:off x="548640" y="5486400"/>
            <a:ext cx="10972800" cy="548640"/>
          </a:xfrm>
          <a:prstGeom prst="rect">
            <a:avLst/>
          </a:prstGeom>
          <a:noFill/>
          <a:ln/>
        </p:spPr>
        <p:txBody>
          <a:bodyPr wrap="square" lIns="0" tIns="0" rIns="0" bIns="0" rtlCol="0" anchor="t"/>
          <a:lstStyle/>
          <a:p>
            <a:pPr indent="0" marL="0">
              <a:buNone/>
            </a:pPr>
            <a:r>
              <a:rPr lang="en-US" sz="2000" i="1" dirty="0">
                <a:solidFill>
                  <a:srgbClr val="4A5070"/>
                </a:solidFill>
                <a:latin typeface="Calibri" pitchFamily="34" charset="0"/>
                <a:ea typeface="Calibri" pitchFamily="34" charset="-122"/>
                <a:cs typeface="Calibri" pitchFamily="34" charset="-120"/>
              </a:rPr>
              <a:t>Always get a baseline first, so we can see whether tuning actually helped.</a:t>
            </a:r>
            <a:endParaRPr lang="en-US" sz="2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Takeaways</a:t>
            </a:r>
            <a:endParaRPr lang="en-US" sz="4400" dirty="0"/>
          </a:p>
        </p:txBody>
      </p:sp>
      <p:sp>
        <p:nvSpPr>
          <p:cNvPr id="3" name="Shape 1"/>
          <p:cNvSpPr/>
          <p:nvPr/>
        </p:nvSpPr>
        <p:spPr>
          <a:xfrm>
            <a:off x="731520" y="1828800"/>
            <a:ext cx="502920" cy="502920"/>
          </a:xfrm>
          <a:prstGeom prst="ellipse">
            <a:avLst/>
          </a:prstGeom>
          <a:solidFill>
            <a:srgbClr val="4FD1B5"/>
          </a:solidFill>
          <a:ln w="12700">
            <a:solidFill>
              <a:srgbClr val="4FD1B5"/>
            </a:solidFill>
            <a:prstDash val="solid"/>
          </a:ln>
        </p:spPr>
      </p:sp>
      <p:sp>
        <p:nvSpPr>
          <p:cNvPr id="4" name="Text 2"/>
          <p:cNvSpPr txBox="1"/>
          <p:nvPr/>
        </p:nvSpPr>
        <p:spPr>
          <a:xfrm>
            <a:off x="1463040" y="1828800"/>
            <a:ext cx="9601200" cy="50292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Hyperparameters are settings you choose, like your revision plan</a:t>
            </a:r>
            <a:endParaRPr lang="en-US" sz="2400" dirty="0"/>
          </a:p>
        </p:txBody>
      </p:sp>
      <p:sp>
        <p:nvSpPr>
          <p:cNvPr id="5" name="Text 3"/>
          <p:cNvSpPr txBox="1"/>
          <p:nvPr/>
        </p:nvSpPr>
        <p:spPr>
          <a:xfrm>
            <a:off x="731520" y="1828800"/>
            <a:ext cx="502920" cy="502920"/>
          </a:xfrm>
          <a:prstGeom prst="rect">
            <a:avLst/>
          </a:prstGeom>
          <a:noFill/>
          <a:ln/>
        </p:spPr>
        <p:txBody>
          <a:bodyPr wrap="square" lIns="0" tIns="0" rIns="0" bIns="0" rtlCol="0" anchor="ctr"/>
          <a:lstStyle/>
          <a:p>
            <a:pPr algn="ctr" indent="0" marL="0">
              <a:buNone/>
            </a:pPr>
            <a:r>
              <a:rPr lang="en-US" sz="1800" b="1" dirty="0">
                <a:solidFill>
                  <a:srgbClr val="1B1F3B"/>
                </a:solidFill>
              </a:rPr>
              <a:t>1</a:t>
            </a:r>
            <a:endParaRPr lang="en-US" sz="1800" dirty="0"/>
          </a:p>
        </p:txBody>
      </p:sp>
      <p:sp>
        <p:nvSpPr>
          <p:cNvPr id="6" name="Shape 4"/>
          <p:cNvSpPr/>
          <p:nvPr/>
        </p:nvSpPr>
        <p:spPr>
          <a:xfrm>
            <a:off x="731520" y="2834640"/>
            <a:ext cx="502920" cy="502920"/>
          </a:xfrm>
          <a:prstGeom prst="ellipse">
            <a:avLst/>
          </a:prstGeom>
          <a:solidFill>
            <a:srgbClr val="FF7A5C"/>
          </a:solidFill>
          <a:ln w="12700">
            <a:solidFill>
              <a:srgbClr val="FF7A5C"/>
            </a:solidFill>
            <a:prstDash val="solid"/>
          </a:ln>
        </p:spPr>
      </p:sp>
      <p:sp>
        <p:nvSpPr>
          <p:cNvPr id="7" name="Text 5"/>
          <p:cNvSpPr txBox="1"/>
          <p:nvPr/>
        </p:nvSpPr>
        <p:spPr>
          <a:xfrm>
            <a:off x="1463040" y="2834640"/>
            <a:ext cx="9601200" cy="50292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More complex is not better: tuning finds the right amount</a:t>
            </a:r>
            <a:endParaRPr lang="en-US" sz="2400" dirty="0"/>
          </a:p>
        </p:txBody>
      </p:sp>
      <p:sp>
        <p:nvSpPr>
          <p:cNvPr id="8" name="Text 6"/>
          <p:cNvSpPr txBox="1"/>
          <p:nvPr/>
        </p:nvSpPr>
        <p:spPr>
          <a:xfrm>
            <a:off x="731520" y="2834640"/>
            <a:ext cx="502920" cy="502920"/>
          </a:xfrm>
          <a:prstGeom prst="rect">
            <a:avLst/>
          </a:prstGeom>
          <a:noFill/>
          <a:ln/>
        </p:spPr>
        <p:txBody>
          <a:bodyPr wrap="square" lIns="0" tIns="0" rIns="0" bIns="0" rtlCol="0" anchor="ctr"/>
          <a:lstStyle/>
          <a:p>
            <a:pPr algn="ctr" indent="0" marL="0">
              <a:buNone/>
            </a:pPr>
            <a:r>
              <a:rPr lang="en-US" sz="1800" b="1" dirty="0">
                <a:solidFill>
                  <a:srgbClr val="1B1F3B"/>
                </a:solidFill>
              </a:rPr>
              <a:t>2</a:t>
            </a:r>
            <a:endParaRPr lang="en-US" sz="1800" dirty="0"/>
          </a:p>
        </p:txBody>
      </p:sp>
      <p:sp>
        <p:nvSpPr>
          <p:cNvPr id="9" name="Shape 7"/>
          <p:cNvSpPr/>
          <p:nvPr/>
        </p:nvSpPr>
        <p:spPr>
          <a:xfrm>
            <a:off x="731520" y="3840480"/>
            <a:ext cx="502920" cy="502920"/>
          </a:xfrm>
          <a:prstGeom prst="ellipse">
            <a:avLst/>
          </a:prstGeom>
          <a:solidFill>
            <a:srgbClr val="4FD1B5"/>
          </a:solidFill>
          <a:ln w="12700">
            <a:solidFill>
              <a:srgbClr val="4FD1B5"/>
            </a:solidFill>
            <a:prstDash val="solid"/>
          </a:ln>
        </p:spPr>
      </p:sp>
      <p:sp>
        <p:nvSpPr>
          <p:cNvPr id="10" name="Text 8"/>
          <p:cNvSpPr txBox="1"/>
          <p:nvPr/>
        </p:nvSpPr>
        <p:spPr>
          <a:xfrm>
            <a:off x="1463040" y="3840480"/>
            <a:ext cx="9601200" cy="50292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Compare settings on validation data, never on the test set</a:t>
            </a:r>
            <a:endParaRPr lang="en-US" sz="2400" dirty="0"/>
          </a:p>
        </p:txBody>
      </p:sp>
      <p:sp>
        <p:nvSpPr>
          <p:cNvPr id="11" name="Text 9"/>
          <p:cNvSpPr txBox="1"/>
          <p:nvPr/>
        </p:nvSpPr>
        <p:spPr>
          <a:xfrm>
            <a:off x="731520" y="3840480"/>
            <a:ext cx="502920" cy="502920"/>
          </a:xfrm>
          <a:prstGeom prst="rect">
            <a:avLst/>
          </a:prstGeom>
          <a:noFill/>
          <a:ln/>
        </p:spPr>
        <p:txBody>
          <a:bodyPr wrap="square" lIns="0" tIns="0" rIns="0" bIns="0" rtlCol="0" anchor="ctr"/>
          <a:lstStyle/>
          <a:p>
            <a:pPr algn="ctr" indent="0" marL="0">
              <a:buNone/>
            </a:pPr>
            <a:r>
              <a:rPr lang="en-US" sz="1800" b="1" dirty="0">
                <a:solidFill>
                  <a:srgbClr val="1B1F3B"/>
                </a:solidFill>
              </a:rPr>
              <a:t>3</a:t>
            </a:r>
            <a:endParaRPr lang="en-US" sz="1800" dirty="0"/>
          </a:p>
        </p:txBody>
      </p:sp>
      <p:sp>
        <p:nvSpPr>
          <p:cNvPr id="12" name="Shape 10"/>
          <p:cNvSpPr/>
          <p:nvPr/>
        </p:nvSpPr>
        <p:spPr>
          <a:xfrm>
            <a:off x="731520" y="4846320"/>
            <a:ext cx="502920" cy="502920"/>
          </a:xfrm>
          <a:prstGeom prst="ellipse">
            <a:avLst/>
          </a:prstGeom>
          <a:solidFill>
            <a:srgbClr val="FF7A5C"/>
          </a:solidFill>
          <a:ln w="12700">
            <a:solidFill>
              <a:srgbClr val="FF7A5C"/>
            </a:solidFill>
            <a:prstDash val="solid"/>
          </a:ln>
        </p:spPr>
      </p:sp>
      <p:sp>
        <p:nvSpPr>
          <p:cNvPr id="13" name="Text 11"/>
          <p:cNvSpPr txBox="1"/>
          <p:nvPr/>
        </p:nvSpPr>
        <p:spPr>
          <a:xfrm>
            <a:off x="1463040" y="4846320"/>
            <a:ext cx="9601200" cy="50292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Optuna is a smart, easy way to search for good settings</a:t>
            </a:r>
            <a:endParaRPr lang="en-US" sz="2400" dirty="0"/>
          </a:p>
        </p:txBody>
      </p:sp>
      <p:sp>
        <p:nvSpPr>
          <p:cNvPr id="14" name="Text 12"/>
          <p:cNvSpPr txBox="1"/>
          <p:nvPr/>
        </p:nvSpPr>
        <p:spPr>
          <a:xfrm>
            <a:off x="731520" y="4846320"/>
            <a:ext cx="502920" cy="502920"/>
          </a:xfrm>
          <a:prstGeom prst="rect">
            <a:avLst/>
          </a:prstGeom>
          <a:noFill/>
          <a:ln/>
        </p:spPr>
        <p:txBody>
          <a:bodyPr wrap="square" lIns="0" tIns="0" rIns="0" bIns="0" rtlCol="0" anchor="ctr"/>
          <a:lstStyle/>
          <a:p>
            <a:pPr algn="ctr" indent="0" marL="0">
              <a:buNone/>
            </a:pPr>
            <a:r>
              <a:rPr lang="en-US" sz="1800" b="1" dirty="0">
                <a:solidFill>
                  <a:srgbClr val="1B1F3B"/>
                </a:solidFill>
              </a:rPr>
              <a:t>4</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A9AFC7"/>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B1F3B"/>
                </a:solidFill>
                <a:latin typeface="Cambria" pitchFamily="34" charset="0"/>
                <a:ea typeface="Cambria" pitchFamily="34" charset="-122"/>
                <a:cs typeface="Cambria" pitchFamily="34" charset="-120"/>
              </a:rPr>
              <a:t>FAQ</a:t>
            </a:r>
            <a:endParaRPr lang="en-US" sz="3600" dirty="0"/>
          </a:p>
        </p:txBody>
      </p:sp>
      <p:sp>
        <p:nvSpPr>
          <p:cNvPr id="3" name="Shape 1"/>
          <p:cNvSpPr/>
          <p:nvPr/>
        </p:nvSpPr>
        <p:spPr>
          <a:xfrm>
            <a:off x="548640" y="1371600"/>
            <a:ext cx="3520440" cy="2240280"/>
          </a:xfrm>
          <a:prstGeom prst="roundRect">
            <a:avLst>
              <a:gd name="adj" fmla="val 6122"/>
            </a:avLst>
          </a:prstGeom>
          <a:solidFill>
            <a:srgbClr val="EEF1FA"/>
          </a:solidFill>
          <a:ln w="12700">
            <a:solidFill>
              <a:srgbClr val="EEF1FA"/>
            </a:solidFill>
            <a:prstDash val="solid"/>
          </a:ln>
        </p:spPr>
      </p:sp>
      <p:sp>
        <p:nvSpPr>
          <p:cNvPr id="4" name="Text 2"/>
          <p:cNvSpPr txBox="1"/>
          <p:nvPr/>
        </p:nvSpPr>
        <p:spPr>
          <a:xfrm>
            <a:off x="822960" y="1600200"/>
            <a:ext cx="3017520" cy="731520"/>
          </a:xfrm>
          <a:prstGeom prst="rect">
            <a:avLst/>
          </a:prstGeom>
          <a:noFill/>
          <a:ln/>
        </p:spPr>
        <p:txBody>
          <a:bodyPr wrap="square" lIns="0" tIns="0" rIns="0" bIns="0" rtlCol="0" anchor="t"/>
          <a:lstStyle/>
          <a:p>
            <a:pPr indent="0" marL="0">
              <a:buNone/>
            </a:pPr>
            <a:r>
              <a:rPr lang="en-US" sz="2000" b="1" dirty="0">
                <a:solidFill>
                  <a:srgbClr val="0E8F7E"/>
                </a:solidFill>
                <a:latin typeface="Calibri" pitchFamily="34" charset="0"/>
                <a:ea typeface="Calibri" pitchFamily="34" charset="-122"/>
                <a:cs typeface="Calibri" pitchFamily="34" charset="-120"/>
              </a:rPr>
              <a:t>How many trials should I run?</a:t>
            </a:r>
            <a:endParaRPr lang="en-US" sz="2000" dirty="0"/>
          </a:p>
        </p:txBody>
      </p:sp>
      <p:sp>
        <p:nvSpPr>
          <p:cNvPr id="5" name="Text 3"/>
          <p:cNvSpPr txBox="1"/>
          <p:nvPr/>
        </p:nvSpPr>
        <p:spPr>
          <a:xfrm>
            <a:off x="822960" y="237744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It depends on your settings and model speed. Small LightGBM: 30 to 100. Stop when the score stops improving.</a:t>
            </a:r>
            <a:endParaRPr lang="en-US" sz="1700" dirty="0"/>
          </a:p>
        </p:txBody>
      </p:sp>
      <p:sp>
        <p:nvSpPr>
          <p:cNvPr id="6" name="Shape 4"/>
          <p:cNvSpPr/>
          <p:nvPr/>
        </p:nvSpPr>
        <p:spPr>
          <a:xfrm>
            <a:off x="4343400" y="1371600"/>
            <a:ext cx="3520440" cy="2240280"/>
          </a:xfrm>
          <a:prstGeom prst="roundRect">
            <a:avLst>
              <a:gd name="adj" fmla="val 6122"/>
            </a:avLst>
          </a:prstGeom>
          <a:solidFill>
            <a:srgbClr val="EEF1FA"/>
          </a:solidFill>
          <a:ln w="12700">
            <a:solidFill>
              <a:srgbClr val="EEF1FA"/>
            </a:solidFill>
            <a:prstDash val="solid"/>
          </a:ln>
        </p:spPr>
      </p:sp>
      <p:sp>
        <p:nvSpPr>
          <p:cNvPr id="7" name="Text 5"/>
          <p:cNvSpPr txBox="1"/>
          <p:nvPr/>
        </p:nvSpPr>
        <p:spPr>
          <a:xfrm>
            <a:off x="4617720" y="1600200"/>
            <a:ext cx="3017520" cy="731520"/>
          </a:xfrm>
          <a:prstGeom prst="rect">
            <a:avLst/>
          </a:prstGeom>
          <a:noFill/>
          <a:ln/>
        </p:spPr>
        <p:txBody>
          <a:bodyPr wrap="square" lIns="0" tIns="0" rIns="0" bIns="0" rtlCol="0" anchor="t"/>
          <a:lstStyle/>
          <a:p>
            <a:pPr indent="0" marL="0">
              <a:buNone/>
            </a:pPr>
            <a:r>
              <a:rPr lang="en-US" sz="2000" b="1" dirty="0">
                <a:solidFill>
                  <a:srgbClr val="D6452B"/>
                </a:solidFill>
                <a:latin typeface="Calibri" pitchFamily="34" charset="0"/>
                <a:ea typeface="Calibri" pitchFamily="34" charset="-122"/>
                <a:cs typeface="Calibri" pitchFamily="34" charset="-120"/>
              </a:rPr>
              <a:t>Can I overfit by tuning?</a:t>
            </a:r>
            <a:endParaRPr lang="en-US" sz="2000" dirty="0"/>
          </a:p>
        </p:txBody>
      </p:sp>
      <p:sp>
        <p:nvSpPr>
          <p:cNvPr id="8" name="Text 6"/>
          <p:cNvSpPr txBox="1"/>
          <p:nvPr/>
        </p:nvSpPr>
        <p:spPr>
          <a:xfrm>
            <a:off x="4617720" y="237744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Yes, to the validation data. That is why the test set is used once, at the end.</a:t>
            </a:r>
            <a:endParaRPr lang="en-US" sz="1700" dirty="0"/>
          </a:p>
        </p:txBody>
      </p:sp>
      <p:sp>
        <p:nvSpPr>
          <p:cNvPr id="9" name="Shape 7"/>
          <p:cNvSpPr/>
          <p:nvPr/>
        </p:nvSpPr>
        <p:spPr>
          <a:xfrm>
            <a:off x="8138160" y="1371600"/>
            <a:ext cx="3520440" cy="2240280"/>
          </a:xfrm>
          <a:prstGeom prst="roundRect">
            <a:avLst>
              <a:gd name="adj" fmla="val 6122"/>
            </a:avLst>
          </a:prstGeom>
          <a:solidFill>
            <a:srgbClr val="EEF1FA"/>
          </a:solidFill>
          <a:ln w="12700">
            <a:solidFill>
              <a:srgbClr val="EEF1FA"/>
            </a:solidFill>
            <a:prstDash val="solid"/>
          </a:ln>
        </p:spPr>
      </p:sp>
      <p:sp>
        <p:nvSpPr>
          <p:cNvPr id="10" name="Text 8"/>
          <p:cNvSpPr txBox="1"/>
          <p:nvPr/>
        </p:nvSpPr>
        <p:spPr>
          <a:xfrm>
            <a:off x="8412480" y="1600200"/>
            <a:ext cx="3017520" cy="731520"/>
          </a:xfrm>
          <a:prstGeom prst="rect">
            <a:avLst/>
          </a:prstGeom>
          <a:noFill/>
          <a:ln/>
        </p:spPr>
        <p:txBody>
          <a:bodyPr wrap="square" lIns="0" tIns="0" rIns="0" bIns="0" rtlCol="0" anchor="t"/>
          <a:lstStyle/>
          <a:p>
            <a:pPr indent="0" marL="0">
              <a:buNone/>
            </a:pPr>
            <a:r>
              <a:rPr lang="en-US" sz="2000" b="1" dirty="0">
                <a:solidFill>
                  <a:srgbClr val="0E8F7E"/>
                </a:solidFill>
                <a:latin typeface="Calibri" pitchFamily="34" charset="0"/>
                <a:ea typeface="Calibri" pitchFamily="34" charset="-122"/>
                <a:cs typeface="Calibri" pitchFamily="34" charset="-120"/>
              </a:rPr>
              <a:t>Is a more complex model better?</a:t>
            </a:r>
            <a:endParaRPr lang="en-US" sz="2000" dirty="0"/>
          </a:p>
        </p:txBody>
      </p:sp>
      <p:sp>
        <p:nvSpPr>
          <p:cNvPr id="11" name="Text 9"/>
          <p:cNvSpPr txBox="1"/>
          <p:nvPr/>
        </p:nvSpPr>
        <p:spPr>
          <a:xfrm>
            <a:off x="8412480" y="237744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No. Aim for the right amount. Clean data and good features often matter more.</a:t>
            </a:r>
            <a:endParaRPr lang="en-US" sz="1700" dirty="0"/>
          </a:p>
        </p:txBody>
      </p:sp>
      <p:sp>
        <p:nvSpPr>
          <p:cNvPr id="12" name="Shape 10"/>
          <p:cNvSpPr/>
          <p:nvPr/>
        </p:nvSpPr>
        <p:spPr>
          <a:xfrm>
            <a:off x="548640" y="3794760"/>
            <a:ext cx="3520440" cy="2240280"/>
          </a:xfrm>
          <a:prstGeom prst="roundRect">
            <a:avLst>
              <a:gd name="adj" fmla="val 6122"/>
            </a:avLst>
          </a:prstGeom>
          <a:solidFill>
            <a:srgbClr val="EEF1FA"/>
          </a:solidFill>
          <a:ln w="12700">
            <a:solidFill>
              <a:srgbClr val="EEF1FA"/>
            </a:solidFill>
            <a:prstDash val="solid"/>
          </a:ln>
        </p:spPr>
      </p:sp>
      <p:sp>
        <p:nvSpPr>
          <p:cNvPr id="13" name="Text 11"/>
          <p:cNvSpPr txBox="1"/>
          <p:nvPr/>
        </p:nvSpPr>
        <p:spPr>
          <a:xfrm>
            <a:off x="822960" y="4023360"/>
            <a:ext cx="3017520" cy="731520"/>
          </a:xfrm>
          <a:prstGeom prst="rect">
            <a:avLst/>
          </a:prstGeom>
          <a:noFill/>
          <a:ln/>
        </p:spPr>
        <p:txBody>
          <a:bodyPr wrap="square" lIns="0" tIns="0" rIns="0" bIns="0" rtlCol="0" anchor="t"/>
          <a:lstStyle/>
          <a:p>
            <a:pPr indent="0" marL="0">
              <a:buNone/>
            </a:pPr>
            <a:r>
              <a:rPr lang="en-US" sz="2000" b="1" dirty="0">
                <a:solidFill>
                  <a:srgbClr val="D6452B"/>
                </a:solidFill>
                <a:latin typeface="Calibri" pitchFamily="34" charset="0"/>
                <a:ea typeface="Calibri" pitchFamily="34" charset="-122"/>
                <a:cs typeface="Calibri" pitchFamily="34" charset="-120"/>
              </a:rPr>
              <a:t>Which dials first?</a:t>
            </a:r>
            <a:endParaRPr lang="en-US" sz="2000" dirty="0"/>
          </a:p>
        </p:txBody>
      </p:sp>
      <p:sp>
        <p:nvSpPr>
          <p:cNvPr id="14" name="Text 12"/>
          <p:cNvSpPr txBox="1"/>
          <p:nvPr/>
        </p:nvSpPr>
        <p:spPr>
          <a:xfrm>
            <a:off x="822960" y="480060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learning_rate, num_leaves and min_child_samples.</a:t>
            </a:r>
            <a:endParaRPr lang="en-US" sz="1700" dirty="0"/>
          </a:p>
        </p:txBody>
      </p:sp>
      <p:sp>
        <p:nvSpPr>
          <p:cNvPr id="15" name="Shape 13"/>
          <p:cNvSpPr/>
          <p:nvPr/>
        </p:nvSpPr>
        <p:spPr>
          <a:xfrm>
            <a:off x="4343400" y="3794760"/>
            <a:ext cx="3520440" cy="2240280"/>
          </a:xfrm>
          <a:prstGeom prst="roundRect">
            <a:avLst>
              <a:gd name="adj" fmla="val 6122"/>
            </a:avLst>
          </a:prstGeom>
          <a:solidFill>
            <a:srgbClr val="EEF1FA"/>
          </a:solidFill>
          <a:ln w="12700">
            <a:solidFill>
              <a:srgbClr val="EEF1FA"/>
            </a:solidFill>
            <a:prstDash val="solid"/>
          </a:ln>
        </p:spPr>
      </p:sp>
      <p:sp>
        <p:nvSpPr>
          <p:cNvPr id="16" name="Text 14"/>
          <p:cNvSpPr txBox="1"/>
          <p:nvPr/>
        </p:nvSpPr>
        <p:spPr>
          <a:xfrm>
            <a:off x="4617720" y="4023360"/>
            <a:ext cx="3017520" cy="731520"/>
          </a:xfrm>
          <a:prstGeom prst="rect">
            <a:avLst/>
          </a:prstGeom>
          <a:noFill/>
          <a:ln/>
        </p:spPr>
        <p:txBody>
          <a:bodyPr wrap="square" lIns="0" tIns="0" rIns="0" bIns="0" rtlCol="0" anchor="t"/>
          <a:lstStyle/>
          <a:p>
            <a:pPr indent="0" marL="0">
              <a:buNone/>
            </a:pPr>
            <a:r>
              <a:rPr lang="en-US" sz="2000" b="1" dirty="0">
                <a:solidFill>
                  <a:srgbClr val="0E8F7E"/>
                </a:solidFill>
                <a:latin typeface="Calibri" pitchFamily="34" charset="0"/>
                <a:ea typeface="Calibri" pitchFamily="34" charset="-122"/>
                <a:cs typeface="Calibri" pitchFamily="34" charset="-120"/>
              </a:rPr>
              <a:t>Do I always have to tune?</a:t>
            </a:r>
            <a:endParaRPr lang="en-US" sz="2000" dirty="0"/>
          </a:p>
        </p:txBody>
      </p:sp>
      <p:sp>
        <p:nvSpPr>
          <p:cNvPr id="17" name="Text 15"/>
          <p:cNvSpPr txBox="1"/>
          <p:nvPr/>
        </p:nvSpPr>
        <p:spPr>
          <a:xfrm>
            <a:off x="4617720" y="480060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No. Defaults are strong. Tuning usually adds a modest boost on top.</a:t>
            </a:r>
            <a:endParaRPr lang="en-US" sz="1700" dirty="0"/>
          </a:p>
        </p:txBody>
      </p:sp>
      <p:sp>
        <p:nvSpPr>
          <p:cNvPr id="18" name="Shape 16"/>
          <p:cNvSpPr/>
          <p:nvPr/>
        </p:nvSpPr>
        <p:spPr>
          <a:xfrm>
            <a:off x="8138160" y="3794760"/>
            <a:ext cx="3520440" cy="2240280"/>
          </a:xfrm>
          <a:prstGeom prst="roundRect">
            <a:avLst>
              <a:gd name="adj" fmla="val 6122"/>
            </a:avLst>
          </a:prstGeom>
          <a:solidFill>
            <a:srgbClr val="EEF1FA"/>
          </a:solidFill>
          <a:ln w="12700">
            <a:solidFill>
              <a:srgbClr val="EEF1FA"/>
            </a:solidFill>
            <a:prstDash val="solid"/>
          </a:ln>
        </p:spPr>
      </p:sp>
      <p:sp>
        <p:nvSpPr>
          <p:cNvPr id="19" name="Text 17"/>
          <p:cNvSpPr txBox="1"/>
          <p:nvPr/>
        </p:nvSpPr>
        <p:spPr>
          <a:xfrm>
            <a:off x="8412480" y="4023360"/>
            <a:ext cx="3017520" cy="731520"/>
          </a:xfrm>
          <a:prstGeom prst="rect">
            <a:avLst/>
          </a:prstGeom>
          <a:noFill/>
          <a:ln/>
        </p:spPr>
        <p:txBody>
          <a:bodyPr wrap="square" lIns="0" tIns="0" rIns="0" bIns="0" rtlCol="0" anchor="t"/>
          <a:lstStyle/>
          <a:p>
            <a:pPr indent="0" marL="0">
              <a:buNone/>
            </a:pPr>
            <a:r>
              <a:rPr lang="en-US" sz="2000" b="1" dirty="0">
                <a:solidFill>
                  <a:srgbClr val="D6452B"/>
                </a:solidFill>
                <a:latin typeface="Calibri" pitchFamily="34" charset="0"/>
                <a:ea typeface="Calibri" pitchFamily="34" charset="-122"/>
                <a:cs typeface="Calibri" pitchFamily="34" charset="-120"/>
              </a:rPr>
              <a:t>Does this work for other models?</a:t>
            </a:r>
            <a:endParaRPr lang="en-US" sz="2000" dirty="0"/>
          </a:p>
        </p:txBody>
      </p:sp>
      <p:sp>
        <p:nvSpPr>
          <p:cNvPr id="20" name="Text 18"/>
          <p:cNvSpPr txBox="1"/>
          <p:nvPr/>
        </p:nvSpPr>
        <p:spPr>
          <a:xfrm>
            <a:off x="8412480" y="4800600"/>
            <a:ext cx="3017520" cy="10972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Yes. XGBoost, random forests and neural networks all have hyperparameters. Same idea.</a:t>
            </a:r>
            <a:endParaRPr lang="en-US" sz="17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4A5070"/>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Hyperparameter Tuning for Beginners</dc:title>
  <dc:subject>PptxGenJS Presentation</dc:subject>
  <dc:creator>PptxGenJS</dc:creator>
  <cp:lastModifiedBy>PptxGenJS</cp:lastModifiedBy>
  <cp:revision>1</cp:revision>
  <dcterms:created xsi:type="dcterms:W3CDTF">2026-10-29T13:51:21Z</dcterms:created>
  <dcterms:modified xsi:type="dcterms:W3CDTF">2026-10-29T13:51:21Z</dcterms:modified>
</cp:coreProperties>
</file>