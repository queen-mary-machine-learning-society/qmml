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Today's one question: why do we never trust a model's score on the data it trained on? Everything else today follows from that. The colour code on this slide carries through the whole deck: blue is training data, cyan is validation data. All the scores in this deck come from an illustrative example on a simulated airline-satisfaction dataset; the ideas are what matter, not the exact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score scale first: 1.0 is perfect, 0.5 is what you'd get by flipping a coin. (Technically it's ROC AUC, but you don't need that name today.) This is an illustrative example on simulated airline data, so be upfront if anyone asks. Take a show of hands: who trusts this model? Let a couple of people argue for and against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two scores. On passengers it had seen: perfect. On new passengers we hid from it: 0.64, not far above coin-flipping at 0.5. Ask: which score tells us how it'll do in real life, or on the Kaggle leaderboard? (The second one.) Introduce the word overfitting here and keep coming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analogy carries through the rest of the session. Ask: why would it be pointless to put the real exam questions in the textbook? Because then the exam only tests memory, not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one simple. 80/20 is a common choice, not a rule. If anyone asks: adding stratify=y keeps the same mix of happy and unhappy passengers in both parts, which matters when one group is 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11 dots each time; only the model changes. Ask: which line scores best on these dots? (The zig-zag: it touches every one, so its training score is perfect.) Then ask: if a new dot arrives, which line would you trust to predict it? (The smooth one.) The zig-zag learned the noise, not the pattern. That's overfitting, and it's exactly what the next chart shows with real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the same kind of model 21 times, each a bit more complex than the last (a deeper decision tree), and scored each one on seen and new data. The blue line only ever goes up, so it can't tell you when to stop. The cyan line peaks, then falls: that peak is the model we want. Ask people to point at where they'd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private leaderboard is hidden until the competition ends. People who keep tweaking their model to climb the public leaderboard often drop hundreds of places when the private one is revealed. Kagglers call this a shake-up.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Leakage means information from the check data sneaking into training. It's like seeing the mock exam answers while studying. The experiment: 5,000 columns of random numbers. Some will match the answers by pure luck. The leaky version picked the "best" columns by looking at all the data, including the check rows, so it picked the lucky ones and looked great. The fair version only looked at training rows, and correctly scored about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skip this slide if you're short on time. The leakage slide already makes the key point. Each step learns something from data: cleaning learns averages, choosing learns which columns look useful. If any step peeks at the check data, that's a leak. A Pipeline in scikit-learn chains the steps together so they're always trained together, on training rows only. Rule of thumb for anyone coding: if it has a .fit(), it goes in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revealing the dots, ask: if we only change which rows land in the check set, will the score change? Then: if your new idea improves the score by a tiny bit, is it really better, or did you just get a lucky split? From one split, you can't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the data into 5 equal parts. Each round, one part is the check set and the other four are for training. After 5 rounds every row has been checked exactly once, and we average the 5 scores. The average is much more trustworthy than one lucky or unlucky split. This is called 5-fold cross-validation, and it's what most good Kaggle notebooks use. (Scores are illustrative, from a simulated airline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discuss for a minute each, then take answers. 1: We can't tell yet. A training score only shows what it memorised; check it on data it hasn't seen. 2: Yes, that's a leak. The cleaning step learned from the check data too. Split first, or use a Pipeline. 3: Not necessarily. The public leaderboard is only the mock exam; the private leaderboard decides the winner. Trust your own cross-validation.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them and ask the room to explain one each in their own words, using the exam analogy if they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people to the competition and the notebook. Ask everyone to submit at least once and compare their cross-validation score with their public leaderboard score, then bring the numbers to the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214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48739"/>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EAF4F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56459"/>
            <a:ext cx="10566400" cy="3888741"/>
          </a:xfrm>
          <a:prstGeom prst="rect">
            <a:avLst/>
          </a:prstGeom>
          <a:noFill/>
          <a:ln/>
        </p:spPr>
        <p:txBody>
          <a:bodyPr wrap="square" lIns="0" tIns="0" rIns="0" bIns="0" rtlCol="0" anchor="t"/>
          <a:lstStyle>
            <a:lvl1pPr algn="l" indent="0" marL="0">
              <a:lnSpc>
                <a:spcPct val="140000"/>
              </a:lnSpc>
              <a:buNone/>
              <a:defRPr lang="en-US" sz="1600" dirty="0">
                <a:solidFill>
                  <a:srgbClr val="EAF4F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214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48739"/>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EAF4F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56459"/>
            <a:ext cx="10566400" cy="3888741"/>
          </a:xfrm>
          <a:prstGeom prst="rect">
            <a:avLst/>
          </a:prstGeom>
          <a:noFill/>
          <a:ln/>
        </p:spPr>
        <p:txBody>
          <a:bodyPr wrap="square" lIns="0" tIns="0" rIns="0" bIns="0" rtlCol="0" anchor="t"/>
          <a:lstStyle>
            <a:lvl1pPr algn="l" indent="0" marL="0">
              <a:lnSpc>
                <a:spcPct val="140000"/>
              </a:lnSpc>
              <a:buNone/>
              <a:defRPr lang="en-US" sz="1600" dirty="0">
                <a:solidFill>
                  <a:srgbClr val="EAF4F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jpe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e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jpe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jpe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3A"/>
        </a:solidFill>
      </p:bgPr>
    </p:bg>
    <p:spTree>
      <p:nvGrpSpPr>
        <p:cNvPr id="1" name=""/>
        <p:cNvGrpSpPr/>
        <p:nvPr/>
      </p:nvGrpSpPr>
      <p:grpSpPr>
        <a:xfrm>
          <a:off x="0" y="0"/>
          <a:ext cx="0" cy="0"/>
          <a:chOff x="0" y="0"/>
          <a:chExt cx="0" cy="0"/>
        </a:xfrm>
      </p:grpSpPr>
      <p:sp>
        <p:nvSpPr>
          <p:cNvPr id="2" name="Text 0"/>
          <p:cNvSpPr/>
          <p:nvPr/>
        </p:nvSpPr>
        <p:spPr>
          <a:xfrm>
            <a:off x="812800" y="18669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B2FF"/>
                </a:solidFill>
                <a:latin typeface="JetBrains Mono" pitchFamily="49" charset="0"/>
                <a:ea typeface="JetBrains Mono" pitchFamily="49" charset="-122"/>
                <a:cs typeface="JetBrains Mono" pitchFamily="49" charset="-120"/>
              </a:rPr>
              <a:t>ML SOCIETY  </a:t>
            </a:r>
            <a:endParaRPr lang="en-US" sz="1400" dirty="0"/>
          </a:p>
        </p:txBody>
      </p:sp>
      <p:sp>
        <p:nvSpPr>
          <p:cNvPr id="3" name="Text 1"/>
          <p:cNvSpPr/>
          <p:nvPr>
            <p:ph type="title"/>
          </p:nvPr>
        </p:nvSpPr>
        <p:spPr>
          <a:xfrm>
            <a:off x="812800" y="2369820"/>
            <a:ext cx="10883392" cy="1752600"/>
          </a:xfrm>
          <a:prstGeom prst="rect">
            <a:avLst/>
          </a:prstGeom>
          <a:noFill/>
          <a:ln/>
        </p:spPr>
        <p:txBody>
          <a:bodyPr wrap="square" lIns="0" tIns="0" rIns="0" bIns="0" rtlCol="0" anchor="t">
            <a:normAutofit/>
          </a:bodyPr>
          <a:lstStyle/>
          <a:p>
            <a:pPr algn="l" indent="0" marL="0">
              <a:lnSpc>
                <a:spcPts val="6800"/>
              </a:lnSpc>
              <a:buNone/>
            </a:pPr>
            <a:r>
              <a:rPr lang="en-US" sz="6800" b="1" i="0" spc="-150" kern="0" dirty="0">
                <a:solidFill>
                  <a:srgbClr val="EAF4FF"/>
                </a:solidFill>
                <a:latin typeface="Space Grotesk" pitchFamily="34" charset="0"/>
                <a:ea typeface="Space Grotesk" pitchFamily="34" charset="-122"/>
                <a:cs typeface="Space Grotesk" pitchFamily="34" charset="-120"/>
              </a:rPr>
              <a:t>Why we split</a:t>
            </a:r>
            <a:endParaRPr lang="en-US" sz="6800" dirty="0"/>
          </a:p>
          <a:p>
            <a:pPr algn="l" indent="0" marL="0">
              <a:lnSpc>
                <a:spcPts val="6800"/>
              </a:lnSpc>
              <a:buNone/>
            </a:pPr>
            <a:r>
              <a:rPr lang="en-US" sz="6800" b="1" i="0" spc="-150" kern="0" dirty="0">
                <a:solidFill>
                  <a:srgbClr val="EAF4FF"/>
                </a:solidFill>
                <a:latin typeface="Space Grotesk" pitchFamily="34" charset="0"/>
                <a:ea typeface="Space Grotesk" pitchFamily="34" charset="-122"/>
                <a:cs typeface="Space Grotesk" pitchFamily="34" charset="-120"/>
              </a:rPr>
              <a:t>our data</a:t>
            </a:r>
            <a:endParaRPr lang="en-US" sz="6800" dirty="0"/>
          </a:p>
        </p:txBody>
      </p:sp>
      <p:sp>
        <p:nvSpPr>
          <p:cNvPr id="4" name="Text 2"/>
          <p:cNvSpPr/>
          <p:nvPr/>
        </p:nvSpPr>
        <p:spPr>
          <a:xfrm>
            <a:off x="812800" y="4351020"/>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9C3E6"/>
                </a:solidFill>
                <a:latin typeface="IBM Plex Sans" pitchFamily="34" charset="0"/>
                <a:ea typeface="IBM Plex Sans" pitchFamily="34" charset="-122"/>
                <a:cs typeface="IBM Plex Sans" pitchFamily="34" charset="-120"/>
              </a:rPr>
              <a:t>The score your model gets on its own training data,</a:t>
            </a:r>
            <a:endParaRPr lang="en-US" sz="1800" dirty="0"/>
          </a:p>
          <a:p>
            <a:pPr algn="l" indent="0" marL="0">
              <a:lnSpc>
                <a:spcPts val="2520"/>
              </a:lnSpc>
              <a:buNone/>
            </a:pPr>
            <a:r>
              <a:rPr lang="en-US" sz="1800" dirty="0">
                <a:solidFill>
                  <a:srgbClr val="A9C3E6"/>
                </a:solidFill>
                <a:latin typeface="IBM Plex Sans" pitchFamily="34" charset="0"/>
                <a:ea typeface="IBM Plex Sans" pitchFamily="34" charset="-122"/>
                <a:cs typeface="IBM Plex Sans" pitchFamily="34" charset="-120"/>
              </a:rPr>
              <a:t>and the score that actually counts.</a:t>
            </a:r>
            <a:endParaRPr lang="en-US" sz="1800" dirty="0"/>
          </a:p>
        </p:txBody>
      </p:sp>
      <p:sp>
        <p:nvSpPr>
          <p:cNvPr id="5" name="Shape 3"/>
          <p:cNvSpPr/>
          <p:nvPr/>
        </p:nvSpPr>
        <p:spPr>
          <a:xfrm>
            <a:off x="812800" y="5892800"/>
            <a:ext cx="8451850" cy="152400"/>
          </a:xfrm>
          <a:custGeom>
            <a:avLst/>
            <a:gdLst/>
            <a:ahLst/>
            <a:cxnLst/>
            <a:rect l="l" t="t" r="r" b="b"/>
            <a:pathLst>
              <a:path w="8451850" h="152400">
                <a:moveTo>
                  <a:pt x="76200" y="0"/>
                </a:moveTo>
                <a:lnTo>
                  <a:pt x="8451850" y="0"/>
                </a:lnTo>
                <a:lnTo>
                  <a:pt x="8451850" y="152400"/>
                </a:lnTo>
                <a:lnTo>
                  <a:pt x="76200" y="152400"/>
                </a:lnTo>
                <a:arcTo hR="76200" wR="76200" stAng="5400000" swAng="5400000"/>
                <a:lnTo>
                  <a:pt x="0" y="76200"/>
                </a:lnTo>
                <a:arcTo hR="76200" wR="76200" stAng="10800000" swAng="5400000"/>
                <a:close/>
              </a:path>
            </a:pathLst>
          </a:custGeom>
          <a:solidFill>
            <a:srgbClr val="2A5BC4"/>
          </a:solidFill>
          <a:ln/>
        </p:spPr>
      </p:sp>
      <p:sp>
        <p:nvSpPr>
          <p:cNvPr id="6" name="Shape 4"/>
          <p:cNvSpPr/>
          <p:nvPr/>
        </p:nvSpPr>
        <p:spPr>
          <a:xfrm>
            <a:off x="9315450" y="5892800"/>
            <a:ext cx="2063750" cy="152400"/>
          </a:xfrm>
          <a:custGeom>
            <a:avLst/>
            <a:gdLst/>
            <a:ahLst/>
            <a:cxnLst/>
            <a:rect l="l" t="t" r="r" b="b"/>
            <a:pathLst>
              <a:path w="2063750" h="152400">
                <a:moveTo>
                  <a:pt x="0" y="0"/>
                </a:moveTo>
                <a:lnTo>
                  <a:pt x="1987550" y="0"/>
                </a:lnTo>
                <a:arcTo hR="76200" wR="76200" stAng="16200000" swAng="5400000"/>
                <a:lnTo>
                  <a:pt x="2063750" y="76200"/>
                </a:lnTo>
                <a:arcTo hR="76200" wR="76200" stAng="0" swAng="5400000"/>
                <a:lnTo>
                  <a:pt x="0" y="152400"/>
                </a:lnTo>
                <a:lnTo>
                  <a:pt x="0" y="0"/>
                </a:lnTo>
                <a:close/>
              </a:path>
            </a:pathLst>
          </a:custGeom>
          <a:solidFill>
            <a:srgbClr val="6EE0FF"/>
          </a:solidFill>
          <a:ln/>
        </p:spPr>
      </p:sp>
      <p:sp>
        <p:nvSpPr>
          <p:cNvPr id="7" name="Text 5"/>
          <p:cNvSpPr/>
          <p:nvPr/>
        </p:nvSpPr>
        <p:spPr>
          <a:xfrm>
            <a:off x="812800" y="623824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B2FF"/>
                </a:solidFill>
                <a:latin typeface="JetBrains Mono" pitchFamily="49" charset="0"/>
                <a:ea typeface="JetBrains Mono" pitchFamily="49" charset="-122"/>
                <a:cs typeface="JetBrains Mono" pitchFamily="49" charset="-120"/>
              </a:rPr>
              <a:t>train · 80%</a:t>
            </a:r>
            <a:endParaRPr lang="en-US" sz="1200" dirty="0"/>
          </a:p>
        </p:txBody>
      </p:sp>
      <p:sp>
        <p:nvSpPr>
          <p:cNvPr id="8" name="Text 6"/>
          <p:cNvSpPr/>
          <p:nvPr/>
        </p:nvSpPr>
        <p:spPr>
          <a:xfrm>
            <a:off x="9315450" y="6238240"/>
            <a:ext cx="21256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E0FF"/>
                </a:solidFill>
                <a:latin typeface="JetBrains Mono" pitchFamily="49" charset="0"/>
                <a:ea typeface="JetBrains Mono" pitchFamily="49" charset="-122"/>
                <a:cs typeface="JetBrains Mono" pitchFamily="49" charset="-120"/>
              </a:rPr>
              <a:t>validation · 20%</a:t>
            </a:r>
            <a:endParaRPr lang="en-US" sz="1200" dirty="0"/>
          </a:p>
        </p:txBody>
      </p:sp>
      <p:pic>
        <p:nvPicPr>
          <p:cNvPr id="9" name="Image 0" descr="ML Society logo">    </p:cNvPr>
          <p:cNvPicPr>
            <a:picLocks noChangeAspect="1"/>
          </p:cNvPicPr>
          <p:nvPr/>
        </p:nvPicPr>
        <p:blipFill>
          <a:blip r:embed="rId1"/>
          <a:srcRect l="0" r="0" t="0" b="0"/>
          <a:stretch/>
        </p:blipFill>
        <p:spPr>
          <a:xfrm>
            <a:off x="10109200" y="812800"/>
            <a:ext cx="1270000" cy="1270000"/>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3E8C"/>
        </a:solidFill>
      </p:bgPr>
    </p:bg>
    <p:spTree>
      <p:nvGrpSpPr>
        <p:cNvPr id="1" name=""/>
        <p:cNvGrpSpPr/>
        <p:nvPr/>
      </p:nvGrpSpPr>
      <p:grpSpPr>
        <a:xfrm>
          <a:off x="0" y="0"/>
          <a:ext cx="0" cy="0"/>
          <a:chOff x="0" y="0"/>
          <a:chExt cx="0" cy="0"/>
        </a:xfrm>
      </p:grpSpPr>
      <p:sp>
        <p:nvSpPr>
          <p:cNvPr id="2" name="Text 0"/>
          <p:cNvSpPr/>
          <p:nvPr/>
        </p:nvSpPr>
        <p:spPr>
          <a:xfrm>
            <a:off x="812800" y="175514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AF4FF"/>
                </a:solidFill>
                <a:latin typeface="IBM Plex Sans" pitchFamily="34" charset="0"/>
                <a:ea typeface="IBM Plex Sans" pitchFamily="34" charset="-122"/>
                <a:cs typeface="IBM Plex Sans" pitchFamily="34" charset="-120"/>
              </a:rPr>
              <a:t>We trained a model to predict happy airline passengers.</a:t>
            </a:r>
            <a:endParaRPr lang="en-US" sz="2000" dirty="0"/>
          </a:p>
          <a:p>
            <a:pPr algn="l" indent="0" marL="0">
              <a:lnSpc>
                <a:spcPts val="2800"/>
              </a:lnSpc>
              <a:buNone/>
            </a:pPr>
            <a:r>
              <a:rPr lang="en-US" sz="2000" dirty="0">
                <a:solidFill>
                  <a:srgbClr val="EAF4FF"/>
                </a:solidFill>
                <a:latin typeface="IBM Plex Sans" pitchFamily="34" charset="0"/>
                <a:ea typeface="IBM Plex Sans" pitchFamily="34" charset="-122"/>
                <a:cs typeface="IBM Plex Sans" pitchFamily="34" charset="-120"/>
              </a:rPr>
              <a:t>Then we tested it on the </a:t>
            </a:r>
            <a:r>
              <a:rPr lang="en-US" sz="2000" b="1" dirty="0">
                <a:solidFill>
                  <a:srgbClr val="EAF4FF"/>
                </a:solidFill>
                <a:latin typeface="IBM Plex Sans" pitchFamily="34" charset="0"/>
                <a:ea typeface="IBM Plex Sans" pitchFamily="34" charset="-122"/>
                <a:cs typeface="IBM Plex Sans" pitchFamily="34" charset="-120"/>
              </a:rPr>
              <a:t>same passengers</a:t>
            </a:r>
            <a:r>
              <a:rPr lang="en-US" sz="2000" dirty="0">
                <a:solidFill>
                  <a:srgbClr val="EAF4FF"/>
                </a:solidFill>
                <a:latin typeface="IBM Plex Sans" pitchFamily="34" charset="0"/>
                <a:ea typeface="IBM Plex Sans" pitchFamily="34" charset="-122"/>
                <a:cs typeface="IBM Plex Sans" pitchFamily="34" charset="-120"/>
              </a:rPr>
              <a:t> it learned from.</a:t>
            </a:r>
            <a:endParaRPr lang="en-US" sz="2000" dirty="0"/>
          </a:p>
        </p:txBody>
      </p:sp>
      <p:sp>
        <p:nvSpPr>
          <p:cNvPr id="3" name="Text 1"/>
          <p:cNvSpPr/>
          <p:nvPr>
            <p:ph type="title"/>
          </p:nvPr>
        </p:nvSpPr>
        <p:spPr>
          <a:xfrm>
            <a:off x="812800" y="2669540"/>
            <a:ext cx="10883392" cy="1549400"/>
          </a:xfrm>
          <a:prstGeom prst="rect">
            <a:avLst/>
          </a:prstGeom>
          <a:noFill/>
          <a:ln/>
        </p:spPr>
        <p:txBody>
          <a:bodyPr wrap="square" lIns="0" tIns="0" rIns="0" bIns="0" rtlCol="0" anchor="t">
            <a:normAutofit/>
          </a:bodyPr>
          <a:lstStyle/>
          <a:p>
            <a:pPr algn="l" indent="0" marL="0">
              <a:lnSpc>
                <a:spcPts val="12000"/>
              </a:lnSpc>
              <a:buNone/>
            </a:pPr>
            <a:r>
              <a:rPr lang="en-US" sz="12000" b="1" i="0" spc="-300" kern="0" dirty="0">
                <a:solidFill>
                  <a:srgbClr val="EAF4FF"/>
                </a:solidFill>
                <a:latin typeface="Space Grotesk" pitchFamily="34" charset="0"/>
                <a:ea typeface="Space Grotesk" pitchFamily="34" charset="-122"/>
                <a:cs typeface="Space Grotesk" pitchFamily="34" charset="-120"/>
              </a:rPr>
              <a:t>Score: 1.00</a:t>
            </a:r>
            <a:endParaRPr lang="en-US" sz="12000" dirty="0"/>
          </a:p>
        </p:txBody>
      </p:sp>
      <p:sp>
        <p:nvSpPr>
          <p:cNvPr id="4" name="Text 2"/>
          <p:cNvSpPr/>
          <p:nvPr/>
        </p:nvSpPr>
        <p:spPr>
          <a:xfrm>
            <a:off x="812800" y="439674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EAF4FF"/>
                </a:solidFill>
                <a:latin typeface="Space Grotesk" pitchFamily="34" charset="0"/>
                <a:ea typeface="Space Grotesk" pitchFamily="34" charset="-122"/>
                <a:cs typeface="Space Grotesk" pitchFamily="34" charset="-120"/>
              </a:rPr>
              <a:t>A perfect score. Should we trust it?</a:t>
            </a:r>
            <a:endParaRPr lang="en-US" sz="3600" dirty="0"/>
          </a:p>
        </p:txBody>
      </p:sp>
      <p:sp>
        <p:nvSpPr>
          <p:cNvPr id="5" name="Text 3"/>
          <p:cNvSpPr/>
          <p:nvPr/>
        </p:nvSpPr>
        <p:spPr>
          <a:xfrm>
            <a:off x="812800" y="62026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E6FF"/>
                </a:solidFill>
                <a:latin typeface="IBM Plex Sans" pitchFamily="34" charset="0"/>
                <a:ea typeface="IBM Plex Sans" pitchFamily="34" charset="-122"/>
                <a:cs typeface="IBM Plex Sans" pitchFamily="34" charset="-120"/>
              </a:rPr>
              <a:t>Illustrative example · Scores: 1.0 = perfect · 0.5 = random guessing</a:t>
            </a:r>
            <a:endParaRPr lang="en-US" sz="1400" dirty="0"/>
          </a:p>
        </p:txBody>
      </p:sp>
      <p:pic>
        <p:nvPicPr>
          <p:cNvPr id="6" name="Image 0" descr="ML Society logo">    </p:cNvPr>
          <p:cNvPicPr>
            <a:picLocks noChangeAspect="1"/>
          </p:cNvPicPr>
          <p:nvPr/>
        </p:nvPicPr>
        <p:blipFill>
          <a:blip r:embed="rId1"/>
          <a:srcRect l="0" r="0" t="0" b="0"/>
          <a:stretch/>
        </p:blipFill>
        <p:spPr>
          <a:xfrm>
            <a:off x="10769600" y="254000"/>
            <a:ext cx="609600" cy="609600"/>
          </a:xfrm>
          <a:prstGeom prst="ellipse">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14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4A90FF"/>
                </a:solidFill>
                <a:latin typeface="JetBrains Mono" pitchFamily="49" charset="0"/>
                <a:ea typeface="JetBrains Mono" pitchFamily="49" charset="-122"/>
                <a:cs typeface="JetBrains Mono" pitchFamily="49" charset="-120"/>
              </a:rPr>
              <a:t>THE PROBLEM</a:t>
            </a:r>
            <a:endParaRPr lang="en-US" sz="1300" dirty="0"/>
          </a:p>
        </p:txBody>
      </p:sp>
      <p:sp>
        <p:nvSpPr>
          <p:cNvPr id="3" name="Text 1"/>
          <p:cNvSpPr/>
          <p:nvPr>
            <p:ph type="title"/>
          </p:nvPr>
        </p:nvSpPr>
        <p:spPr>
          <a:xfrm>
            <a:off x="812800" y="134874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AF4FF"/>
                </a:solidFill>
                <a:latin typeface="Space Grotesk" pitchFamily="34" charset="0"/>
                <a:ea typeface="Space Grotesk" pitchFamily="34" charset="-122"/>
                <a:cs typeface="Space Grotesk" pitchFamily="34" charset="-120"/>
              </a:rPr>
              <a:t>It just memorised the answers</a:t>
            </a:r>
            <a:endParaRPr lang="en-US" sz="3600" dirty="0"/>
          </a:p>
        </p:txBody>
      </p:sp>
      <p:sp>
        <p:nvSpPr>
          <p:cNvPr id="4" name="Shape 2"/>
          <p:cNvSpPr/>
          <p:nvPr/>
        </p:nvSpPr>
        <p:spPr>
          <a:xfrm>
            <a:off x="815975" y="2159636"/>
            <a:ext cx="5175250" cy="1880870"/>
          </a:xfrm>
          <a:prstGeom prst="roundRect">
            <a:avLst>
              <a:gd name="adj" fmla="val 6583"/>
            </a:avLst>
          </a:prstGeom>
          <a:solidFill>
            <a:srgbClr val="10295A"/>
          </a:solidFill>
          <a:ln w="6350">
            <a:solidFill>
              <a:srgbClr val="1F3D72"/>
            </a:solidFill>
            <a:prstDash val="solid"/>
          </a:ln>
        </p:spPr>
      </p:sp>
      <p:sp>
        <p:nvSpPr>
          <p:cNvPr id="5" name="Text 3"/>
          <p:cNvSpPr/>
          <p:nvPr/>
        </p:nvSpPr>
        <p:spPr>
          <a:xfrm>
            <a:off x="1122680" y="2466341"/>
            <a:ext cx="4698695" cy="889000"/>
          </a:xfrm>
          <a:prstGeom prst="rect">
            <a:avLst/>
          </a:prstGeom>
          <a:noFill/>
          <a:ln/>
        </p:spPr>
        <p:txBody>
          <a:bodyPr wrap="square" lIns="0" tIns="0" rIns="0" bIns="0" rtlCol="0" anchor="t">
            <a:normAutofit/>
          </a:bodyPr>
          <a:lstStyle/>
          <a:p>
            <a:pPr algn="l" indent="0" marL="0">
              <a:lnSpc>
                <a:spcPts val="6800"/>
              </a:lnSpc>
              <a:buNone/>
            </a:pPr>
            <a:r>
              <a:rPr lang="en-US" sz="6800" b="1" dirty="0">
                <a:solidFill>
                  <a:srgbClr val="4A90FF"/>
                </a:solidFill>
                <a:latin typeface="Space Grotesk" pitchFamily="34" charset="0"/>
                <a:ea typeface="Space Grotesk" pitchFamily="34" charset="-122"/>
                <a:cs typeface="Space Grotesk" pitchFamily="34" charset="-120"/>
              </a:rPr>
              <a:t>1.00</a:t>
            </a:r>
            <a:endParaRPr lang="en-US" sz="6800" dirty="0"/>
          </a:p>
        </p:txBody>
      </p:sp>
      <p:sp>
        <p:nvSpPr>
          <p:cNvPr id="6" name="Text 4"/>
          <p:cNvSpPr/>
          <p:nvPr/>
        </p:nvSpPr>
        <p:spPr>
          <a:xfrm>
            <a:off x="1122680" y="3431541"/>
            <a:ext cx="4698695"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9C3E6"/>
                </a:solidFill>
                <a:latin typeface="IBM Plex Sans" pitchFamily="34" charset="0"/>
                <a:ea typeface="IBM Plex Sans" pitchFamily="34" charset="-122"/>
                <a:cs typeface="IBM Plex Sans" pitchFamily="34" charset="-120"/>
              </a:rPr>
              <a:t>on passengers it </a:t>
            </a:r>
            <a:r>
              <a:rPr lang="en-US" sz="1700" b="1" dirty="0">
                <a:solidFill>
                  <a:srgbClr val="EAF4FF"/>
                </a:solidFill>
                <a:latin typeface="IBM Plex Sans" pitchFamily="34" charset="0"/>
                <a:ea typeface="IBM Plex Sans" pitchFamily="34" charset="-122"/>
                <a:cs typeface="IBM Plex Sans" pitchFamily="34" charset="-120"/>
              </a:rPr>
              <a:t>had already seen</a:t>
            </a:r>
            <a:endParaRPr lang="en-US" sz="1700" dirty="0"/>
          </a:p>
        </p:txBody>
      </p:sp>
      <p:sp>
        <p:nvSpPr>
          <p:cNvPr id="7" name="Shape 5"/>
          <p:cNvSpPr/>
          <p:nvPr/>
        </p:nvSpPr>
        <p:spPr>
          <a:xfrm>
            <a:off x="6200775" y="2159636"/>
            <a:ext cx="5175250" cy="1880870"/>
          </a:xfrm>
          <a:prstGeom prst="roundRect">
            <a:avLst>
              <a:gd name="adj" fmla="val 6583"/>
            </a:avLst>
          </a:prstGeom>
          <a:solidFill>
            <a:srgbClr val="10295A"/>
          </a:solidFill>
          <a:ln w="6350">
            <a:solidFill>
              <a:srgbClr val="1F3D72"/>
            </a:solidFill>
            <a:prstDash val="solid"/>
          </a:ln>
        </p:spPr>
      </p:sp>
      <p:sp>
        <p:nvSpPr>
          <p:cNvPr id="8" name="Text 6"/>
          <p:cNvSpPr/>
          <p:nvPr/>
        </p:nvSpPr>
        <p:spPr>
          <a:xfrm>
            <a:off x="6507480" y="2466341"/>
            <a:ext cx="4698695" cy="889000"/>
          </a:xfrm>
          <a:prstGeom prst="rect">
            <a:avLst/>
          </a:prstGeom>
          <a:noFill/>
          <a:ln/>
        </p:spPr>
        <p:txBody>
          <a:bodyPr wrap="square" lIns="0" tIns="0" rIns="0" bIns="0" rtlCol="0" anchor="t">
            <a:normAutofit/>
          </a:bodyPr>
          <a:lstStyle/>
          <a:p>
            <a:pPr algn="l" indent="0" marL="0">
              <a:lnSpc>
                <a:spcPts val="6800"/>
              </a:lnSpc>
              <a:buNone/>
            </a:pPr>
            <a:r>
              <a:rPr lang="en-US" sz="6800" b="1" dirty="0">
                <a:solidFill>
                  <a:srgbClr val="6EE0FF"/>
                </a:solidFill>
                <a:latin typeface="Space Grotesk" pitchFamily="34" charset="0"/>
                <a:ea typeface="Space Grotesk" pitchFamily="34" charset="-122"/>
                <a:cs typeface="Space Grotesk" pitchFamily="34" charset="-120"/>
              </a:rPr>
              <a:t>0.64</a:t>
            </a:r>
            <a:endParaRPr lang="en-US" sz="6800" dirty="0"/>
          </a:p>
        </p:txBody>
      </p:sp>
      <p:sp>
        <p:nvSpPr>
          <p:cNvPr id="9" name="Text 7"/>
          <p:cNvSpPr/>
          <p:nvPr/>
        </p:nvSpPr>
        <p:spPr>
          <a:xfrm>
            <a:off x="6507480" y="3431541"/>
            <a:ext cx="4698695"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9C3E6"/>
                </a:solidFill>
                <a:latin typeface="IBM Plex Sans" pitchFamily="34" charset="0"/>
                <a:ea typeface="IBM Plex Sans" pitchFamily="34" charset="-122"/>
                <a:cs typeface="IBM Plex Sans" pitchFamily="34" charset="-120"/>
              </a:rPr>
              <a:t>on </a:t>
            </a:r>
            <a:r>
              <a:rPr lang="en-US" sz="1700" b="1" dirty="0">
                <a:solidFill>
                  <a:srgbClr val="EAF4FF"/>
                </a:solidFill>
                <a:latin typeface="IBM Plex Sans" pitchFamily="34" charset="0"/>
                <a:ea typeface="IBM Plex Sans" pitchFamily="34" charset="-122"/>
                <a:cs typeface="IBM Plex Sans" pitchFamily="34" charset="-120"/>
              </a:rPr>
              <a:t>new</a:t>
            </a:r>
            <a:r>
              <a:rPr lang="en-US" sz="1700" dirty="0">
                <a:solidFill>
                  <a:srgbClr val="A9C3E6"/>
                </a:solidFill>
                <a:latin typeface="IBM Plex Sans" pitchFamily="34" charset="0"/>
                <a:ea typeface="IBM Plex Sans" pitchFamily="34" charset="-122"/>
                <a:cs typeface="IBM Plex Sans" pitchFamily="34" charset="-120"/>
              </a:rPr>
              <a:t> passengers</a:t>
            </a:r>
            <a:endParaRPr lang="en-US" sz="1700" dirty="0"/>
          </a:p>
        </p:txBody>
      </p:sp>
      <p:sp>
        <p:nvSpPr>
          <p:cNvPr id="10" name="Text 8"/>
          <p:cNvSpPr/>
          <p:nvPr/>
        </p:nvSpPr>
        <p:spPr>
          <a:xfrm>
            <a:off x="812800" y="4348480"/>
            <a:ext cx="10883392" cy="70104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AF4FF"/>
                </a:solidFill>
                <a:latin typeface="IBM Plex Sans" pitchFamily="34" charset="0"/>
                <a:ea typeface="IBM Plex Sans" pitchFamily="34" charset="-122"/>
                <a:cs typeface="IBM Plex Sans" pitchFamily="34" charset="-120"/>
              </a:rPr>
              <a:t>Like a student who memorised last year's exam paper: perfect on that paper, lost on a new one. This is called </a:t>
            </a:r>
            <a:r>
              <a:rPr lang="en-US" sz="1900" b="1" dirty="0">
                <a:solidFill>
                  <a:srgbClr val="EAF4FF"/>
                </a:solidFill>
                <a:latin typeface="IBM Plex Sans" pitchFamily="34" charset="0"/>
                <a:ea typeface="IBM Plex Sans" pitchFamily="34" charset="-122"/>
                <a:cs typeface="IBM Plex Sans" pitchFamily="34" charset="-120"/>
              </a:rPr>
              <a:t>overfitting</a:t>
            </a:r>
            <a:r>
              <a:rPr lang="en-US" sz="1900" dirty="0">
                <a:solidFill>
                  <a:srgbClr val="EAF4FF"/>
                </a:solidFill>
                <a:latin typeface="IBM Plex Sans" pitchFamily="34" charset="0"/>
                <a:ea typeface="IBM Plex Sans" pitchFamily="34" charset="-122"/>
                <a:cs typeface="IBM Plex Sans" pitchFamily="34" charset="-120"/>
              </a:rPr>
              <a:t>.</a:t>
            </a:r>
            <a:endParaRPr lang="en-US" sz="1900" dirty="0"/>
          </a:p>
        </p:txBody>
      </p:sp>
      <p:sp>
        <p:nvSpPr>
          <p:cNvPr id="11" name="Text 9"/>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A4CC"/>
                </a:solidFill>
                <a:latin typeface="IBM Plex Sans" pitchFamily="34" charset="0"/>
                <a:ea typeface="IBM Plex Sans" pitchFamily="34" charset="-122"/>
                <a:cs typeface="IBM Plex Sans" pitchFamily="34" charset="-120"/>
              </a:rPr>
              <a:t>Illustrative example: a decision tree on a simulated airline-satisfaction dataset.</a:t>
            </a:r>
            <a:endParaRPr lang="en-US" sz="1200" dirty="0"/>
          </a:p>
        </p:txBody>
      </p:sp>
      <p:pic>
        <p:nvPicPr>
          <p:cNvPr id="12" name="Image 0" descr="ML Society logo">    </p:cNvPr>
          <p:cNvPicPr>
            <a:picLocks noChangeAspect="1"/>
          </p:cNvPicPr>
          <p:nvPr/>
        </p:nvPicPr>
        <p:blipFill>
          <a:blip r:embed="rId1"/>
          <a:srcRect l="0" r="0" t="0" b="0"/>
          <a:stretch/>
        </p:blipFill>
        <p:spPr>
          <a:xfrm>
            <a:off x="10769600" y="254000"/>
            <a:ext cx="609600" cy="609600"/>
          </a:xfrm>
          <a:prstGeom prst="ellipse">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14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4A90FF"/>
                </a:solidFill>
                <a:latin typeface="JetBrains Mono" pitchFamily="49" charset="0"/>
                <a:ea typeface="JetBrains Mono" pitchFamily="49" charset="-122"/>
                <a:cs typeface="JetBrains Mono" pitchFamily="49" charset="-120"/>
              </a:rPr>
              <a:t>KEY WORDS</a:t>
            </a:r>
            <a:endParaRPr lang="en-US" sz="1300" dirty="0"/>
          </a:p>
        </p:txBody>
      </p:sp>
      <p:sp>
        <p:nvSpPr>
          <p:cNvPr id="3" name="Text 1"/>
          <p:cNvSpPr/>
          <p:nvPr>
            <p:ph type="title"/>
          </p:nvPr>
        </p:nvSpPr>
        <p:spPr>
          <a:xfrm>
            <a:off x="812800" y="139954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AF4FF"/>
                </a:solidFill>
                <a:latin typeface="Space Grotesk" pitchFamily="34" charset="0"/>
                <a:ea typeface="Space Grotesk" pitchFamily="34" charset="-122"/>
                <a:cs typeface="Space Grotesk" pitchFamily="34" charset="-120"/>
              </a:rPr>
              <a:t>Three kinds of data, like exam prep</a:t>
            </a:r>
            <a:endParaRPr lang="en-US" sz="3600" dirty="0"/>
          </a:p>
        </p:txBody>
      </p:sp>
      <p:sp>
        <p:nvSpPr>
          <p:cNvPr id="4" name="Shape 2"/>
          <p:cNvSpPr/>
          <p:nvPr/>
        </p:nvSpPr>
        <p:spPr>
          <a:xfrm>
            <a:off x="815975" y="2261236"/>
            <a:ext cx="3380264" cy="1878330"/>
          </a:xfrm>
          <a:prstGeom prst="roundRect">
            <a:avLst>
              <a:gd name="adj" fmla="val 6592"/>
            </a:avLst>
          </a:prstGeom>
          <a:solidFill>
            <a:srgbClr val="10295A"/>
          </a:solidFill>
          <a:ln w="6350">
            <a:solidFill>
              <a:srgbClr val="1F3D72"/>
            </a:solidFill>
            <a:prstDash val="solid"/>
          </a:ln>
        </p:spPr>
      </p:sp>
      <p:sp>
        <p:nvSpPr>
          <p:cNvPr id="5" name="Text 3"/>
          <p:cNvSpPr/>
          <p:nvPr/>
        </p:nvSpPr>
        <p:spPr>
          <a:xfrm>
            <a:off x="1097280" y="2542541"/>
            <a:ext cx="290218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B2FF"/>
                </a:solidFill>
                <a:latin typeface="Space Grotesk" pitchFamily="34" charset="0"/>
                <a:ea typeface="Space Grotesk" pitchFamily="34" charset="-122"/>
                <a:cs typeface="Space Grotesk" pitchFamily="34" charset="-120"/>
              </a:rPr>
              <a:t>Training data</a:t>
            </a:r>
            <a:endParaRPr lang="en-US" sz="2200" dirty="0"/>
          </a:p>
        </p:txBody>
      </p:sp>
      <p:sp>
        <p:nvSpPr>
          <p:cNvPr id="6" name="Text 4"/>
          <p:cNvSpPr/>
          <p:nvPr/>
        </p:nvSpPr>
        <p:spPr>
          <a:xfrm>
            <a:off x="1097280" y="3004820"/>
            <a:ext cx="2902183"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C3E6"/>
                </a:solidFill>
                <a:latin typeface="IBM Plex Sans" pitchFamily="34" charset="0"/>
                <a:ea typeface="IBM Plex Sans" pitchFamily="34" charset="-122"/>
                <a:cs typeface="IBM Plex Sans" pitchFamily="34" charset="-120"/>
              </a:rPr>
              <a:t>The textbook and practice questions. The model </a:t>
            </a:r>
            <a:r>
              <a:rPr lang="en-US" sz="1600" b="1" dirty="0">
                <a:solidFill>
                  <a:srgbClr val="EAF4FF"/>
                </a:solidFill>
                <a:latin typeface="IBM Plex Sans" pitchFamily="34" charset="0"/>
                <a:ea typeface="IBM Plex Sans" pitchFamily="34" charset="-122"/>
                <a:cs typeface="IBM Plex Sans" pitchFamily="34" charset="-120"/>
              </a:rPr>
              <a:t>learns</a:t>
            </a:r>
            <a:r>
              <a:rPr lang="en-US" sz="1600" dirty="0">
                <a:solidFill>
                  <a:srgbClr val="A9C3E6"/>
                </a:solidFill>
                <a:latin typeface="IBM Plex Sans" pitchFamily="34" charset="0"/>
                <a:ea typeface="IBM Plex Sans" pitchFamily="34" charset="-122"/>
                <a:cs typeface="IBM Plex Sans" pitchFamily="34" charset="-120"/>
              </a:rPr>
              <a:t> from these.</a:t>
            </a:r>
            <a:endParaRPr lang="en-US" sz="1600" dirty="0"/>
          </a:p>
        </p:txBody>
      </p:sp>
      <p:sp>
        <p:nvSpPr>
          <p:cNvPr id="7" name="Shape 5"/>
          <p:cNvSpPr/>
          <p:nvPr/>
        </p:nvSpPr>
        <p:spPr>
          <a:xfrm>
            <a:off x="4405789" y="2261236"/>
            <a:ext cx="3380343" cy="1878330"/>
          </a:xfrm>
          <a:prstGeom prst="roundRect">
            <a:avLst>
              <a:gd name="adj" fmla="val 6592"/>
            </a:avLst>
          </a:prstGeom>
          <a:solidFill>
            <a:srgbClr val="10295A"/>
          </a:solidFill>
          <a:ln w="6350">
            <a:solidFill>
              <a:srgbClr val="1F3D72"/>
            </a:solidFill>
            <a:prstDash val="solid"/>
          </a:ln>
        </p:spPr>
      </p:sp>
      <p:sp>
        <p:nvSpPr>
          <p:cNvPr id="8" name="Text 6"/>
          <p:cNvSpPr/>
          <p:nvPr/>
        </p:nvSpPr>
        <p:spPr>
          <a:xfrm>
            <a:off x="4687094" y="2542541"/>
            <a:ext cx="290226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6EE0FF"/>
                </a:solidFill>
                <a:latin typeface="Space Grotesk" pitchFamily="34" charset="0"/>
                <a:ea typeface="Space Grotesk" pitchFamily="34" charset="-122"/>
                <a:cs typeface="Space Grotesk" pitchFamily="34" charset="-120"/>
              </a:rPr>
              <a:t>Validation data</a:t>
            </a:r>
            <a:endParaRPr lang="en-US" sz="2200" dirty="0"/>
          </a:p>
        </p:txBody>
      </p:sp>
      <p:sp>
        <p:nvSpPr>
          <p:cNvPr id="9" name="Text 7"/>
          <p:cNvSpPr/>
          <p:nvPr/>
        </p:nvSpPr>
        <p:spPr>
          <a:xfrm>
            <a:off x="4687094" y="3004820"/>
            <a:ext cx="2902265"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C3E6"/>
                </a:solidFill>
                <a:latin typeface="IBM Plex Sans" pitchFamily="34" charset="0"/>
                <a:ea typeface="IBM Plex Sans" pitchFamily="34" charset="-122"/>
                <a:cs typeface="IBM Plex Sans" pitchFamily="34" charset="-120"/>
              </a:rPr>
              <a:t>A mock exam. Used to </a:t>
            </a:r>
            <a:r>
              <a:rPr lang="en-US" sz="1600" b="1" dirty="0">
                <a:solidFill>
                  <a:srgbClr val="EAF4FF"/>
                </a:solidFill>
                <a:latin typeface="IBM Plex Sans" pitchFamily="34" charset="0"/>
                <a:ea typeface="IBM Plex Sans" pitchFamily="34" charset="-122"/>
                <a:cs typeface="IBM Plex Sans" pitchFamily="34" charset="-120"/>
              </a:rPr>
              <a:t>check progress</a:t>
            </a:r>
            <a:r>
              <a:rPr lang="en-US" sz="1600" dirty="0">
                <a:solidFill>
                  <a:srgbClr val="A9C3E6"/>
                </a:solidFill>
                <a:latin typeface="IBM Plex Sans" pitchFamily="34" charset="0"/>
                <a:ea typeface="IBM Plex Sans" pitchFamily="34" charset="-122"/>
                <a:cs typeface="IBM Plex Sans" pitchFamily="34" charset="-120"/>
              </a:rPr>
              <a:t> and pick the best model.</a:t>
            </a:r>
            <a:endParaRPr lang="en-US" sz="1600" dirty="0"/>
          </a:p>
        </p:txBody>
      </p:sp>
      <p:sp>
        <p:nvSpPr>
          <p:cNvPr id="10" name="Shape 8"/>
          <p:cNvSpPr/>
          <p:nvPr/>
        </p:nvSpPr>
        <p:spPr>
          <a:xfrm>
            <a:off x="7995682" y="2261236"/>
            <a:ext cx="3380343" cy="1878330"/>
          </a:xfrm>
          <a:prstGeom prst="roundRect">
            <a:avLst>
              <a:gd name="adj" fmla="val 6592"/>
            </a:avLst>
          </a:prstGeom>
          <a:solidFill>
            <a:srgbClr val="10295A"/>
          </a:solidFill>
          <a:ln w="6350">
            <a:solidFill>
              <a:srgbClr val="1F3D72"/>
            </a:solidFill>
            <a:prstDash val="solid"/>
          </a:ln>
        </p:spPr>
      </p:sp>
      <p:sp>
        <p:nvSpPr>
          <p:cNvPr id="11" name="Text 9"/>
          <p:cNvSpPr/>
          <p:nvPr/>
        </p:nvSpPr>
        <p:spPr>
          <a:xfrm>
            <a:off x="8276987" y="2542541"/>
            <a:ext cx="290226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AF4FF"/>
                </a:solidFill>
                <a:latin typeface="Space Grotesk" pitchFamily="34" charset="0"/>
                <a:ea typeface="Space Grotesk" pitchFamily="34" charset="-122"/>
                <a:cs typeface="Space Grotesk" pitchFamily="34" charset="-120"/>
              </a:rPr>
              <a:t>Test data</a:t>
            </a:r>
            <a:endParaRPr lang="en-US" sz="2200" dirty="0"/>
          </a:p>
        </p:txBody>
      </p:sp>
      <p:sp>
        <p:nvSpPr>
          <p:cNvPr id="12" name="Text 10"/>
          <p:cNvSpPr/>
          <p:nvPr/>
        </p:nvSpPr>
        <p:spPr>
          <a:xfrm>
            <a:off x="8276987" y="3004820"/>
            <a:ext cx="2902265"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C3E6"/>
                </a:solidFill>
                <a:latin typeface="IBM Plex Sans" pitchFamily="34" charset="0"/>
                <a:ea typeface="IBM Plex Sans" pitchFamily="34" charset="-122"/>
                <a:cs typeface="IBM Plex Sans" pitchFamily="34" charset="-120"/>
              </a:rPr>
              <a:t>The real exam. Used </a:t>
            </a:r>
            <a:r>
              <a:rPr lang="en-US" sz="1600" b="1" dirty="0">
                <a:solidFill>
                  <a:srgbClr val="EAF4FF"/>
                </a:solidFill>
                <a:latin typeface="IBM Plex Sans" pitchFamily="34" charset="0"/>
                <a:ea typeface="IBM Plex Sans" pitchFamily="34" charset="-122"/>
                <a:cs typeface="IBM Plex Sans" pitchFamily="34" charset="-120"/>
              </a:rPr>
              <a:t>once</a:t>
            </a:r>
            <a:r>
              <a:rPr lang="en-US" sz="1600" dirty="0">
                <a:solidFill>
                  <a:srgbClr val="A9C3E6"/>
                </a:solidFill>
                <a:latin typeface="IBM Plex Sans" pitchFamily="34" charset="0"/>
                <a:ea typeface="IBM Plex Sans" pitchFamily="34" charset="-122"/>
                <a:cs typeface="IBM Plex Sans" pitchFamily="34" charset="-120"/>
              </a:rPr>
              <a:t>, at the very end.</a:t>
            </a:r>
            <a:endParaRPr lang="en-US" sz="1600" dirty="0"/>
          </a:p>
        </p:txBody>
      </p:sp>
      <p:sp>
        <p:nvSpPr>
          <p:cNvPr id="13" name="Text 11"/>
          <p:cNvSpPr/>
          <p:nvPr/>
        </p:nvSpPr>
        <p:spPr>
          <a:xfrm>
            <a:off x="812800" y="4498341"/>
            <a:ext cx="10883392"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AF4FF"/>
                </a:solidFill>
                <a:latin typeface="IBM Plex Sans" pitchFamily="34" charset="0"/>
                <a:ea typeface="IBM Plex Sans" pitchFamily="34" charset="-122"/>
                <a:cs typeface="IBM Plex Sans" pitchFamily="34" charset="-120"/>
              </a:rPr>
              <a:t>The model must never see the mock or real exam questions while it's studying.</a:t>
            </a:r>
            <a:endParaRPr lang="en-US" sz="1700" dirty="0"/>
          </a:p>
        </p:txBody>
      </p:sp>
      <p:pic>
        <p:nvPicPr>
          <p:cNvPr id="14" name="Image 0" descr="ML Society logo">    </p:cNvPr>
          <p:cNvPicPr>
            <a:picLocks noChangeAspect="1"/>
          </p:cNvPicPr>
          <p:nvPr/>
        </p:nvPicPr>
        <p:blipFill>
          <a:blip r:embed="rId1"/>
          <a:srcRect l="0" r="0" t="0" b="0"/>
          <a:stretch/>
        </p:blipFill>
        <p:spPr>
          <a:xfrm>
            <a:off x="10769600" y="254000"/>
            <a:ext cx="609600" cy="609600"/>
          </a:xfrm>
          <a:prstGeom prst="ellipse">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14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4A90FF"/>
                </a:solidFill>
                <a:latin typeface="JetBrains Mono" pitchFamily="49" charset="0"/>
                <a:ea typeface="JetBrains Mono" pitchFamily="49" charset="-122"/>
                <a:cs typeface="JetBrains Mono" pitchFamily="49" charset="-120"/>
              </a:rPr>
              <a:t>THE FIX</a:t>
            </a:r>
            <a:endParaRPr lang="en-US" sz="1300" dirty="0"/>
          </a:p>
        </p:txBody>
      </p:sp>
      <p:sp>
        <p:nvSpPr>
          <p:cNvPr id="3" name="Text 1"/>
          <p:cNvSpPr/>
          <p:nvPr>
            <p:ph type="title"/>
          </p:nvPr>
        </p:nvSpPr>
        <p:spPr>
          <a:xfrm>
            <a:off x="812800" y="13487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AF4FF"/>
                </a:solidFill>
                <a:latin typeface="Space Grotesk" pitchFamily="34" charset="0"/>
                <a:ea typeface="Space Grotesk" pitchFamily="34" charset="-122"/>
                <a:cs typeface="Space Grotesk" pitchFamily="34" charset="-120"/>
              </a:rPr>
              <a:t>Hide some data from the model</a:t>
            </a:r>
            <a:endParaRPr lang="en-US" sz="3600" dirty="0"/>
          </a:p>
        </p:txBody>
      </p:sp>
      <p:sp>
        <p:nvSpPr>
          <p:cNvPr id="4" name="Text 2"/>
          <p:cNvSpPr/>
          <p:nvPr/>
        </p:nvSpPr>
        <p:spPr>
          <a:xfrm>
            <a:off x="812800" y="2156461"/>
            <a:ext cx="8178800" cy="708660"/>
          </a:xfrm>
          <a:custGeom>
            <a:avLst/>
            <a:gdLst/>
            <a:ahLst/>
            <a:cxnLst/>
            <a:rect l="l" t="t" r="r" b="b"/>
            <a:pathLst>
              <a:path w="8178800" h="708660">
                <a:moveTo>
                  <a:pt x="101600" y="0"/>
                </a:moveTo>
                <a:lnTo>
                  <a:pt x="8178800" y="0"/>
                </a:lnTo>
                <a:lnTo>
                  <a:pt x="8178800" y="708660"/>
                </a:lnTo>
                <a:lnTo>
                  <a:pt x="101600" y="708660"/>
                </a:lnTo>
                <a:arcTo hR="101600" wR="101600" stAng="5400000" swAng="5400000"/>
                <a:lnTo>
                  <a:pt x="0" y="101600"/>
                </a:lnTo>
                <a:arcTo hR="101600" wR="101600" stAng="10800000" swAng="5400000"/>
                <a:close/>
              </a:path>
            </a:pathLst>
          </a:custGeom>
          <a:solidFill>
            <a:srgbClr val="2A5BC4"/>
          </a:solidFill>
          <a:ln/>
        </p:spPr>
        <p:txBody>
          <a:bodyPr wrap="square" lIns="228600" tIns="203200" rIns="0" bIns="177800" rtlCol="0" anchor="t">
            <a:normAutofit/>
          </a:bodyPr>
          <a:lstStyle/>
          <a:p>
            <a:pPr algn="l" indent="0" marL="0">
              <a:lnSpc>
                <a:spcPts val="2380"/>
              </a:lnSpc>
              <a:buNone/>
            </a:pPr>
            <a:r>
              <a:rPr lang="en-US" sz="1700" b="1" dirty="0">
                <a:solidFill>
                  <a:srgbClr val="EAF4FF"/>
                </a:solidFill>
                <a:latin typeface="IBM Plex Sans" pitchFamily="34" charset="0"/>
                <a:ea typeface="IBM Plex Sans" pitchFamily="34" charset="-122"/>
                <a:cs typeface="IBM Plex Sans" pitchFamily="34" charset="-120"/>
              </a:rPr>
              <a:t>80% training</a:t>
            </a:r>
            <a:r>
              <a:rPr lang="en-US" sz="1700" dirty="0">
                <a:solidFill>
                  <a:srgbClr val="EAF4FF"/>
                </a:solidFill>
                <a:latin typeface="IBM Plex Sans" pitchFamily="34" charset="0"/>
                <a:ea typeface="IBM Plex Sans" pitchFamily="34" charset="-122"/>
                <a:cs typeface="IBM Plex Sans" pitchFamily="34" charset="-120"/>
              </a:rPr>
              <a:t>: the model learns from this</a:t>
            </a:r>
            <a:endParaRPr lang="en-US" sz="1700" dirty="0"/>
          </a:p>
        </p:txBody>
      </p:sp>
      <p:sp>
        <p:nvSpPr>
          <p:cNvPr id="5" name="Text 3"/>
          <p:cNvSpPr/>
          <p:nvPr/>
        </p:nvSpPr>
        <p:spPr>
          <a:xfrm>
            <a:off x="8991600" y="2156461"/>
            <a:ext cx="2387600" cy="708660"/>
          </a:xfrm>
          <a:custGeom>
            <a:avLst/>
            <a:gdLst/>
            <a:ahLst/>
            <a:cxnLst/>
            <a:rect l="l" t="t" r="r" b="b"/>
            <a:pathLst>
              <a:path w="2387600" h="708660">
                <a:moveTo>
                  <a:pt x="0" y="0"/>
                </a:moveTo>
                <a:lnTo>
                  <a:pt x="2286000" y="0"/>
                </a:lnTo>
                <a:arcTo hR="101600" wR="101600" stAng="16200000" swAng="5400000"/>
                <a:lnTo>
                  <a:pt x="2387600" y="607060"/>
                </a:lnTo>
                <a:arcTo hR="101600" wR="101600" stAng="0" swAng="5400000"/>
                <a:lnTo>
                  <a:pt x="0" y="708660"/>
                </a:lnTo>
                <a:lnTo>
                  <a:pt x="0" y="0"/>
                </a:lnTo>
                <a:close/>
              </a:path>
            </a:pathLst>
          </a:custGeom>
          <a:solidFill>
            <a:srgbClr val="6EE0FF"/>
          </a:solidFill>
          <a:ln/>
        </p:spPr>
        <p:txBody>
          <a:bodyPr wrap="square" lIns="228600" tIns="203200" rIns="170688" bIns="177800" rtlCol="0" anchor="t">
            <a:normAutofit/>
          </a:bodyPr>
          <a:lstStyle/>
          <a:p>
            <a:pPr algn="l" indent="0" marL="0">
              <a:lnSpc>
                <a:spcPts val="2380"/>
              </a:lnSpc>
              <a:buNone/>
            </a:pPr>
            <a:r>
              <a:rPr lang="en-US" sz="1700" b="1" dirty="0">
                <a:solidFill>
                  <a:srgbClr val="04122B"/>
                </a:solidFill>
                <a:latin typeface="IBM Plex Sans" pitchFamily="34" charset="0"/>
                <a:ea typeface="IBM Plex Sans" pitchFamily="34" charset="-122"/>
                <a:cs typeface="IBM Plex Sans" pitchFamily="34" charset="-120"/>
              </a:rPr>
              <a:t>20% check</a:t>
            </a:r>
            <a:endParaRPr lang="en-US" sz="1700" dirty="0"/>
          </a:p>
        </p:txBody>
      </p:sp>
      <p:sp>
        <p:nvSpPr>
          <p:cNvPr id="6" name="Text 4"/>
          <p:cNvSpPr/>
          <p:nvPr/>
        </p:nvSpPr>
        <p:spPr>
          <a:xfrm>
            <a:off x="812800" y="3169921"/>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AF4FF"/>
                </a:solidFill>
                <a:latin typeface="IBM Plex Sans" pitchFamily="34" charset="0"/>
                <a:ea typeface="IBM Plex Sans" pitchFamily="34" charset="-122"/>
                <a:cs typeface="IBM Plex Sans" pitchFamily="34" charset="-120"/>
              </a:rPr>
              <a:t>Train on the blue part. Score on the cyan part. Because the model never saw the cyan rows, that score is </a:t>
            </a:r>
            <a:r>
              <a:rPr lang="en-US" sz="1800" b="1" dirty="0">
                <a:solidFill>
                  <a:srgbClr val="EAF4FF"/>
                </a:solidFill>
                <a:latin typeface="IBM Plex Sans" pitchFamily="34" charset="0"/>
                <a:ea typeface="IBM Plex Sans" pitchFamily="34" charset="-122"/>
                <a:cs typeface="IBM Plex Sans" pitchFamily="34" charset="-120"/>
              </a:rPr>
              <a:t>honest</a:t>
            </a:r>
            <a:r>
              <a:rPr lang="en-US" sz="1800" dirty="0">
                <a:solidFill>
                  <a:srgbClr val="EAF4FF"/>
                </a:solidFill>
                <a:latin typeface="IBM Plex Sans" pitchFamily="34" charset="0"/>
                <a:ea typeface="IBM Plex Sans" pitchFamily="34" charset="-122"/>
                <a:cs typeface="IBM Plex Sans" pitchFamily="34" charset="-120"/>
              </a:rPr>
              <a:t>.</a:t>
            </a:r>
            <a:endParaRPr lang="en-US" sz="1800" dirty="0"/>
          </a:p>
        </p:txBody>
      </p:sp>
      <p:sp>
        <p:nvSpPr>
          <p:cNvPr id="7" name="Shape 5"/>
          <p:cNvSpPr/>
          <p:nvPr/>
        </p:nvSpPr>
        <p:spPr>
          <a:xfrm>
            <a:off x="812800" y="4114800"/>
            <a:ext cx="10566400" cy="1287780"/>
          </a:xfrm>
          <a:prstGeom prst="roundRect">
            <a:avLst>
              <a:gd name="adj" fmla="val 7890"/>
            </a:avLst>
          </a:prstGeom>
          <a:solidFill>
            <a:srgbClr val="04122B"/>
          </a:solidFill>
          <a:ln/>
        </p:spPr>
      </p:sp>
      <p:sp>
        <p:nvSpPr>
          <p:cNvPr id="8" name="Text 6"/>
          <p:cNvSpPr/>
          <p:nvPr/>
        </p:nvSpPr>
        <p:spPr>
          <a:xfrm>
            <a:off x="1092200" y="4318000"/>
            <a:ext cx="1030782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7FAF"/>
                </a:solidFill>
                <a:latin typeface="IBM Plex Sans" pitchFamily="34" charset="0"/>
                <a:ea typeface="IBM Plex Sans" pitchFamily="34" charset="-122"/>
                <a:cs typeface="IBM Plex Sans" pitchFamily="34" charset="-120"/>
              </a:rPr>
              <a:t>In Python it's one line:</a:t>
            </a:r>
            <a:endParaRPr lang="en-US" sz="1300" dirty="0"/>
          </a:p>
        </p:txBody>
      </p:sp>
      <p:sp>
        <p:nvSpPr>
          <p:cNvPr id="9" name="Text 7"/>
          <p:cNvSpPr/>
          <p:nvPr/>
        </p:nvSpPr>
        <p:spPr>
          <a:xfrm>
            <a:off x="1092200" y="4625339"/>
            <a:ext cx="103078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CEBFF"/>
                </a:solidFill>
                <a:latin typeface="JetBrains Mono" pitchFamily="49" charset="0"/>
                <a:ea typeface="JetBrains Mono" pitchFamily="49" charset="-122"/>
                <a:cs typeface="JetBrains Mono" pitchFamily="49" charset="-120"/>
              </a:rPr>
              <a:t>train_test_split(X, y, test_size=0.2)</a:t>
            </a:r>
            <a:endParaRPr lang="en-US" sz="1500" dirty="0"/>
          </a:p>
        </p:txBody>
      </p:sp>
      <p:sp>
        <p:nvSpPr>
          <p:cNvPr id="10" name="Text 8"/>
          <p:cNvSpPr/>
          <p:nvPr/>
        </p:nvSpPr>
        <p:spPr>
          <a:xfrm>
            <a:off x="1092200" y="4968239"/>
            <a:ext cx="1030782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A4CC"/>
                </a:solidFill>
                <a:latin typeface="IBM Plex Sans" pitchFamily="34" charset="0"/>
                <a:ea typeface="IBM Plex Sans" pitchFamily="34" charset="-122"/>
                <a:cs typeface="IBM Plex Sans" pitchFamily="34" charset="-120"/>
              </a:rPr>
              <a:t>scikit-learn calls the hidden part "test". Today we're using it as our check set.</a:t>
            </a:r>
            <a:endParaRPr lang="en-US" sz="1300" dirty="0"/>
          </a:p>
        </p:txBody>
      </p:sp>
      <p:pic>
        <p:nvPicPr>
          <p:cNvPr id="11" name="Image 0" descr="ML Society logo">    </p:cNvPr>
          <p:cNvPicPr>
            <a:picLocks noChangeAspect="1"/>
          </p:cNvPicPr>
          <p:nvPr/>
        </p:nvPicPr>
        <p:blipFill>
          <a:blip r:embed="rId1"/>
          <a:srcRect l="0" r="0" t="0" b="0"/>
          <a:stretch/>
        </p:blipFill>
        <p:spPr>
          <a:xfrm>
            <a:off x="10769600" y="254000"/>
            <a:ext cx="609600" cy="609600"/>
          </a:xfrm>
          <a:prstGeom prst="ellipse">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14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4A90FF"/>
                </a:solidFill>
                <a:latin typeface="JetBrains Mono" pitchFamily="49" charset="0"/>
                <a:ea typeface="JetBrains Mono" pitchFamily="49" charset="-122"/>
                <a:cs typeface="JetBrains Mono" pitchFamily="49" charset="-120"/>
              </a:rPr>
              <a:t>WHAT OVERFITTING LOOKS LIKE</a:t>
            </a:r>
            <a:endParaRPr lang="en-US" sz="1300" dirty="0"/>
          </a:p>
        </p:txBody>
      </p:sp>
      <p:sp>
        <p:nvSpPr>
          <p:cNvPr id="3" name="Text 1"/>
          <p:cNvSpPr/>
          <p:nvPr>
            <p:ph type="title"/>
          </p:nvPr>
        </p:nvSpPr>
        <p:spPr>
          <a:xfrm>
            <a:off x="812800" y="13487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AF4FF"/>
                </a:solidFill>
                <a:latin typeface="Space Grotesk" pitchFamily="34" charset="0"/>
                <a:ea typeface="Space Grotesk" pitchFamily="34" charset="-122"/>
                <a:cs typeface="Space Grotesk" pitchFamily="34" charset="-120"/>
              </a:rPr>
              <a:t>Same dots, three models</a:t>
            </a:r>
            <a:endParaRPr lang="en-US" sz="3600" dirty="0"/>
          </a:p>
        </p:txBody>
      </p:sp>
      <p:sp>
        <p:nvSpPr>
          <p:cNvPr id="4" name="Shape 2"/>
          <p:cNvSpPr/>
          <p:nvPr/>
        </p:nvSpPr>
        <p:spPr>
          <a:xfrm>
            <a:off x="815975" y="2159636"/>
            <a:ext cx="3376930" cy="3244850"/>
          </a:xfrm>
          <a:prstGeom prst="roundRect">
            <a:avLst>
              <a:gd name="adj" fmla="val 3816"/>
            </a:avLst>
          </a:prstGeom>
          <a:solidFill>
            <a:srgbClr val="10295A"/>
          </a:solidFill>
          <a:ln w="6350">
            <a:solidFill>
              <a:srgbClr val="1F3D72"/>
            </a:solidFill>
            <a:prstDash val="solid"/>
          </a:ln>
        </p:spPr>
      </p:sp>
      <p:pic>
        <p:nvPicPr>
          <p:cNvPr id="5" name="Image 0" descr="Eleven data points following a wave, with a straight line through them that misses the wave shape.">    </p:cNvPr>
          <p:cNvPicPr>
            <a:picLocks noChangeAspect="1"/>
          </p:cNvPicPr>
          <p:nvPr/>
        </p:nvPicPr>
        <p:blipFill>
          <a:blip r:embed="rId1"/>
          <a:srcRect l="0" r="0" t="0" b="0"/>
          <a:stretch/>
        </p:blipFill>
        <p:spPr>
          <a:xfrm>
            <a:off x="1046480" y="2390139"/>
            <a:ext cx="2794000" cy="1778000"/>
          </a:xfrm>
          <a:prstGeom prst="rect">
            <a:avLst/>
          </a:prstGeom>
        </p:spPr>
      </p:pic>
      <p:sp>
        <p:nvSpPr>
          <p:cNvPr id="6" name="Text 3"/>
          <p:cNvSpPr/>
          <p:nvPr/>
        </p:nvSpPr>
        <p:spPr>
          <a:xfrm>
            <a:off x="1046480" y="4269739"/>
            <a:ext cx="300339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AF4FF"/>
                </a:solidFill>
                <a:latin typeface="Space Grotesk" pitchFamily="34" charset="0"/>
                <a:ea typeface="Space Grotesk" pitchFamily="34" charset="-122"/>
                <a:cs typeface="Space Grotesk" pitchFamily="34" charset="-120"/>
              </a:rPr>
              <a:t>Too simple</a:t>
            </a:r>
            <a:endParaRPr lang="en-US" sz="2000" dirty="0"/>
          </a:p>
        </p:txBody>
      </p:sp>
      <p:sp>
        <p:nvSpPr>
          <p:cNvPr id="7" name="Text 4"/>
          <p:cNvSpPr/>
          <p:nvPr/>
        </p:nvSpPr>
        <p:spPr>
          <a:xfrm>
            <a:off x="1046480" y="4676139"/>
            <a:ext cx="300339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A straight line. Misses the pattern.</a:t>
            </a:r>
            <a:endParaRPr lang="en-US" sz="1400" dirty="0"/>
          </a:p>
        </p:txBody>
      </p:sp>
      <p:sp>
        <p:nvSpPr>
          <p:cNvPr id="8" name="Shape 5"/>
          <p:cNvSpPr/>
          <p:nvPr/>
        </p:nvSpPr>
        <p:spPr>
          <a:xfrm>
            <a:off x="4405630" y="2162811"/>
            <a:ext cx="3380740" cy="3238500"/>
          </a:xfrm>
          <a:prstGeom prst="roundRect">
            <a:avLst>
              <a:gd name="adj" fmla="val 3725"/>
            </a:avLst>
          </a:prstGeom>
          <a:solidFill>
            <a:srgbClr val="10295A"/>
          </a:solidFill>
          <a:ln w="12700">
            <a:solidFill>
              <a:srgbClr val="6EE0FF"/>
            </a:solidFill>
            <a:prstDash val="solid"/>
          </a:ln>
        </p:spPr>
      </p:sp>
      <p:pic>
        <p:nvPicPr>
          <p:cNvPr id="9" name="Image 1" descr="The same eleven points with a smooth wave-shaped curve that follows the overall pattern.">    </p:cNvPr>
          <p:cNvPicPr>
            <a:picLocks noChangeAspect="1"/>
          </p:cNvPicPr>
          <p:nvPr/>
        </p:nvPicPr>
        <p:blipFill>
          <a:blip r:embed="rId2"/>
          <a:srcRect l="0" r="0" t="0" b="0"/>
          <a:stretch/>
        </p:blipFill>
        <p:spPr>
          <a:xfrm>
            <a:off x="4638040" y="2395221"/>
            <a:ext cx="2794000" cy="1778000"/>
          </a:xfrm>
          <a:prstGeom prst="rect">
            <a:avLst/>
          </a:prstGeom>
        </p:spPr>
      </p:pic>
      <p:sp>
        <p:nvSpPr>
          <p:cNvPr id="10" name="Text 6"/>
          <p:cNvSpPr/>
          <p:nvPr/>
        </p:nvSpPr>
        <p:spPr>
          <a:xfrm>
            <a:off x="4638040" y="4274821"/>
            <a:ext cx="300339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6EE0FF"/>
                </a:solidFill>
                <a:latin typeface="Space Grotesk" pitchFamily="34" charset="0"/>
                <a:ea typeface="Space Grotesk" pitchFamily="34" charset="-122"/>
                <a:cs typeface="Space Grotesk" pitchFamily="34" charset="-120"/>
              </a:rPr>
              <a:t>Just right</a:t>
            </a:r>
            <a:endParaRPr lang="en-US" sz="2000" dirty="0"/>
          </a:p>
        </p:txBody>
      </p:sp>
      <p:sp>
        <p:nvSpPr>
          <p:cNvPr id="11" name="Text 7"/>
          <p:cNvSpPr/>
          <p:nvPr/>
        </p:nvSpPr>
        <p:spPr>
          <a:xfrm>
            <a:off x="4638040" y="4681221"/>
            <a:ext cx="31419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A smooth curve. Learns the pattern.</a:t>
            </a:r>
            <a:endParaRPr lang="en-US" sz="1400" dirty="0"/>
          </a:p>
        </p:txBody>
      </p:sp>
      <p:sp>
        <p:nvSpPr>
          <p:cNvPr id="12" name="Shape 8"/>
          <p:cNvSpPr/>
          <p:nvPr/>
        </p:nvSpPr>
        <p:spPr>
          <a:xfrm>
            <a:off x="7999095" y="2159636"/>
            <a:ext cx="3376930" cy="3244850"/>
          </a:xfrm>
          <a:prstGeom prst="roundRect">
            <a:avLst>
              <a:gd name="adj" fmla="val 3816"/>
            </a:avLst>
          </a:prstGeom>
          <a:solidFill>
            <a:srgbClr val="10295A"/>
          </a:solidFill>
          <a:ln w="6350">
            <a:solidFill>
              <a:srgbClr val="1F3D72"/>
            </a:solidFill>
            <a:prstDash val="solid"/>
          </a:ln>
        </p:spPr>
      </p:sp>
      <p:pic>
        <p:nvPicPr>
          <p:cNvPr id="13" name="Image 2" descr="The same eleven points with a jagged line zig-zagging exactly through every single point.">    </p:cNvPr>
          <p:cNvPicPr>
            <a:picLocks noChangeAspect="1"/>
          </p:cNvPicPr>
          <p:nvPr/>
        </p:nvPicPr>
        <p:blipFill>
          <a:blip r:embed="rId3"/>
          <a:srcRect l="0" r="0" t="0" b="0"/>
          <a:stretch/>
        </p:blipFill>
        <p:spPr>
          <a:xfrm>
            <a:off x="8229600" y="2390139"/>
            <a:ext cx="2794000" cy="1778000"/>
          </a:xfrm>
          <a:prstGeom prst="rect">
            <a:avLst/>
          </a:prstGeom>
        </p:spPr>
      </p:pic>
      <p:sp>
        <p:nvSpPr>
          <p:cNvPr id="14" name="Text 9"/>
          <p:cNvSpPr/>
          <p:nvPr/>
        </p:nvSpPr>
        <p:spPr>
          <a:xfrm>
            <a:off x="8229600" y="4269739"/>
            <a:ext cx="300339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AF4FF"/>
                </a:solidFill>
                <a:latin typeface="Space Grotesk" pitchFamily="34" charset="0"/>
                <a:ea typeface="Space Grotesk" pitchFamily="34" charset="-122"/>
                <a:cs typeface="Space Grotesk" pitchFamily="34" charset="-120"/>
              </a:rPr>
              <a:t>Memorised</a:t>
            </a:r>
            <a:endParaRPr lang="en-US" sz="2000" dirty="0"/>
          </a:p>
        </p:txBody>
      </p:sp>
      <p:sp>
        <p:nvSpPr>
          <p:cNvPr id="15" name="Text 10"/>
          <p:cNvSpPr/>
          <p:nvPr/>
        </p:nvSpPr>
        <p:spPr>
          <a:xfrm>
            <a:off x="8229600" y="4676139"/>
            <a:ext cx="300339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Hits every dot, noise and all. Fails on new dots.</a:t>
            </a:r>
            <a:endParaRPr lang="en-US" sz="1400" dirty="0"/>
          </a:p>
        </p:txBody>
      </p:sp>
      <p:pic>
        <p:nvPicPr>
          <p:cNvPr id="16" name="Image 3" descr="ML Society logo">    </p:cNvPr>
          <p:cNvPicPr>
            <a:picLocks noChangeAspect="1"/>
          </p:cNvPicPr>
          <p:nvPr/>
        </p:nvPicPr>
        <p:blipFill>
          <a:blip r:embed="rId4"/>
          <a:srcRect l="0" r="0" t="0" b="0"/>
          <a:stretch/>
        </p:blipFill>
        <p:spPr>
          <a:xfrm>
            <a:off x="10769600" y="254000"/>
            <a:ext cx="609600" cy="609600"/>
          </a:xfrm>
          <a:prstGeom prst="ellipse">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14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AF4FF"/>
                </a:solidFill>
                <a:latin typeface="Space Grotesk" pitchFamily="34" charset="0"/>
                <a:ea typeface="Space Grotesk" pitchFamily="34" charset="-122"/>
                <a:cs typeface="Space Grotesk" pitchFamily="34" charset="-120"/>
              </a:rPr>
              <a:t>Too simple, too complex, just right</a:t>
            </a:r>
            <a:endParaRPr lang="en-US" sz="3600" dirty="0"/>
          </a:p>
        </p:txBody>
      </p:sp>
      <p:pic>
        <p:nvPicPr>
          <p:cNvPr id="3" name="Image 0" descr="Line chart of score against model complexity. The score on seen data rises steadily to a perfect 1.0. The score on new data rises to a peak of 0.79 at depth 7, then falls back to about 0.64.">    </p:cNvPr>
          <p:cNvPicPr>
            <a:picLocks noChangeAspect="1"/>
          </p:cNvPicPr>
          <p:nvPr/>
        </p:nvPicPr>
        <p:blipFill>
          <a:blip r:embed="rId1"/>
          <a:srcRect l="0" r="0" t="-4" b="-4"/>
          <a:stretch/>
        </p:blipFill>
        <p:spPr>
          <a:xfrm>
            <a:off x="1320800" y="1569721"/>
            <a:ext cx="6985000" cy="3810000"/>
          </a:xfrm>
          <a:prstGeom prst="rect">
            <a:avLst/>
          </a:prstGeom>
        </p:spPr>
      </p:pic>
      <p:sp>
        <p:nvSpPr>
          <p:cNvPr id="4" name="Text 1"/>
          <p:cNvSpPr/>
          <p:nvPr/>
        </p:nvSpPr>
        <p:spPr>
          <a:xfrm>
            <a:off x="762000" y="1582421"/>
            <a:ext cx="4699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4CC"/>
                </a:solidFill>
                <a:latin typeface="IBM Plex Sans" pitchFamily="34" charset="0"/>
                <a:ea typeface="IBM Plex Sans" pitchFamily="34" charset="-122"/>
                <a:cs typeface="IBM Plex Sans" pitchFamily="34" charset="-120"/>
              </a:rPr>
              <a:t>1.0</a:t>
            </a:r>
            <a:endParaRPr lang="en-US" sz="1200" dirty="0"/>
          </a:p>
        </p:txBody>
      </p:sp>
      <p:sp>
        <p:nvSpPr>
          <p:cNvPr id="5" name="Text 2"/>
          <p:cNvSpPr/>
          <p:nvPr/>
        </p:nvSpPr>
        <p:spPr>
          <a:xfrm>
            <a:off x="762000" y="2471421"/>
            <a:ext cx="4699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4CC"/>
                </a:solidFill>
                <a:latin typeface="IBM Plex Sans" pitchFamily="34" charset="0"/>
                <a:ea typeface="IBM Plex Sans" pitchFamily="34" charset="-122"/>
                <a:cs typeface="IBM Plex Sans" pitchFamily="34" charset="-120"/>
              </a:rPr>
              <a:t>0.9</a:t>
            </a:r>
            <a:endParaRPr lang="en-US" sz="1200" dirty="0"/>
          </a:p>
        </p:txBody>
      </p:sp>
      <p:sp>
        <p:nvSpPr>
          <p:cNvPr id="6" name="Text 3"/>
          <p:cNvSpPr/>
          <p:nvPr/>
        </p:nvSpPr>
        <p:spPr>
          <a:xfrm>
            <a:off x="762000" y="3360421"/>
            <a:ext cx="4699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4CC"/>
                </a:solidFill>
                <a:latin typeface="IBM Plex Sans" pitchFamily="34" charset="0"/>
                <a:ea typeface="IBM Plex Sans" pitchFamily="34" charset="-122"/>
                <a:cs typeface="IBM Plex Sans" pitchFamily="34" charset="-120"/>
              </a:rPr>
              <a:t>0.8</a:t>
            </a:r>
            <a:endParaRPr lang="en-US" sz="1200" dirty="0"/>
          </a:p>
        </p:txBody>
      </p:sp>
      <p:sp>
        <p:nvSpPr>
          <p:cNvPr id="7" name="Text 4"/>
          <p:cNvSpPr/>
          <p:nvPr/>
        </p:nvSpPr>
        <p:spPr>
          <a:xfrm>
            <a:off x="762000" y="4249421"/>
            <a:ext cx="4699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4CC"/>
                </a:solidFill>
                <a:latin typeface="IBM Plex Sans" pitchFamily="34" charset="0"/>
                <a:ea typeface="IBM Plex Sans" pitchFamily="34" charset="-122"/>
                <a:cs typeface="IBM Plex Sans" pitchFamily="34" charset="-120"/>
              </a:rPr>
              <a:t>0.7</a:t>
            </a:r>
            <a:endParaRPr lang="en-US" sz="1200" dirty="0"/>
          </a:p>
        </p:txBody>
      </p:sp>
      <p:sp>
        <p:nvSpPr>
          <p:cNvPr id="8" name="Text 5"/>
          <p:cNvSpPr/>
          <p:nvPr/>
        </p:nvSpPr>
        <p:spPr>
          <a:xfrm>
            <a:off x="762000" y="5138421"/>
            <a:ext cx="4699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4CC"/>
                </a:solidFill>
                <a:latin typeface="IBM Plex Sans" pitchFamily="34" charset="0"/>
                <a:ea typeface="IBM Plex Sans" pitchFamily="34" charset="-122"/>
                <a:cs typeface="IBM Plex Sans" pitchFamily="34" charset="-120"/>
              </a:rPr>
              <a:t>0.6</a:t>
            </a:r>
            <a:endParaRPr lang="en-US" sz="1200" dirty="0"/>
          </a:p>
        </p:txBody>
      </p:sp>
      <p:sp>
        <p:nvSpPr>
          <p:cNvPr id="9" name="Text 6"/>
          <p:cNvSpPr/>
          <p:nvPr/>
        </p:nvSpPr>
        <p:spPr>
          <a:xfrm>
            <a:off x="1320800" y="5506721"/>
            <a:ext cx="19621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C3E6"/>
                </a:solidFill>
                <a:latin typeface="IBM Plex Sans" pitchFamily="34" charset="0"/>
                <a:ea typeface="IBM Plex Sans" pitchFamily="34" charset="-122"/>
                <a:cs typeface="IBM Plex Sans" pitchFamily="34" charset="-120"/>
              </a:rPr>
              <a:t>← simpler model</a:t>
            </a:r>
            <a:endParaRPr lang="en-US" sz="1300" dirty="0"/>
          </a:p>
        </p:txBody>
      </p:sp>
      <p:sp>
        <p:nvSpPr>
          <p:cNvPr id="10" name="Text 7"/>
          <p:cNvSpPr/>
          <p:nvPr/>
        </p:nvSpPr>
        <p:spPr>
          <a:xfrm>
            <a:off x="6343650" y="5506721"/>
            <a:ext cx="1962150"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A9C3E6"/>
                </a:solidFill>
                <a:latin typeface="IBM Plex Sans" pitchFamily="34" charset="0"/>
                <a:ea typeface="IBM Plex Sans" pitchFamily="34" charset="-122"/>
                <a:cs typeface="IBM Plex Sans" pitchFamily="34" charset="-120"/>
              </a:rPr>
              <a:t>more complex →</a:t>
            </a:r>
            <a:endParaRPr lang="en-US" sz="1300" dirty="0"/>
          </a:p>
        </p:txBody>
      </p:sp>
      <p:sp>
        <p:nvSpPr>
          <p:cNvPr id="11" name="Text 8"/>
          <p:cNvSpPr/>
          <p:nvPr/>
        </p:nvSpPr>
        <p:spPr>
          <a:xfrm>
            <a:off x="3581400" y="3792221"/>
            <a:ext cx="222377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EE0FF"/>
                </a:solidFill>
                <a:latin typeface="IBM Plex Sans" pitchFamily="34" charset="0"/>
                <a:ea typeface="IBM Plex Sans" pitchFamily="34" charset="-122"/>
                <a:cs typeface="IBM Plex Sans" pitchFamily="34" charset="-120"/>
              </a:rPr>
              <a:t>just right</a:t>
            </a:r>
            <a:endParaRPr lang="en-US" sz="1400" dirty="0"/>
          </a:p>
        </p:txBody>
      </p:sp>
      <p:sp>
        <p:nvSpPr>
          <p:cNvPr id="12" name="Shape 9"/>
          <p:cNvSpPr/>
          <p:nvPr/>
        </p:nvSpPr>
        <p:spPr>
          <a:xfrm>
            <a:off x="8661400" y="1668782"/>
            <a:ext cx="254000" cy="50800"/>
          </a:xfrm>
          <a:prstGeom prst="roundRect">
            <a:avLst>
              <a:gd name="adj" fmla="val 50000"/>
            </a:avLst>
          </a:prstGeom>
          <a:solidFill>
            <a:srgbClr val="4A90FF"/>
          </a:solidFill>
          <a:ln/>
        </p:spPr>
      </p:sp>
      <p:sp>
        <p:nvSpPr>
          <p:cNvPr id="13" name="Text 10"/>
          <p:cNvSpPr/>
          <p:nvPr/>
        </p:nvSpPr>
        <p:spPr>
          <a:xfrm>
            <a:off x="9017000" y="1569721"/>
            <a:ext cx="222332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F4FF"/>
                </a:solidFill>
                <a:latin typeface="IBM Plex Sans" pitchFamily="34" charset="0"/>
                <a:ea typeface="IBM Plex Sans" pitchFamily="34" charset="-122"/>
                <a:cs typeface="IBM Plex Sans" pitchFamily="34" charset="-120"/>
              </a:rPr>
              <a:t>Score on data it's seen</a:t>
            </a:r>
            <a:endParaRPr lang="en-US" sz="1400" dirty="0"/>
          </a:p>
        </p:txBody>
      </p:sp>
      <p:sp>
        <p:nvSpPr>
          <p:cNvPr id="14" name="Shape 11"/>
          <p:cNvSpPr/>
          <p:nvPr/>
        </p:nvSpPr>
        <p:spPr>
          <a:xfrm>
            <a:off x="8661400" y="2095500"/>
            <a:ext cx="254000" cy="50800"/>
          </a:xfrm>
          <a:prstGeom prst="roundRect">
            <a:avLst>
              <a:gd name="adj" fmla="val 50000"/>
            </a:avLst>
          </a:prstGeom>
          <a:solidFill>
            <a:srgbClr val="6EE0FF"/>
          </a:solidFill>
          <a:ln/>
        </p:spPr>
      </p:sp>
      <p:sp>
        <p:nvSpPr>
          <p:cNvPr id="15" name="Text 12"/>
          <p:cNvSpPr/>
          <p:nvPr/>
        </p:nvSpPr>
        <p:spPr>
          <a:xfrm>
            <a:off x="9017000" y="1996439"/>
            <a:ext cx="182070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F4FF"/>
                </a:solidFill>
                <a:latin typeface="IBM Plex Sans" pitchFamily="34" charset="0"/>
                <a:ea typeface="IBM Plex Sans" pitchFamily="34" charset="-122"/>
                <a:cs typeface="IBM Plex Sans" pitchFamily="34" charset="-120"/>
              </a:rPr>
              <a:t>Score on new data</a:t>
            </a:r>
            <a:endParaRPr lang="en-US" sz="1400" dirty="0"/>
          </a:p>
        </p:txBody>
      </p:sp>
      <p:pic>
        <p:nvPicPr>
          <p:cNvPr id="16" name="Image 1" descr="line">    </p:cNvPr>
          <p:cNvPicPr>
            <a:picLocks noChangeAspect="1"/>
          </p:cNvPicPr>
          <p:nvPr/>
        </p:nvPicPr>
        <p:blipFill>
          <a:blip r:embed="rId2"/>
          <a:srcRect l="0" r="0" t="0" b="0"/>
          <a:stretch/>
        </p:blipFill>
        <p:spPr>
          <a:xfrm>
            <a:off x="8661400" y="2423161"/>
            <a:ext cx="2717800" cy="12700"/>
          </a:xfrm>
          <a:prstGeom prst="rect">
            <a:avLst/>
          </a:prstGeom>
        </p:spPr>
      </p:pic>
      <p:sp>
        <p:nvSpPr>
          <p:cNvPr id="17" name="Text 13"/>
          <p:cNvSpPr/>
          <p:nvPr/>
        </p:nvSpPr>
        <p:spPr>
          <a:xfrm>
            <a:off x="8661400" y="2613661"/>
            <a:ext cx="2799334"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EAF4FF"/>
                </a:solidFill>
                <a:latin typeface="IBM Plex Sans" pitchFamily="34" charset="0"/>
                <a:ea typeface="IBM Plex Sans" pitchFamily="34" charset="-122"/>
                <a:cs typeface="IBM Plex Sans" pitchFamily="34" charset="-120"/>
              </a:rPr>
              <a:t>Too simple:</a:t>
            </a:r>
            <a:r>
              <a:rPr lang="en-US" sz="1400" dirty="0">
                <a:solidFill>
                  <a:srgbClr val="A9C3E6"/>
                </a:solidFill>
                <a:latin typeface="IBM Plex Sans" pitchFamily="34" charset="0"/>
                <a:ea typeface="IBM Plex Sans" pitchFamily="34" charset="-122"/>
                <a:cs typeface="IBM Plex Sans" pitchFamily="34" charset="-120"/>
              </a:rPr>
              <a:t> hasn't learned enough</a:t>
            </a:r>
            <a:endParaRPr lang="en-US" sz="1400" dirty="0"/>
          </a:p>
        </p:txBody>
      </p:sp>
      <p:sp>
        <p:nvSpPr>
          <p:cNvPr id="18" name="Text 14"/>
          <p:cNvSpPr/>
          <p:nvPr/>
        </p:nvSpPr>
        <p:spPr>
          <a:xfrm>
            <a:off x="8661400" y="3271521"/>
            <a:ext cx="2799334"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EAF4FF"/>
                </a:solidFill>
                <a:latin typeface="IBM Plex Sans" pitchFamily="34" charset="0"/>
                <a:ea typeface="IBM Plex Sans" pitchFamily="34" charset="-122"/>
                <a:cs typeface="IBM Plex Sans" pitchFamily="34" charset="-120"/>
              </a:rPr>
              <a:t>Too complex:</a:t>
            </a:r>
            <a:r>
              <a:rPr lang="en-US" sz="1400" dirty="0">
                <a:solidFill>
                  <a:srgbClr val="A9C3E6"/>
                </a:solidFill>
                <a:latin typeface="IBM Plex Sans" pitchFamily="34" charset="0"/>
                <a:ea typeface="IBM Plex Sans" pitchFamily="34" charset="-122"/>
                <a:cs typeface="IBM Plex Sans" pitchFamily="34" charset="-120"/>
              </a:rPr>
              <a:t> memorises instead of learning</a:t>
            </a:r>
            <a:endParaRPr lang="en-US" sz="1400" dirty="0"/>
          </a:p>
        </p:txBody>
      </p:sp>
      <p:sp>
        <p:nvSpPr>
          <p:cNvPr id="19" name="Text 15"/>
          <p:cNvSpPr/>
          <p:nvPr/>
        </p:nvSpPr>
        <p:spPr>
          <a:xfrm>
            <a:off x="8661400" y="3929382"/>
            <a:ext cx="279933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AF4FF"/>
                </a:solidFill>
                <a:latin typeface="IBM Plex Sans" pitchFamily="34" charset="0"/>
                <a:ea typeface="IBM Plex Sans" pitchFamily="34" charset="-122"/>
                <a:cs typeface="IBM Plex Sans" pitchFamily="34" charset="-120"/>
              </a:rPr>
              <a:t>Only the cyan line can show you where to stop.</a:t>
            </a:r>
            <a:endParaRPr lang="en-US" sz="1400" dirty="0"/>
          </a:p>
        </p:txBody>
      </p:sp>
      <p:pic>
        <p:nvPicPr>
          <p:cNvPr id="20" name="Image 2" descr="ML Society logo">    </p:cNvPr>
          <p:cNvPicPr>
            <a:picLocks noChangeAspect="1"/>
          </p:cNvPicPr>
          <p:nvPr/>
        </p:nvPicPr>
        <p:blipFill>
          <a:blip r:embed="rId3"/>
          <a:srcRect l="0" r="0" t="0" b="0"/>
          <a:stretch/>
        </p:blipFill>
        <p:spPr>
          <a:xfrm>
            <a:off x="10769600" y="254000"/>
            <a:ext cx="609600" cy="609600"/>
          </a:xfrm>
          <a:prstGeom prst="ellipse">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14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4A90FF"/>
                </a:solidFill>
                <a:latin typeface="JetBrains Mono" pitchFamily="49" charset="0"/>
                <a:ea typeface="JetBrains Mono" pitchFamily="49" charset="-122"/>
                <a:cs typeface="JetBrains Mono" pitchFamily="49" charset="-120"/>
              </a:rPr>
              <a:t>ON KAGGLE</a:t>
            </a:r>
            <a:endParaRPr lang="en-US" sz="1300" dirty="0"/>
          </a:p>
        </p:txBody>
      </p:sp>
      <p:sp>
        <p:nvSpPr>
          <p:cNvPr id="3" name="Text 1"/>
          <p:cNvSpPr/>
          <p:nvPr>
            <p:ph type="title"/>
          </p:nvPr>
        </p:nvSpPr>
        <p:spPr>
          <a:xfrm>
            <a:off x="812800" y="13487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AF4FF"/>
                </a:solidFill>
                <a:latin typeface="Space Grotesk" pitchFamily="34" charset="0"/>
                <a:ea typeface="Space Grotesk" pitchFamily="34" charset="-122"/>
                <a:cs typeface="Space Grotesk" pitchFamily="34" charset="-120"/>
              </a:rPr>
              <a:t>Kaggle uses the same idea</a:t>
            </a:r>
            <a:endParaRPr lang="en-US" sz="3600" dirty="0"/>
          </a:p>
        </p:txBody>
      </p:sp>
      <p:sp>
        <p:nvSpPr>
          <p:cNvPr id="4" name="Shape 2"/>
          <p:cNvSpPr/>
          <p:nvPr/>
        </p:nvSpPr>
        <p:spPr>
          <a:xfrm>
            <a:off x="11376025" y="2156461"/>
            <a:ext cx="0" cy="2148840"/>
          </a:xfrm>
          <a:prstGeom prst="line">
            <a:avLst/>
          </a:prstGeom>
          <a:noFill/>
          <a:ln w="6350">
            <a:solidFill>
              <a:srgbClr val="1F3D72"/>
            </a:solidFill>
            <a:prstDash val="solid"/>
          </a:ln>
        </p:spPr>
      </p:sp>
      <p:sp>
        <p:nvSpPr>
          <p:cNvPr id="5" name="Shape 3"/>
          <p:cNvSpPr/>
          <p:nvPr/>
        </p:nvSpPr>
        <p:spPr>
          <a:xfrm>
            <a:off x="812800" y="4302126"/>
            <a:ext cx="10566400" cy="0"/>
          </a:xfrm>
          <a:prstGeom prst="line">
            <a:avLst/>
          </a:prstGeom>
          <a:noFill/>
          <a:ln w="6350">
            <a:solidFill>
              <a:srgbClr val="1F3D72"/>
            </a:solidFill>
            <a:prstDash val="solid"/>
          </a:ln>
        </p:spPr>
      </p:sp>
      <p:sp>
        <p:nvSpPr>
          <p:cNvPr id="6" name="Shape 4"/>
          <p:cNvSpPr/>
          <p:nvPr/>
        </p:nvSpPr>
        <p:spPr>
          <a:xfrm>
            <a:off x="812800" y="2161541"/>
            <a:ext cx="10566400" cy="0"/>
          </a:xfrm>
          <a:prstGeom prst="line">
            <a:avLst/>
          </a:prstGeom>
          <a:noFill/>
          <a:ln w="10160">
            <a:solidFill>
              <a:srgbClr val="FAF9F5">
                <a:alpha val="22000"/>
              </a:srgbClr>
            </a:solidFill>
            <a:prstDash val="solid"/>
          </a:ln>
        </p:spPr>
      </p:sp>
      <p:sp>
        <p:nvSpPr>
          <p:cNvPr id="7" name="Shape 5"/>
          <p:cNvSpPr/>
          <p:nvPr/>
        </p:nvSpPr>
        <p:spPr>
          <a:xfrm>
            <a:off x="817880" y="2156461"/>
            <a:ext cx="0" cy="2148840"/>
          </a:xfrm>
          <a:prstGeom prst="line">
            <a:avLst/>
          </a:prstGeom>
          <a:noFill/>
          <a:ln w="10160">
            <a:solidFill>
              <a:srgbClr val="FAF9F5">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026160" y="2306321"/>
          <a:ext cx="10144760" cy="1854200"/>
        </p:xfrm>
        <a:graphic>
          <a:graphicData uri="http://schemas.openxmlformats.org/drawingml/2006/table">
            <a:tbl>
              <a:tblPr/>
              <a:tblGrid>
                <a:gridCol w="5072380"/>
                <a:gridCol w="5072380"/>
              </a:tblGrid>
              <a:tr h="463550">
                <a:tc>
                  <a:txBody>
                    <a:bodyPr/>
                    <a:lstStyle/>
                    <a:p>
                      <a:pPr indent="0" marL="0">
                        <a:lnSpc>
                          <a:spcPts val="2380"/>
                        </a:lnSpc>
                        <a:buNone/>
                      </a:pPr>
                      <a:r>
                        <a:rPr lang="en-US" sz="1700" b="1" dirty="0">
                          <a:solidFill>
                            <a:srgbClr val="EAF4FF"/>
                          </a:solidFill>
                          <a:latin typeface="IBM Plex Sans" pitchFamily="34" charset="0"/>
                          <a:ea typeface="IBM Plex Sans" pitchFamily="34" charset="-122"/>
                          <a:cs typeface="IBM Plex Sans" pitchFamily="34" charset="-120"/>
                        </a:rPr>
                        <a:t>Exam prep</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3A4557"/>
                      </a:solidFill>
                      <a:prstDash val="solid"/>
                      <a:round/>
                      <a:headEnd type="none" w="med" len="med"/>
                      <a:tailEnd type="none" w="med" len="med"/>
                    </a:lnR>
                    <a:lnT w="0" cap="flat" cmpd="sng" algn="ctr">
                      <a:noFill/>
                    </a:lnT>
                    <a:lnB w="12700" cap="flat" cmpd="sng" algn="ctr">
                      <a:solidFill>
                        <a:srgbClr val="3A4557"/>
                      </a:solidFill>
                      <a:prstDash val="solid"/>
                      <a:round/>
                      <a:headEnd type="none" w="med" len="med"/>
                      <a:tailEnd type="none" w="med" len="med"/>
                    </a:lnB>
                    <a:solidFill>
                      <a:srgbClr val="04122B"/>
                    </a:solidFill>
                  </a:tcPr>
                </a:tc>
                <a:tc>
                  <a:txBody>
                    <a:bodyPr/>
                    <a:lstStyle/>
                    <a:p>
                      <a:pPr indent="0" marL="0">
                        <a:lnSpc>
                          <a:spcPts val="2380"/>
                        </a:lnSpc>
                        <a:buNone/>
                      </a:pPr>
                      <a:r>
                        <a:rPr lang="en-US" sz="1700" b="1" dirty="0">
                          <a:solidFill>
                            <a:srgbClr val="EAF4FF"/>
                          </a:solidFill>
                          <a:latin typeface="IBM Plex Sans" pitchFamily="34" charset="0"/>
                          <a:ea typeface="IBM Plex Sans" pitchFamily="34" charset="-122"/>
                          <a:cs typeface="IBM Plex Sans" pitchFamily="34" charset="-120"/>
                        </a:rPr>
                        <a:t>Kaggle</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3A4557"/>
                      </a:solidFill>
                      <a:prstDash val="solid"/>
                      <a:round/>
                      <a:headEnd type="none" w="med" len="med"/>
                      <a:tailEnd type="none" w="med" len="med"/>
                    </a:lnL>
                    <a:lnR w="12700" cap="flat" cmpd="sng" algn="ctr">
                      <a:solidFill>
                        <a:srgbClr val="3A4557"/>
                      </a:solidFill>
                      <a:prstDash val="solid"/>
                      <a:round/>
                      <a:headEnd type="none" w="med" len="med"/>
                      <a:tailEnd type="none" w="med" len="med"/>
                    </a:lnR>
                    <a:lnT w="0" cap="flat" cmpd="sng" algn="ctr">
                      <a:noFill/>
                    </a:lnT>
                    <a:lnB w="12700" cap="flat" cmpd="sng" algn="ctr">
                      <a:solidFill>
                        <a:srgbClr val="3A4557"/>
                      </a:solidFill>
                      <a:prstDash val="solid"/>
                      <a:round/>
                      <a:headEnd type="none" w="med" len="med"/>
                      <a:tailEnd type="none" w="med" len="med"/>
                    </a:lnB>
                    <a:solidFill>
                      <a:srgbClr val="04122B"/>
                    </a:solidFill>
                  </a:tcPr>
                </a:tc>
              </a:tr>
              <a:tr h="463550">
                <a:tc>
                  <a:txBody>
                    <a:bodyPr/>
                    <a:lstStyle/>
                    <a:p>
                      <a:pPr indent="0" marL="0">
                        <a:lnSpc>
                          <a:spcPts val="2380"/>
                        </a:lnSpc>
                        <a:buNone/>
                      </a:pPr>
                      <a:r>
                        <a:rPr lang="en-US" sz="1700" dirty="0">
                          <a:solidFill>
                            <a:srgbClr val="EAF4FF"/>
                          </a:solidFill>
                          <a:latin typeface="IBM Plex Sans" pitchFamily="34" charset="0"/>
                          <a:ea typeface="IBM Plex Sans" pitchFamily="34" charset="-122"/>
                          <a:cs typeface="IBM Plex Sans" pitchFamily="34" charset="-120"/>
                        </a:rPr>
                        <a:t>Textbook and practice questions</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43577C"/>
                      </a:solidFill>
                      <a:prstDash val="solid"/>
                      <a:round/>
                      <a:headEnd type="none" w="med" len="med"/>
                      <a:tailEnd type="none" w="med" len="med"/>
                    </a:lnR>
                    <a:lnT w="12700" cap="flat" cmpd="sng" algn="ctr">
                      <a:solidFill>
                        <a:srgbClr val="3A4557"/>
                      </a:solidFill>
                      <a:prstDash val="solid"/>
                      <a:round/>
                      <a:headEnd type="none" w="med" len="med"/>
                      <a:tailEnd type="none" w="med" len="med"/>
                    </a:lnT>
                    <a:lnB w="12700" cap="flat" cmpd="sng" algn="ctr">
                      <a:solidFill>
                        <a:srgbClr val="43577C"/>
                      </a:solidFill>
                      <a:prstDash val="solid"/>
                      <a:round/>
                      <a:headEnd type="none" w="med" len="med"/>
                      <a:tailEnd type="none" w="med" len="med"/>
                    </a:lnB>
                    <a:solidFill>
                      <a:srgbClr val="10295A"/>
                    </a:solidFill>
                  </a:tcPr>
                </a:tc>
                <a:tc>
                  <a:txBody>
                    <a:bodyPr/>
                    <a:lstStyle/>
                    <a:p>
                      <a:pPr indent="0" marL="0">
                        <a:lnSpc>
                          <a:spcPts val="2380"/>
                        </a:lnSpc>
                        <a:buNone/>
                      </a:pPr>
                      <a:r>
                        <a:rPr lang="en-US" sz="1700" dirty="0">
                          <a:solidFill>
                            <a:srgbClr val="EAF4FF"/>
                          </a:solidFill>
                          <a:latin typeface="IBM Plex Sans" pitchFamily="34" charset="0"/>
                          <a:ea typeface="IBM Plex Sans" pitchFamily="34" charset="-122"/>
                          <a:cs typeface="IBM Plex Sans" pitchFamily="34" charset="-120"/>
                        </a:rPr>
                        <a:t>train.csv</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43577C"/>
                      </a:solidFill>
                      <a:prstDash val="solid"/>
                      <a:round/>
                      <a:headEnd type="none" w="med" len="med"/>
                      <a:tailEnd type="none" w="med" len="med"/>
                    </a:lnL>
                    <a:lnR w="12700" cap="flat" cmpd="sng" algn="ctr">
                      <a:solidFill>
                        <a:srgbClr val="43577C"/>
                      </a:solidFill>
                      <a:prstDash val="solid"/>
                      <a:round/>
                      <a:headEnd type="none" w="med" len="med"/>
                      <a:tailEnd type="none" w="med" len="med"/>
                    </a:lnR>
                    <a:lnT w="12700" cap="flat" cmpd="sng" algn="ctr">
                      <a:solidFill>
                        <a:srgbClr val="3A4557"/>
                      </a:solidFill>
                      <a:prstDash val="solid"/>
                      <a:round/>
                      <a:headEnd type="none" w="med" len="med"/>
                      <a:tailEnd type="none" w="med" len="med"/>
                    </a:lnT>
                    <a:lnB w="12700" cap="flat" cmpd="sng" algn="ctr">
                      <a:solidFill>
                        <a:srgbClr val="43577C"/>
                      </a:solidFill>
                      <a:prstDash val="solid"/>
                      <a:round/>
                      <a:headEnd type="none" w="med" len="med"/>
                      <a:tailEnd type="none" w="med" len="med"/>
                    </a:lnB>
                    <a:solidFill>
                      <a:srgbClr val="10295A"/>
                    </a:solidFill>
                  </a:tcPr>
                </a:tc>
              </a:tr>
              <a:tr h="463550">
                <a:tc>
                  <a:txBody>
                    <a:bodyPr/>
                    <a:lstStyle/>
                    <a:p>
                      <a:pPr indent="0" marL="0">
                        <a:lnSpc>
                          <a:spcPts val="2380"/>
                        </a:lnSpc>
                        <a:buNone/>
                      </a:pPr>
                      <a:r>
                        <a:rPr lang="en-US" sz="1700" dirty="0">
                          <a:solidFill>
                            <a:srgbClr val="EAF4FF"/>
                          </a:solidFill>
                          <a:latin typeface="IBM Plex Sans" pitchFamily="34" charset="0"/>
                          <a:ea typeface="IBM Plex Sans" pitchFamily="34" charset="-122"/>
                          <a:cs typeface="IBM Plex Sans" pitchFamily="34" charset="-120"/>
                        </a:rPr>
                        <a:t>Mock exam</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40516E"/>
                      </a:solidFill>
                      <a:prstDash val="solid"/>
                      <a:round/>
                      <a:headEnd type="none" w="med" len="med"/>
                      <a:tailEnd type="none" w="med" len="med"/>
                    </a:lnR>
                    <a:lnT w="12700" cap="flat" cmpd="sng" algn="ctr">
                      <a:solidFill>
                        <a:srgbClr val="43577C"/>
                      </a:solidFill>
                      <a:prstDash val="solid"/>
                      <a:round/>
                      <a:headEnd type="none" w="med" len="med"/>
                      <a:tailEnd type="none" w="med" len="med"/>
                    </a:lnT>
                    <a:lnB w="12700" cap="flat" cmpd="sng" algn="ctr">
                      <a:solidFill>
                        <a:srgbClr val="40516E"/>
                      </a:solidFill>
                      <a:prstDash val="solid"/>
                      <a:round/>
                      <a:headEnd type="none" w="med" len="med"/>
                      <a:tailEnd type="none" w="med" len="med"/>
                    </a:lnB>
                    <a:solidFill>
                      <a:srgbClr val="0B2148"/>
                    </a:solidFill>
                  </a:tcPr>
                </a:tc>
                <a:tc>
                  <a:txBody>
                    <a:bodyPr/>
                    <a:lstStyle/>
                    <a:p>
                      <a:pPr indent="0" marL="0">
                        <a:lnSpc>
                          <a:spcPts val="2380"/>
                        </a:lnSpc>
                        <a:buNone/>
                      </a:pPr>
                      <a:r>
                        <a:rPr lang="en-US" sz="1700" dirty="0">
                          <a:solidFill>
                            <a:srgbClr val="EAF4FF"/>
                          </a:solidFill>
                          <a:latin typeface="IBM Plex Sans" pitchFamily="34" charset="0"/>
                          <a:ea typeface="IBM Plex Sans" pitchFamily="34" charset="-122"/>
                          <a:cs typeface="IBM Plex Sans" pitchFamily="34" charset="-120"/>
                        </a:rPr>
                        <a:t>Public leaderboard</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40516E"/>
                      </a:solidFill>
                      <a:prstDash val="solid"/>
                      <a:round/>
                      <a:headEnd type="none" w="med" len="med"/>
                      <a:tailEnd type="none" w="med" len="med"/>
                    </a:lnL>
                    <a:lnR w="12700" cap="flat" cmpd="sng" algn="ctr">
                      <a:solidFill>
                        <a:srgbClr val="40516E"/>
                      </a:solidFill>
                      <a:prstDash val="solid"/>
                      <a:round/>
                      <a:headEnd type="none" w="med" len="med"/>
                      <a:tailEnd type="none" w="med" len="med"/>
                    </a:lnR>
                    <a:lnT w="12700" cap="flat" cmpd="sng" algn="ctr">
                      <a:solidFill>
                        <a:srgbClr val="43577C"/>
                      </a:solidFill>
                      <a:prstDash val="solid"/>
                      <a:round/>
                      <a:headEnd type="none" w="med" len="med"/>
                      <a:tailEnd type="none" w="med" len="med"/>
                    </a:lnT>
                    <a:lnB w="12700" cap="flat" cmpd="sng" algn="ctr">
                      <a:solidFill>
                        <a:srgbClr val="40516E"/>
                      </a:solidFill>
                      <a:prstDash val="solid"/>
                      <a:round/>
                      <a:headEnd type="none" w="med" len="med"/>
                      <a:tailEnd type="none" w="med" len="med"/>
                    </a:lnB>
                    <a:solidFill>
                      <a:srgbClr val="0B2148"/>
                    </a:solidFill>
                  </a:tcPr>
                </a:tc>
              </a:tr>
              <a:tr h="463550">
                <a:tc>
                  <a:txBody>
                    <a:bodyPr/>
                    <a:lstStyle/>
                    <a:p>
                      <a:pPr indent="0" marL="0">
                        <a:lnSpc>
                          <a:spcPts val="2380"/>
                        </a:lnSpc>
                        <a:buNone/>
                      </a:pPr>
                      <a:r>
                        <a:rPr lang="en-US" sz="1700" dirty="0">
                          <a:solidFill>
                            <a:srgbClr val="EAF4FF"/>
                          </a:solidFill>
                          <a:latin typeface="IBM Plex Sans" pitchFamily="34" charset="0"/>
                          <a:ea typeface="IBM Plex Sans" pitchFamily="34" charset="-122"/>
                          <a:cs typeface="IBM Plex Sans" pitchFamily="34" charset="-120"/>
                        </a:rPr>
                        <a:t>Real exam</a:t>
                      </a:r>
                      <a:endParaRPr lang="en-US" sz="1700" dirty="0">
                        <a:latin typeface="IBM Plex Sans" charset="0"/>
                        <a:ea typeface="IBM Plex Sans" charset="0"/>
                        <a:cs typeface="IBM Plex Sans" charset="0"/>
                      </a:endParaRPr>
                    </a:p>
                  </a:txBody>
                  <a:tcPr marL="75565" marR="75565" marT="75565" marB="75565" anchor="t">
                    <a:lnL w="0" cap="flat" cmpd="sng" algn="ctr">
                      <a:noFill/>
                    </a:lnL>
                    <a:lnR w="12700" cap="flat" cmpd="sng" algn="ctr">
                      <a:solidFill>
                        <a:srgbClr val="43577C"/>
                      </a:solidFill>
                      <a:prstDash val="solid"/>
                      <a:round/>
                      <a:headEnd type="none" w="med" len="med"/>
                      <a:tailEnd type="none" w="med" len="med"/>
                    </a:lnR>
                    <a:lnT w="12700" cap="flat" cmpd="sng" algn="ctr">
                      <a:solidFill>
                        <a:srgbClr val="40516E"/>
                      </a:solidFill>
                      <a:prstDash val="solid"/>
                      <a:round/>
                      <a:headEnd type="none" w="med" len="med"/>
                      <a:tailEnd type="none" w="med" len="med"/>
                    </a:lnT>
                    <a:lnB w="12700" cap="flat" cmpd="sng" algn="ctr">
                      <a:solidFill>
                        <a:srgbClr val="43577C"/>
                      </a:solidFill>
                      <a:prstDash val="solid"/>
                      <a:round/>
                      <a:headEnd type="none" w="med" len="med"/>
                      <a:tailEnd type="none" w="med" len="med"/>
                    </a:lnB>
                    <a:solidFill>
                      <a:srgbClr val="10295A"/>
                    </a:solidFill>
                  </a:tcPr>
                </a:tc>
                <a:tc>
                  <a:txBody>
                    <a:bodyPr/>
                    <a:lstStyle/>
                    <a:p>
                      <a:pPr indent="0" marL="0">
                        <a:lnSpc>
                          <a:spcPts val="2380"/>
                        </a:lnSpc>
                        <a:buNone/>
                      </a:pPr>
                      <a:r>
                        <a:rPr lang="en-US" sz="1700" dirty="0">
                          <a:solidFill>
                            <a:srgbClr val="EAF4FF"/>
                          </a:solidFill>
                          <a:latin typeface="IBM Plex Sans" pitchFamily="34" charset="0"/>
                          <a:ea typeface="IBM Plex Sans" pitchFamily="34" charset="-122"/>
                          <a:cs typeface="IBM Plex Sans" pitchFamily="34" charset="-120"/>
                        </a:rPr>
                        <a:t>Private leaderboard</a:t>
                      </a:r>
                      <a:endParaRPr lang="en-US" sz="1700" dirty="0">
                        <a:latin typeface="IBM Plex Sans" charset="0"/>
                        <a:ea typeface="IBM Plex Sans" charset="0"/>
                        <a:cs typeface="IBM Plex Sans" charset="0"/>
                      </a:endParaRPr>
                    </a:p>
                  </a:txBody>
                  <a:tcPr marL="75565" marR="75565" marT="75565" marB="75565" anchor="t">
                    <a:lnL w="12700" cap="flat" cmpd="sng" algn="ctr">
                      <a:solidFill>
                        <a:srgbClr val="43577C"/>
                      </a:solidFill>
                      <a:prstDash val="solid"/>
                      <a:round/>
                      <a:headEnd type="none" w="med" len="med"/>
                      <a:tailEnd type="none" w="med" len="med"/>
                    </a:lnL>
                    <a:lnR w="12700" cap="flat" cmpd="sng" algn="ctr">
                      <a:solidFill>
                        <a:srgbClr val="43577C"/>
                      </a:solidFill>
                      <a:prstDash val="solid"/>
                      <a:round/>
                      <a:headEnd type="none" w="med" len="med"/>
                      <a:tailEnd type="none" w="med" len="med"/>
                    </a:lnR>
                    <a:lnT w="12700" cap="flat" cmpd="sng" algn="ctr">
                      <a:solidFill>
                        <a:srgbClr val="40516E"/>
                      </a:solidFill>
                      <a:prstDash val="solid"/>
                      <a:round/>
                      <a:headEnd type="none" w="med" len="med"/>
                      <a:tailEnd type="none" w="med" len="med"/>
                    </a:lnT>
                    <a:lnB w="12700" cap="flat" cmpd="sng" algn="ctr">
                      <a:solidFill>
                        <a:srgbClr val="43577C"/>
                      </a:solidFill>
                      <a:prstDash val="solid"/>
                      <a:round/>
                      <a:headEnd type="none" w="med" len="med"/>
                      <a:tailEnd type="none" w="med" len="med"/>
                    </a:lnB>
                    <a:solidFill>
                      <a:srgbClr val="10295A"/>
                    </a:solidFill>
                  </a:tcPr>
                </a:tc>
              </a:tr>
            </a:tbl>
          </a:graphicData>
        </a:graphic>
      </p:graphicFrame>
      <p:sp>
        <p:nvSpPr>
          <p:cNvPr id="9" name="Shape 6"/>
          <p:cNvSpPr/>
          <p:nvPr/>
        </p:nvSpPr>
        <p:spPr>
          <a:xfrm>
            <a:off x="812800" y="4610100"/>
            <a:ext cx="10566400" cy="1026160"/>
          </a:xfrm>
          <a:prstGeom prst="roundRect">
            <a:avLst>
              <a:gd name="adj" fmla="val 9901"/>
            </a:avLst>
          </a:prstGeom>
          <a:solidFill>
            <a:srgbClr val="04122B"/>
          </a:solidFill>
          <a:ln/>
        </p:spPr>
      </p:sp>
      <p:pic>
        <p:nvPicPr>
          <p:cNvPr id="10" name="Image 0" descr="Warning">    </p:cNvPr>
          <p:cNvPicPr>
            <a:picLocks noChangeAspect="1"/>
          </p:cNvPicPr>
          <p:nvPr/>
        </p:nvPicPr>
        <p:blipFill>
          <a:blip r:embed="rId1"/>
          <a:srcRect l="0" r="0" t="-412" b="-412"/>
          <a:stretch/>
        </p:blipFill>
        <p:spPr>
          <a:xfrm>
            <a:off x="1092200" y="4945379"/>
            <a:ext cx="308610" cy="355600"/>
          </a:xfrm>
          <a:prstGeom prst="rect">
            <a:avLst/>
          </a:prstGeom>
        </p:spPr>
      </p:pic>
      <p:sp>
        <p:nvSpPr>
          <p:cNvPr id="11" name="Text 7"/>
          <p:cNvSpPr/>
          <p:nvPr/>
        </p:nvSpPr>
        <p:spPr>
          <a:xfrm>
            <a:off x="1578610" y="4838700"/>
            <a:ext cx="9806826"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BFF"/>
                </a:solidFill>
                <a:latin typeface="IBM Plex Sans" pitchFamily="34" charset="0"/>
                <a:ea typeface="IBM Plex Sans" pitchFamily="34" charset="-122"/>
                <a:cs typeface="IBM Plex Sans" pitchFamily="34" charset="-120"/>
              </a:rPr>
              <a:t>If you only practise for the mock exam, the real one will surprise you. </a:t>
            </a:r>
            <a:r>
              <a:rPr lang="en-US" sz="1600" b="1" dirty="0">
                <a:solidFill>
                  <a:srgbClr val="6EE0FF"/>
                </a:solidFill>
                <a:latin typeface="IBM Plex Sans" pitchFamily="34" charset="0"/>
                <a:ea typeface="IBM Plex Sans" pitchFamily="34" charset="-122"/>
                <a:cs typeface="IBM Plex Sans" pitchFamily="34" charset="-120"/>
              </a:rPr>
              <a:t>Trust your own check, not the public leaderboard.</a:t>
            </a:r>
            <a:endParaRPr lang="en-US" sz="1600" dirty="0"/>
          </a:p>
        </p:txBody>
      </p:sp>
      <p:pic>
        <p:nvPicPr>
          <p:cNvPr id="12" name="Image 1" descr="ML Society logo">    </p:cNvPr>
          <p:cNvPicPr>
            <a:picLocks noChangeAspect="1"/>
          </p:cNvPicPr>
          <p:nvPr/>
        </p:nvPicPr>
        <p:blipFill>
          <a:blip r:embed="rId2"/>
          <a:srcRect l="0" r="0" t="0" b="0"/>
          <a:stretch/>
        </p:blipFill>
        <p:spPr>
          <a:xfrm>
            <a:off x="10769600" y="254000"/>
            <a:ext cx="609600" cy="609600"/>
          </a:xfrm>
          <a:prstGeom prst="ellipse">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A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7FB2FF"/>
                </a:solidFill>
                <a:latin typeface="JetBrains Mono" pitchFamily="49" charset="0"/>
                <a:ea typeface="JetBrains Mono" pitchFamily="49" charset="-122"/>
                <a:cs typeface="JetBrains Mono" pitchFamily="49" charset="-120"/>
              </a:rPr>
              <a:t>LEAKAGE</a:t>
            </a:r>
            <a:endParaRPr lang="en-US" sz="1300" dirty="0"/>
          </a:p>
        </p:txBody>
      </p:sp>
      <p:sp>
        <p:nvSpPr>
          <p:cNvPr id="3" name="Text 1"/>
          <p:cNvSpPr/>
          <p:nvPr>
            <p:ph type="title"/>
          </p:nvPr>
        </p:nvSpPr>
        <p:spPr>
          <a:xfrm>
            <a:off x="812800" y="1348742"/>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AF4FF"/>
                </a:solidFill>
                <a:latin typeface="Space Grotesk" pitchFamily="34" charset="0"/>
                <a:ea typeface="Space Grotesk" pitchFamily="34" charset="-122"/>
                <a:cs typeface="Space Grotesk" pitchFamily="34" charset="-120"/>
              </a:rPr>
              <a:t>Don't let the answers leak in</a:t>
            </a:r>
            <a:endParaRPr lang="en-US" sz="3600" dirty="0"/>
          </a:p>
        </p:txBody>
      </p:sp>
      <p:sp>
        <p:nvSpPr>
          <p:cNvPr id="4" name="Text 2"/>
          <p:cNvSpPr/>
          <p:nvPr/>
        </p:nvSpPr>
        <p:spPr>
          <a:xfrm>
            <a:off x="812800" y="2156464"/>
            <a:ext cx="10883392"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9C3E6"/>
                </a:solidFill>
                <a:latin typeface="IBM Plex Sans" pitchFamily="34" charset="0"/>
                <a:ea typeface="IBM Plex Sans" pitchFamily="34" charset="-122"/>
                <a:cs typeface="IBM Plex Sans" pitchFamily="34" charset="-120"/>
              </a:rPr>
              <a:t>We gave a model </a:t>
            </a:r>
            <a:r>
              <a:rPr lang="en-US" sz="1700" b="1" dirty="0">
                <a:solidFill>
                  <a:srgbClr val="EAF4FF"/>
                </a:solidFill>
                <a:latin typeface="IBM Plex Sans" pitchFamily="34" charset="0"/>
                <a:ea typeface="IBM Plex Sans" pitchFamily="34" charset="-122"/>
                <a:cs typeface="IBM Plex Sans" pitchFamily="34" charset="-120"/>
              </a:rPr>
              <a:t>random noise</a:t>
            </a:r>
            <a:r>
              <a:rPr lang="en-US" sz="1700" dirty="0">
                <a:solidFill>
                  <a:srgbClr val="A9C3E6"/>
                </a:solidFill>
                <a:latin typeface="IBM Plex Sans" pitchFamily="34" charset="0"/>
                <a:ea typeface="IBM Plex Sans" pitchFamily="34" charset="-122"/>
                <a:cs typeface="IBM Plex Sans" pitchFamily="34" charset="-120"/>
              </a:rPr>
              <a:t>: nothing real to learn.</a:t>
            </a:r>
            <a:endParaRPr lang="en-US" sz="1700" dirty="0"/>
          </a:p>
          <a:p>
            <a:pPr algn="l" indent="0" marL="0">
              <a:lnSpc>
                <a:spcPts val="2380"/>
              </a:lnSpc>
              <a:buNone/>
            </a:pPr>
            <a:r>
              <a:rPr lang="en-US" sz="1700" dirty="0">
                <a:solidFill>
                  <a:srgbClr val="A9C3E6"/>
                </a:solidFill>
                <a:latin typeface="IBM Plex Sans" pitchFamily="34" charset="0"/>
                <a:ea typeface="IBM Plex Sans" pitchFamily="34" charset="-122"/>
                <a:cs typeface="IBM Plex Sans" pitchFamily="34" charset="-120"/>
              </a:rPr>
              <a:t>A fair test should score about 0.5, just guessing.</a:t>
            </a:r>
            <a:endParaRPr lang="en-US" sz="1700" dirty="0"/>
          </a:p>
        </p:txBody>
      </p:sp>
      <p:sp>
        <p:nvSpPr>
          <p:cNvPr id="5" name="Shape 3"/>
          <p:cNvSpPr/>
          <p:nvPr/>
        </p:nvSpPr>
        <p:spPr>
          <a:xfrm>
            <a:off x="812800" y="3065779"/>
            <a:ext cx="5181600" cy="2288540"/>
          </a:xfrm>
          <a:prstGeom prst="roundRect">
            <a:avLst>
              <a:gd name="adj" fmla="val 5549"/>
            </a:avLst>
          </a:prstGeom>
          <a:solidFill>
            <a:srgbClr val="10295A"/>
          </a:solidFill>
          <a:ln/>
        </p:spPr>
      </p:sp>
      <p:sp>
        <p:nvSpPr>
          <p:cNvPr id="6" name="Shape 4"/>
          <p:cNvSpPr/>
          <p:nvPr/>
        </p:nvSpPr>
        <p:spPr>
          <a:xfrm>
            <a:off x="812800" y="3065779"/>
            <a:ext cx="5181600" cy="2288540"/>
          </a:xfrm>
          <a:custGeom>
            <a:avLst/>
            <a:gdLst/>
            <a:ahLst/>
            <a:cxnLst/>
            <a:rect l="l" t="t" r="r" b="b"/>
            <a:pathLst>
              <a:path w="5181600" h="2288540">
                <a:moveTo>
                  <a:pt x="0" y="127000"/>
                </a:moveTo>
                <a:lnTo>
                  <a:pt x="0" y="127000"/>
                </a:lnTo>
                <a:arcTo hR="127000" wR="127000" stAng="10800000" swAng="5400000"/>
                <a:lnTo>
                  <a:pt x="5054600" y="0"/>
                </a:lnTo>
                <a:arcTo hR="127000" wR="127000" stAng="16200000" swAng="5400000"/>
                <a:lnTo>
                  <a:pt x="5181600" y="127000"/>
                </a:lnTo>
                <a:arcTo hR="76200" wR="127000" stAng="0" swAng="-5400000"/>
                <a:lnTo>
                  <a:pt x="127000" y="50800"/>
                </a:lnTo>
                <a:arcTo hR="76200" wR="127000" stAng="16200000" swAng="-5400000"/>
                <a:close/>
              </a:path>
            </a:pathLst>
          </a:custGeom>
          <a:solidFill>
            <a:srgbClr val="6EE0FF"/>
          </a:solidFill>
          <a:ln/>
        </p:spPr>
      </p:sp>
      <p:sp>
        <p:nvSpPr>
          <p:cNvPr id="7" name="Text 5"/>
          <p:cNvSpPr/>
          <p:nvPr/>
        </p:nvSpPr>
        <p:spPr>
          <a:xfrm>
            <a:off x="1092200" y="3395979"/>
            <a:ext cx="476148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EE0FF"/>
                </a:solidFill>
                <a:latin typeface="JetBrains Mono" pitchFamily="49" charset="0"/>
                <a:ea typeface="JetBrains Mono" pitchFamily="49" charset="-122"/>
                <a:cs typeface="JetBrains Mono" pitchFamily="49" charset="-120"/>
              </a:rPr>
              <a:t>LEAKY</a:t>
            </a:r>
            <a:endParaRPr lang="en-US" sz="1300" dirty="0"/>
          </a:p>
        </p:txBody>
      </p:sp>
      <p:sp>
        <p:nvSpPr>
          <p:cNvPr id="8" name="Text 6"/>
          <p:cNvSpPr/>
          <p:nvPr/>
        </p:nvSpPr>
        <p:spPr>
          <a:xfrm>
            <a:off x="1092200" y="3703321"/>
            <a:ext cx="476148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6EE0FF"/>
                </a:solidFill>
                <a:latin typeface="Space Grotesk" pitchFamily="34" charset="0"/>
                <a:ea typeface="Space Grotesk" pitchFamily="34" charset="-122"/>
                <a:cs typeface="Space Grotesk" pitchFamily="34" charset="-120"/>
              </a:rPr>
              <a:t>0.92</a:t>
            </a:r>
            <a:endParaRPr lang="en-US" sz="6000" dirty="0"/>
          </a:p>
        </p:txBody>
      </p:sp>
      <p:sp>
        <p:nvSpPr>
          <p:cNvPr id="9" name="Text 7"/>
          <p:cNvSpPr/>
          <p:nvPr/>
        </p:nvSpPr>
        <p:spPr>
          <a:xfrm>
            <a:off x="1092200" y="4541521"/>
            <a:ext cx="47614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C3E6"/>
                </a:solidFill>
                <a:latin typeface="IBM Plex Sans" pitchFamily="34" charset="0"/>
                <a:ea typeface="IBM Plex Sans" pitchFamily="34" charset="-122"/>
                <a:cs typeface="IBM Plex Sans" pitchFamily="34" charset="-120"/>
              </a:rPr>
              <a:t>Prepared the data while looking at </a:t>
            </a:r>
            <a:r>
              <a:rPr lang="en-US" sz="1500" b="1" dirty="0">
                <a:solidFill>
                  <a:srgbClr val="EAF4FF"/>
                </a:solidFill>
                <a:latin typeface="IBM Plex Sans" pitchFamily="34" charset="0"/>
                <a:ea typeface="IBM Plex Sans" pitchFamily="34" charset="-122"/>
                <a:cs typeface="IBM Plex Sans" pitchFamily="34" charset="-120"/>
              </a:rPr>
              <a:t>all</a:t>
            </a:r>
            <a:r>
              <a:rPr lang="en-US" sz="1500" dirty="0">
                <a:solidFill>
                  <a:srgbClr val="A9C3E6"/>
                </a:solidFill>
                <a:latin typeface="IBM Plex Sans" pitchFamily="34" charset="0"/>
                <a:ea typeface="IBM Plex Sans" pitchFamily="34" charset="-122"/>
                <a:cs typeface="IBM Plex Sans" pitchFamily="34" charset="-120"/>
              </a:rPr>
              <a:t> of it, check data included. Looks brilliant. It's fake.</a:t>
            </a:r>
            <a:endParaRPr lang="en-US" sz="1500" dirty="0"/>
          </a:p>
        </p:txBody>
      </p:sp>
      <p:sp>
        <p:nvSpPr>
          <p:cNvPr id="10" name="Shape 8"/>
          <p:cNvSpPr/>
          <p:nvPr/>
        </p:nvSpPr>
        <p:spPr>
          <a:xfrm>
            <a:off x="6197600" y="3065779"/>
            <a:ext cx="5181600" cy="2288540"/>
          </a:xfrm>
          <a:prstGeom prst="roundRect">
            <a:avLst>
              <a:gd name="adj" fmla="val 5549"/>
            </a:avLst>
          </a:prstGeom>
          <a:solidFill>
            <a:srgbClr val="10295A"/>
          </a:solidFill>
          <a:ln/>
        </p:spPr>
      </p:sp>
      <p:sp>
        <p:nvSpPr>
          <p:cNvPr id="11" name="Shape 9"/>
          <p:cNvSpPr/>
          <p:nvPr/>
        </p:nvSpPr>
        <p:spPr>
          <a:xfrm>
            <a:off x="6197600" y="3065779"/>
            <a:ext cx="5181600" cy="2288540"/>
          </a:xfrm>
          <a:custGeom>
            <a:avLst/>
            <a:gdLst/>
            <a:ahLst/>
            <a:cxnLst/>
            <a:rect l="l" t="t" r="r" b="b"/>
            <a:pathLst>
              <a:path w="5181600" h="2288540">
                <a:moveTo>
                  <a:pt x="0" y="127000"/>
                </a:moveTo>
                <a:lnTo>
                  <a:pt x="0" y="127000"/>
                </a:lnTo>
                <a:arcTo hR="127000" wR="127000" stAng="10800000" swAng="5400000"/>
                <a:lnTo>
                  <a:pt x="5054600" y="0"/>
                </a:lnTo>
                <a:arcTo hR="127000" wR="127000" stAng="16200000" swAng="5400000"/>
                <a:lnTo>
                  <a:pt x="5181600" y="127000"/>
                </a:lnTo>
                <a:arcTo hR="76200" wR="127000" stAng="0" swAng="-5400000"/>
                <a:lnTo>
                  <a:pt x="127000" y="50800"/>
                </a:lnTo>
                <a:arcTo hR="76200" wR="127000" stAng="16200000" swAng="-5400000"/>
                <a:close/>
              </a:path>
            </a:pathLst>
          </a:custGeom>
          <a:solidFill>
            <a:srgbClr val="4A90FF"/>
          </a:solidFill>
          <a:ln/>
        </p:spPr>
      </p:sp>
      <p:sp>
        <p:nvSpPr>
          <p:cNvPr id="12" name="Text 10"/>
          <p:cNvSpPr/>
          <p:nvPr/>
        </p:nvSpPr>
        <p:spPr>
          <a:xfrm>
            <a:off x="6477000" y="3395979"/>
            <a:ext cx="476148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FB2FF"/>
                </a:solidFill>
                <a:latin typeface="JetBrains Mono" pitchFamily="49" charset="0"/>
                <a:ea typeface="JetBrains Mono" pitchFamily="49" charset="-122"/>
                <a:cs typeface="JetBrains Mono" pitchFamily="49" charset="-120"/>
              </a:rPr>
              <a:t>FAIR</a:t>
            </a:r>
            <a:endParaRPr lang="en-US" sz="1300" dirty="0"/>
          </a:p>
        </p:txBody>
      </p:sp>
      <p:sp>
        <p:nvSpPr>
          <p:cNvPr id="13" name="Text 11"/>
          <p:cNvSpPr/>
          <p:nvPr/>
        </p:nvSpPr>
        <p:spPr>
          <a:xfrm>
            <a:off x="6477000" y="3703321"/>
            <a:ext cx="476148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7FB2FF"/>
                </a:solidFill>
                <a:latin typeface="Space Grotesk" pitchFamily="34" charset="0"/>
                <a:ea typeface="Space Grotesk" pitchFamily="34" charset="-122"/>
                <a:cs typeface="Space Grotesk" pitchFamily="34" charset="-120"/>
              </a:rPr>
              <a:t>0.54</a:t>
            </a:r>
            <a:endParaRPr lang="en-US" sz="6000" dirty="0"/>
          </a:p>
        </p:txBody>
      </p:sp>
      <p:sp>
        <p:nvSpPr>
          <p:cNvPr id="14" name="Text 12"/>
          <p:cNvSpPr/>
          <p:nvPr/>
        </p:nvSpPr>
        <p:spPr>
          <a:xfrm>
            <a:off x="6477000" y="4541521"/>
            <a:ext cx="47614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C3E6"/>
                </a:solidFill>
                <a:latin typeface="IBM Plex Sans" pitchFamily="34" charset="0"/>
                <a:ea typeface="IBM Plex Sans" pitchFamily="34" charset="-122"/>
                <a:cs typeface="IBM Plex Sans" pitchFamily="34" charset="-120"/>
              </a:rPr>
              <a:t>Prepared the data using </a:t>
            </a:r>
            <a:r>
              <a:rPr lang="en-US" sz="1500" b="1" dirty="0">
                <a:solidFill>
                  <a:srgbClr val="EAF4FF"/>
                </a:solidFill>
                <a:latin typeface="IBM Plex Sans" pitchFamily="34" charset="0"/>
                <a:ea typeface="IBM Plex Sans" pitchFamily="34" charset="-122"/>
                <a:cs typeface="IBM Plex Sans" pitchFamily="34" charset="-120"/>
              </a:rPr>
              <a:t>only</a:t>
            </a:r>
            <a:r>
              <a:rPr lang="en-US" sz="1500" dirty="0">
                <a:solidFill>
                  <a:srgbClr val="A9C3E6"/>
                </a:solidFill>
                <a:latin typeface="IBM Plex Sans" pitchFamily="34" charset="0"/>
                <a:ea typeface="IBM Plex Sans" pitchFamily="34" charset="-122"/>
                <a:cs typeface="IBM Plex Sans" pitchFamily="34" charset="-120"/>
              </a:rPr>
              <a:t> the training part. Correctly says: nothing here.</a:t>
            </a:r>
            <a:endParaRPr lang="en-US" sz="1500" dirty="0"/>
          </a:p>
        </p:txBody>
      </p:sp>
      <p:pic>
        <p:nvPicPr>
          <p:cNvPr id="15" name="Image 0" descr="ML Society logo">    </p:cNvPr>
          <p:cNvPicPr>
            <a:picLocks noChangeAspect="1"/>
          </p:cNvPicPr>
          <p:nvPr/>
        </p:nvPicPr>
        <p:blipFill>
          <a:blip r:embed="rId1"/>
          <a:srcRect l="0" r="0" t="0" b="0"/>
          <a:stretch/>
        </p:blipFill>
        <p:spPr>
          <a:xfrm>
            <a:off x="10769600" y="254000"/>
            <a:ext cx="609600" cy="609600"/>
          </a:xfrm>
          <a:prstGeom prst="ellipse">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14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4A90FF"/>
                </a:solidFill>
                <a:latin typeface="JetBrains Mono" pitchFamily="49" charset="0"/>
                <a:ea typeface="JetBrains Mono" pitchFamily="49" charset="-122"/>
                <a:cs typeface="JetBrains Mono" pitchFamily="49" charset="-120"/>
              </a:rPr>
              <a:t>HOW TO AVOID LEAKS</a:t>
            </a:r>
            <a:endParaRPr lang="en-US" sz="1300" dirty="0"/>
          </a:p>
        </p:txBody>
      </p:sp>
      <p:sp>
        <p:nvSpPr>
          <p:cNvPr id="3" name="Text 1"/>
          <p:cNvSpPr/>
          <p:nvPr>
            <p:ph type="title"/>
          </p:nvPr>
        </p:nvSpPr>
        <p:spPr>
          <a:xfrm>
            <a:off x="812800" y="1399542"/>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AF4FF"/>
                </a:solidFill>
                <a:latin typeface="Space Grotesk" pitchFamily="34" charset="0"/>
                <a:ea typeface="Space Grotesk" pitchFamily="34" charset="-122"/>
                <a:cs typeface="Space Grotesk" pitchFamily="34" charset="-120"/>
              </a:rPr>
              <a:t>Bundle every step into a Pipeline</a:t>
            </a:r>
            <a:endParaRPr lang="en-US" sz="3600" dirty="0"/>
          </a:p>
        </p:txBody>
      </p:sp>
      <p:sp>
        <p:nvSpPr>
          <p:cNvPr id="4" name="Shape 2"/>
          <p:cNvSpPr/>
          <p:nvPr/>
        </p:nvSpPr>
        <p:spPr>
          <a:xfrm>
            <a:off x="819150" y="2264414"/>
            <a:ext cx="3035300" cy="1394460"/>
          </a:xfrm>
          <a:prstGeom prst="roundRect">
            <a:avLst>
              <a:gd name="adj" fmla="val 8652"/>
            </a:avLst>
          </a:prstGeom>
          <a:solidFill>
            <a:srgbClr val="10295A"/>
          </a:solidFill>
          <a:ln w="12700">
            <a:solidFill>
              <a:srgbClr val="4A90FF"/>
            </a:solidFill>
            <a:prstDash val="solid"/>
          </a:ln>
        </p:spPr>
      </p:sp>
      <p:sp>
        <p:nvSpPr>
          <p:cNvPr id="5" name="Text 3"/>
          <p:cNvSpPr/>
          <p:nvPr/>
        </p:nvSpPr>
        <p:spPr>
          <a:xfrm>
            <a:off x="1076960" y="2522221"/>
            <a:ext cx="259527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AF4FF"/>
                </a:solidFill>
                <a:latin typeface="Space Grotesk" pitchFamily="34" charset="0"/>
                <a:ea typeface="Space Grotesk" pitchFamily="34" charset="-122"/>
                <a:cs typeface="Space Grotesk" pitchFamily="34" charset="-120"/>
              </a:rPr>
              <a:t>1. Clean</a:t>
            </a:r>
            <a:endParaRPr lang="en-US" sz="2000" dirty="0"/>
          </a:p>
        </p:txBody>
      </p:sp>
      <p:sp>
        <p:nvSpPr>
          <p:cNvPr id="6" name="Text 4"/>
          <p:cNvSpPr/>
          <p:nvPr/>
        </p:nvSpPr>
        <p:spPr>
          <a:xfrm>
            <a:off x="1076960" y="2903221"/>
            <a:ext cx="259527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Fill gaps, put numbers on the same scale</a:t>
            </a:r>
            <a:endParaRPr lang="en-US" sz="1400" dirty="0"/>
          </a:p>
        </p:txBody>
      </p:sp>
      <p:pic>
        <p:nvPicPr>
          <p:cNvPr id="7" name="Image 0" descr="arrow-right">    </p:cNvPr>
          <p:cNvPicPr>
            <a:picLocks noChangeAspect="1"/>
          </p:cNvPicPr>
          <p:nvPr/>
        </p:nvPicPr>
        <p:blipFill>
          <a:blip r:embed="rId1"/>
          <a:srcRect l="0" r="0" t="0" b="0"/>
          <a:stretch/>
        </p:blipFill>
        <p:spPr>
          <a:xfrm>
            <a:off x="4013200" y="2834642"/>
            <a:ext cx="406400" cy="254000"/>
          </a:xfrm>
          <a:prstGeom prst="rect">
            <a:avLst/>
          </a:prstGeom>
        </p:spPr>
      </p:pic>
      <p:sp>
        <p:nvSpPr>
          <p:cNvPr id="8" name="Shape 5"/>
          <p:cNvSpPr/>
          <p:nvPr/>
        </p:nvSpPr>
        <p:spPr>
          <a:xfrm>
            <a:off x="4578350" y="2388871"/>
            <a:ext cx="3035300" cy="1145540"/>
          </a:xfrm>
          <a:prstGeom prst="roundRect">
            <a:avLst>
              <a:gd name="adj" fmla="val 10532"/>
            </a:avLst>
          </a:prstGeom>
          <a:solidFill>
            <a:srgbClr val="10295A"/>
          </a:solidFill>
          <a:ln w="12700">
            <a:solidFill>
              <a:srgbClr val="4A90FF"/>
            </a:solidFill>
            <a:prstDash val="solid"/>
          </a:ln>
        </p:spPr>
      </p:sp>
      <p:sp>
        <p:nvSpPr>
          <p:cNvPr id="9" name="Text 6"/>
          <p:cNvSpPr/>
          <p:nvPr/>
        </p:nvSpPr>
        <p:spPr>
          <a:xfrm>
            <a:off x="4836160" y="2646679"/>
            <a:ext cx="259527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AF4FF"/>
                </a:solidFill>
                <a:latin typeface="Space Grotesk" pitchFamily="34" charset="0"/>
                <a:ea typeface="Space Grotesk" pitchFamily="34" charset="-122"/>
                <a:cs typeface="Space Grotesk" pitchFamily="34" charset="-120"/>
              </a:rPr>
              <a:t>2. Choose</a:t>
            </a:r>
            <a:endParaRPr lang="en-US" sz="2000" dirty="0"/>
          </a:p>
        </p:txBody>
      </p:sp>
      <p:sp>
        <p:nvSpPr>
          <p:cNvPr id="10" name="Text 7"/>
          <p:cNvSpPr/>
          <p:nvPr/>
        </p:nvSpPr>
        <p:spPr>
          <a:xfrm>
            <a:off x="4836160" y="3027679"/>
            <a:ext cx="25952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Pick the most useful columns</a:t>
            </a:r>
            <a:endParaRPr lang="en-US" sz="1400" dirty="0"/>
          </a:p>
        </p:txBody>
      </p:sp>
      <p:pic>
        <p:nvPicPr>
          <p:cNvPr id="11" name="Image 1" descr="arrow-right">    </p:cNvPr>
          <p:cNvPicPr>
            <a:picLocks noChangeAspect="1"/>
          </p:cNvPicPr>
          <p:nvPr/>
        </p:nvPicPr>
        <p:blipFill>
          <a:blip r:embed="rId2"/>
          <a:srcRect l="0" r="0" t="0" b="0"/>
          <a:stretch/>
        </p:blipFill>
        <p:spPr>
          <a:xfrm>
            <a:off x="7772400" y="2834642"/>
            <a:ext cx="406400" cy="254000"/>
          </a:xfrm>
          <a:prstGeom prst="rect">
            <a:avLst/>
          </a:prstGeom>
        </p:spPr>
      </p:pic>
      <p:sp>
        <p:nvSpPr>
          <p:cNvPr id="12" name="Shape 8"/>
          <p:cNvSpPr/>
          <p:nvPr/>
        </p:nvSpPr>
        <p:spPr>
          <a:xfrm>
            <a:off x="8337550" y="2388871"/>
            <a:ext cx="3035300" cy="1145540"/>
          </a:xfrm>
          <a:prstGeom prst="roundRect">
            <a:avLst>
              <a:gd name="adj" fmla="val 10532"/>
            </a:avLst>
          </a:prstGeom>
          <a:solidFill>
            <a:srgbClr val="10295A"/>
          </a:solidFill>
          <a:ln w="12700">
            <a:solidFill>
              <a:srgbClr val="4A90FF"/>
            </a:solidFill>
            <a:prstDash val="solid"/>
          </a:ln>
        </p:spPr>
      </p:sp>
      <p:sp>
        <p:nvSpPr>
          <p:cNvPr id="13" name="Text 9"/>
          <p:cNvSpPr/>
          <p:nvPr/>
        </p:nvSpPr>
        <p:spPr>
          <a:xfrm>
            <a:off x="8595360" y="2646679"/>
            <a:ext cx="259527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AF4FF"/>
                </a:solidFill>
                <a:latin typeface="Space Grotesk" pitchFamily="34" charset="0"/>
                <a:ea typeface="Space Grotesk" pitchFamily="34" charset="-122"/>
                <a:cs typeface="Space Grotesk" pitchFamily="34" charset="-120"/>
              </a:rPr>
              <a:t>3. Model</a:t>
            </a:r>
            <a:endParaRPr lang="en-US" sz="2000" dirty="0"/>
          </a:p>
        </p:txBody>
      </p:sp>
      <p:sp>
        <p:nvSpPr>
          <p:cNvPr id="14" name="Text 10"/>
          <p:cNvSpPr/>
          <p:nvPr/>
        </p:nvSpPr>
        <p:spPr>
          <a:xfrm>
            <a:off x="8595360" y="3027679"/>
            <a:ext cx="25952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Learn to make predictions</a:t>
            </a:r>
            <a:endParaRPr lang="en-US" sz="1400" dirty="0"/>
          </a:p>
        </p:txBody>
      </p:sp>
      <p:sp>
        <p:nvSpPr>
          <p:cNvPr id="15" name="Text 11"/>
          <p:cNvSpPr/>
          <p:nvPr/>
        </p:nvSpPr>
        <p:spPr>
          <a:xfrm>
            <a:off x="812800" y="4020821"/>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AF4FF"/>
                </a:solidFill>
                <a:latin typeface="IBM Plex Sans" pitchFamily="34" charset="0"/>
                <a:ea typeface="IBM Plex Sans" pitchFamily="34" charset="-122"/>
                <a:cs typeface="IBM Plex Sans" pitchFamily="34" charset="-120"/>
              </a:rPr>
              <a:t>A Pipeline makes sure </a:t>
            </a:r>
            <a:r>
              <a:rPr lang="en-US" sz="1800" b="1" dirty="0">
                <a:solidFill>
                  <a:srgbClr val="EAF4FF"/>
                </a:solidFill>
                <a:latin typeface="IBM Plex Sans" pitchFamily="34" charset="0"/>
                <a:ea typeface="IBM Plex Sans" pitchFamily="34" charset="-122"/>
                <a:cs typeface="IBM Plex Sans" pitchFamily="34" charset="-120"/>
              </a:rPr>
              <a:t>every</a:t>
            </a:r>
            <a:r>
              <a:rPr lang="en-US" sz="1800" dirty="0">
                <a:solidFill>
                  <a:srgbClr val="EAF4FF"/>
                </a:solidFill>
                <a:latin typeface="IBM Plex Sans" pitchFamily="34" charset="0"/>
                <a:ea typeface="IBM Plex Sans" pitchFamily="34" charset="-122"/>
                <a:cs typeface="IBM Plex Sans" pitchFamily="34" charset="-120"/>
              </a:rPr>
              <a:t> step learns from the training data only. The check data stays hidden until scoring.</a:t>
            </a:r>
            <a:endParaRPr lang="en-US" sz="1800" dirty="0"/>
          </a:p>
        </p:txBody>
      </p:sp>
      <p:pic>
        <p:nvPicPr>
          <p:cNvPr id="16" name="Image 2" descr="ML Society logo">    </p:cNvPr>
          <p:cNvPicPr>
            <a:picLocks noChangeAspect="1"/>
          </p:cNvPicPr>
          <p:nvPr/>
        </p:nvPicPr>
        <p:blipFill>
          <a:blip r:embed="rId3"/>
          <a:srcRect l="0" r="0" t="0" b="0"/>
          <a:stretch/>
        </p:blipFill>
        <p:spPr>
          <a:xfrm>
            <a:off x="10769600" y="254000"/>
            <a:ext cx="609600" cy="609600"/>
          </a:xfrm>
          <a:prstGeom prst="ellipse">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14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4A90FF"/>
                </a:solidFill>
                <a:latin typeface="JetBrains Mono" pitchFamily="49" charset="0"/>
                <a:ea typeface="JetBrains Mono" pitchFamily="49" charset="-122"/>
                <a:cs typeface="JetBrains Mono" pitchFamily="49" charset="-120"/>
              </a:rPr>
              <a:t>ONE MORE PROBLEM</a:t>
            </a:r>
            <a:endParaRPr lang="en-US" sz="1300" dirty="0"/>
          </a:p>
        </p:txBody>
      </p:sp>
      <p:sp>
        <p:nvSpPr>
          <p:cNvPr id="3" name="Text 1"/>
          <p:cNvSpPr/>
          <p:nvPr>
            <p:ph type="title"/>
          </p:nvPr>
        </p:nvSpPr>
        <p:spPr>
          <a:xfrm>
            <a:off x="812800" y="1348742"/>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AF4FF"/>
                </a:solidFill>
                <a:latin typeface="Space Grotesk" pitchFamily="34" charset="0"/>
                <a:ea typeface="Space Grotesk" pitchFamily="34" charset="-122"/>
                <a:cs typeface="Space Grotesk" pitchFamily="34" charset="-120"/>
              </a:rPr>
              <a:t>One split can get lucky</a:t>
            </a:r>
            <a:endParaRPr lang="en-US" sz="3600" dirty="0"/>
          </a:p>
        </p:txBody>
      </p:sp>
      <p:sp>
        <p:nvSpPr>
          <p:cNvPr id="4" name="Text 2"/>
          <p:cNvSpPr/>
          <p:nvPr/>
        </p:nvSpPr>
        <p:spPr>
          <a:xfrm>
            <a:off x="812800" y="2156464"/>
            <a:ext cx="10883392"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9C3E6"/>
                </a:solidFill>
                <a:latin typeface="IBM Plex Sans" pitchFamily="34" charset="0"/>
                <a:ea typeface="IBM Plex Sans" pitchFamily="34" charset="-122"/>
                <a:cs typeface="IBM Plex Sans" pitchFamily="34" charset="-120"/>
              </a:rPr>
              <a:t>Same model, same data. We just reshuffled </a:t>
            </a:r>
            <a:r>
              <a:rPr lang="en-US" sz="1700" b="1" dirty="0">
                <a:solidFill>
                  <a:srgbClr val="EAF4FF"/>
                </a:solidFill>
                <a:latin typeface="IBM Plex Sans" pitchFamily="34" charset="0"/>
                <a:ea typeface="IBM Plex Sans" pitchFamily="34" charset="-122"/>
                <a:cs typeface="IBM Plex Sans" pitchFamily="34" charset="-120"/>
              </a:rPr>
              <a:t>which rows</a:t>
            </a:r>
            <a:r>
              <a:rPr lang="en-US" sz="1700" dirty="0">
                <a:solidFill>
                  <a:srgbClr val="A9C3E6"/>
                </a:solidFill>
                <a:latin typeface="IBM Plex Sans" pitchFamily="34" charset="0"/>
                <a:ea typeface="IBM Plex Sans" pitchFamily="34" charset="-122"/>
                <a:cs typeface="IBM Plex Sans" pitchFamily="34" charset="-120"/>
              </a:rPr>
              <a:t> went into the check set, 10 times. Each dot is one score:</a:t>
            </a:r>
            <a:endParaRPr lang="en-US" sz="1700" dirty="0"/>
          </a:p>
        </p:txBody>
      </p:sp>
      <p:pic>
        <p:nvPicPr>
          <p:cNvPr id="5" name="Image 0" descr="Ten scores from ten random splits, spread between 0.7725 and 0.7908 on a number line from 0.770 to 0.795.">    </p:cNvPr>
          <p:cNvPicPr>
            <a:picLocks noChangeAspect="1"/>
          </p:cNvPicPr>
          <p:nvPr/>
        </p:nvPicPr>
        <p:blipFill>
          <a:blip r:embed="rId1"/>
          <a:srcRect l="0" r="0" t="-95" b="-95"/>
          <a:stretch/>
        </p:blipFill>
        <p:spPr>
          <a:xfrm>
            <a:off x="1079500" y="3065779"/>
            <a:ext cx="10033000" cy="1016000"/>
          </a:xfrm>
          <a:prstGeom prst="rect">
            <a:avLst/>
          </a:prstGeom>
        </p:spPr>
      </p:pic>
      <p:sp>
        <p:nvSpPr>
          <p:cNvPr id="6" name="Text 3"/>
          <p:cNvSpPr/>
          <p:nvPr/>
        </p:nvSpPr>
        <p:spPr>
          <a:xfrm>
            <a:off x="927100" y="4018279"/>
            <a:ext cx="812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A4CC"/>
                </a:solidFill>
                <a:latin typeface="IBM Plex Sans" pitchFamily="34" charset="0"/>
                <a:ea typeface="IBM Plex Sans" pitchFamily="34" charset="-122"/>
                <a:cs typeface="IBM Plex Sans" pitchFamily="34" charset="-120"/>
              </a:rPr>
              <a:t>0.770</a:t>
            </a:r>
            <a:endParaRPr lang="en-US" sz="1200" dirty="0"/>
          </a:p>
        </p:txBody>
      </p:sp>
      <p:sp>
        <p:nvSpPr>
          <p:cNvPr id="7" name="Text 4"/>
          <p:cNvSpPr/>
          <p:nvPr/>
        </p:nvSpPr>
        <p:spPr>
          <a:xfrm>
            <a:off x="4737100" y="4018279"/>
            <a:ext cx="812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A4CC"/>
                </a:solidFill>
                <a:latin typeface="IBM Plex Sans" pitchFamily="34" charset="0"/>
                <a:ea typeface="IBM Plex Sans" pitchFamily="34" charset="-122"/>
                <a:cs typeface="IBM Plex Sans" pitchFamily="34" charset="-120"/>
              </a:rPr>
              <a:t>0.780</a:t>
            </a:r>
            <a:endParaRPr lang="en-US" sz="1200" dirty="0"/>
          </a:p>
        </p:txBody>
      </p:sp>
      <p:sp>
        <p:nvSpPr>
          <p:cNvPr id="8" name="Text 5"/>
          <p:cNvSpPr/>
          <p:nvPr/>
        </p:nvSpPr>
        <p:spPr>
          <a:xfrm>
            <a:off x="8547100" y="4018279"/>
            <a:ext cx="812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A4CC"/>
                </a:solidFill>
                <a:latin typeface="IBM Plex Sans" pitchFamily="34" charset="0"/>
                <a:ea typeface="IBM Plex Sans" pitchFamily="34" charset="-122"/>
                <a:cs typeface="IBM Plex Sans" pitchFamily="34" charset="-120"/>
              </a:rPr>
              <a:t>0.790</a:t>
            </a:r>
            <a:endParaRPr lang="en-US" sz="1200" dirty="0"/>
          </a:p>
        </p:txBody>
      </p:sp>
      <p:sp>
        <p:nvSpPr>
          <p:cNvPr id="9" name="Text 6"/>
          <p:cNvSpPr/>
          <p:nvPr/>
        </p:nvSpPr>
        <p:spPr>
          <a:xfrm>
            <a:off x="812800" y="4767579"/>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AF4FF"/>
                </a:solidFill>
                <a:latin typeface="IBM Plex Sans" pitchFamily="34" charset="0"/>
                <a:ea typeface="IBM Plex Sans" pitchFamily="34" charset="-122"/>
                <a:cs typeface="IBM Plex Sans" pitchFamily="34" charset="-120"/>
              </a:rPr>
              <a:t>The score moved just from </a:t>
            </a:r>
            <a:r>
              <a:rPr lang="en-US" sz="1800" b="1" dirty="0">
                <a:solidFill>
                  <a:srgbClr val="EAF4FF"/>
                </a:solidFill>
                <a:latin typeface="IBM Plex Sans" pitchFamily="34" charset="0"/>
                <a:ea typeface="IBM Plex Sans" pitchFamily="34" charset="-122"/>
                <a:cs typeface="IBM Plex Sans" pitchFamily="34" charset="-120"/>
              </a:rPr>
              <a:t>luck</a:t>
            </a:r>
            <a:r>
              <a:rPr lang="en-US" sz="1800" dirty="0">
                <a:solidFill>
                  <a:srgbClr val="EAF4FF"/>
                </a:solidFill>
                <a:latin typeface="IBM Plex Sans" pitchFamily="34" charset="0"/>
                <a:ea typeface="IBM Plex Sans" pitchFamily="34" charset="-122"/>
                <a:cs typeface="IBM Plex Sans" pitchFamily="34" charset="-120"/>
              </a:rPr>
              <a:t>. One split can make a model look better or worse than it really is.</a:t>
            </a:r>
            <a:endParaRPr lang="en-US" sz="1800" dirty="0"/>
          </a:p>
        </p:txBody>
      </p:sp>
      <p:pic>
        <p:nvPicPr>
          <p:cNvPr id="10" name="Image 1" descr="ML Society logo">    </p:cNvPr>
          <p:cNvPicPr>
            <a:picLocks noChangeAspect="1"/>
          </p:cNvPicPr>
          <p:nvPr/>
        </p:nvPicPr>
        <p:blipFill>
          <a:blip r:embed="rId2"/>
          <a:srcRect l="0" r="0" t="0" b="0"/>
          <a:stretch/>
        </p:blipFill>
        <p:spPr>
          <a:xfrm>
            <a:off x="10769600" y="254000"/>
            <a:ext cx="609600" cy="609600"/>
          </a:xfrm>
          <a:prstGeom prst="ellipse">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14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4A90FF"/>
                </a:solidFill>
                <a:latin typeface="JetBrains Mono" pitchFamily="49" charset="0"/>
                <a:ea typeface="JetBrains Mono" pitchFamily="49" charset="-122"/>
                <a:cs typeface="JetBrains Mono" pitchFamily="49" charset="-120"/>
              </a:rPr>
              <a:t>CROSS-VALIDATION</a:t>
            </a:r>
            <a:endParaRPr lang="en-US" sz="1300" dirty="0"/>
          </a:p>
        </p:txBody>
      </p:sp>
      <p:sp>
        <p:nvSpPr>
          <p:cNvPr id="3" name="Text 1"/>
          <p:cNvSpPr/>
          <p:nvPr>
            <p:ph type="title"/>
          </p:nvPr>
        </p:nvSpPr>
        <p:spPr>
          <a:xfrm>
            <a:off x="812800" y="1297942"/>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AF4FF"/>
                </a:solidFill>
                <a:latin typeface="Space Grotesk" pitchFamily="34" charset="0"/>
                <a:ea typeface="Space Grotesk" pitchFamily="34" charset="-122"/>
                <a:cs typeface="Space Grotesk" pitchFamily="34" charset="-120"/>
              </a:rPr>
              <a:t>Fix: take turns, then average</a:t>
            </a:r>
            <a:endParaRPr lang="en-US" sz="3600" dirty="0"/>
          </a:p>
        </p:txBody>
      </p:sp>
      <p:sp>
        <p:nvSpPr>
          <p:cNvPr id="4" name="Text 2"/>
          <p:cNvSpPr/>
          <p:nvPr/>
        </p:nvSpPr>
        <p:spPr>
          <a:xfrm>
            <a:off x="812800" y="2108200"/>
            <a:ext cx="1003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Round 1</a:t>
            </a:r>
            <a:endParaRPr lang="en-US" sz="1400" dirty="0"/>
          </a:p>
        </p:txBody>
      </p:sp>
      <p:sp>
        <p:nvSpPr>
          <p:cNvPr id="5" name="Text 3"/>
          <p:cNvSpPr/>
          <p:nvPr/>
        </p:nvSpPr>
        <p:spPr>
          <a:xfrm>
            <a:off x="1828800" y="2054864"/>
            <a:ext cx="1630680" cy="355600"/>
          </a:xfrm>
          <a:prstGeom prst="roundRect">
            <a:avLst>
              <a:gd name="adj" fmla="val 14286"/>
            </a:avLst>
          </a:prstGeom>
          <a:solidFill>
            <a:srgbClr val="6EE0FF"/>
          </a:solidFill>
          <a:ln/>
        </p:spPr>
        <p:txBody>
          <a:bodyPr wrap="square" lIns="0" tIns="0" rIns="0" bIns="0" rtlCol="0" anchor="ctr">
            <a:normAutofit/>
          </a:bodyPr>
          <a:lstStyle/>
          <a:p>
            <a:pPr algn="ctr" indent="0" marL="0">
              <a:lnSpc>
                <a:spcPts val="1680"/>
              </a:lnSpc>
              <a:buNone/>
            </a:pPr>
            <a:r>
              <a:rPr lang="en-US" sz="1200" b="1" dirty="0">
                <a:solidFill>
                  <a:srgbClr val="04122B"/>
                </a:solidFill>
                <a:latin typeface="IBM Plex Sans" pitchFamily="34" charset="0"/>
                <a:ea typeface="IBM Plex Sans" pitchFamily="34" charset="-122"/>
                <a:cs typeface="IBM Plex Sans" pitchFamily="34" charset="-120"/>
              </a:rPr>
              <a:t>check</a:t>
            </a:r>
            <a:endParaRPr lang="en-US" sz="1200" dirty="0"/>
          </a:p>
        </p:txBody>
      </p:sp>
      <p:sp>
        <p:nvSpPr>
          <p:cNvPr id="6" name="Shape 4"/>
          <p:cNvSpPr/>
          <p:nvPr/>
        </p:nvSpPr>
        <p:spPr>
          <a:xfrm>
            <a:off x="3522980" y="2054864"/>
            <a:ext cx="1630680" cy="355600"/>
          </a:xfrm>
          <a:prstGeom prst="roundRect">
            <a:avLst>
              <a:gd name="adj" fmla="val 14286"/>
            </a:avLst>
          </a:prstGeom>
          <a:solidFill>
            <a:srgbClr val="2A5BC4"/>
          </a:solidFill>
          <a:ln/>
        </p:spPr>
      </p:sp>
      <p:sp>
        <p:nvSpPr>
          <p:cNvPr id="7" name="Shape 5"/>
          <p:cNvSpPr/>
          <p:nvPr/>
        </p:nvSpPr>
        <p:spPr>
          <a:xfrm>
            <a:off x="5217160" y="2054864"/>
            <a:ext cx="1630680" cy="355600"/>
          </a:xfrm>
          <a:prstGeom prst="roundRect">
            <a:avLst>
              <a:gd name="adj" fmla="val 14286"/>
            </a:avLst>
          </a:prstGeom>
          <a:solidFill>
            <a:srgbClr val="2A5BC4"/>
          </a:solidFill>
          <a:ln/>
        </p:spPr>
      </p:sp>
      <p:sp>
        <p:nvSpPr>
          <p:cNvPr id="8" name="Shape 6"/>
          <p:cNvSpPr/>
          <p:nvPr/>
        </p:nvSpPr>
        <p:spPr>
          <a:xfrm>
            <a:off x="6911340" y="2054864"/>
            <a:ext cx="1630680" cy="355600"/>
          </a:xfrm>
          <a:prstGeom prst="roundRect">
            <a:avLst>
              <a:gd name="adj" fmla="val 14286"/>
            </a:avLst>
          </a:prstGeom>
          <a:solidFill>
            <a:srgbClr val="2A5BC4"/>
          </a:solidFill>
          <a:ln/>
        </p:spPr>
      </p:sp>
      <p:sp>
        <p:nvSpPr>
          <p:cNvPr id="9" name="Shape 7"/>
          <p:cNvSpPr/>
          <p:nvPr/>
        </p:nvSpPr>
        <p:spPr>
          <a:xfrm>
            <a:off x="8605520" y="2054864"/>
            <a:ext cx="1630680" cy="355600"/>
          </a:xfrm>
          <a:prstGeom prst="roundRect">
            <a:avLst>
              <a:gd name="adj" fmla="val 14286"/>
            </a:avLst>
          </a:prstGeom>
          <a:solidFill>
            <a:srgbClr val="2A5BC4"/>
          </a:solidFill>
          <a:ln/>
        </p:spPr>
      </p:sp>
      <p:sp>
        <p:nvSpPr>
          <p:cNvPr id="10" name="Text 8"/>
          <p:cNvSpPr/>
          <p:nvPr/>
        </p:nvSpPr>
        <p:spPr>
          <a:xfrm>
            <a:off x="10248900" y="2108200"/>
            <a:ext cx="11303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EAF4FF"/>
                </a:solidFill>
                <a:latin typeface="JetBrains Mono" pitchFamily="49" charset="0"/>
                <a:ea typeface="JetBrains Mono" pitchFamily="49" charset="-122"/>
                <a:cs typeface="JetBrains Mono" pitchFamily="49" charset="-120"/>
              </a:rPr>
              <a:t>0.786</a:t>
            </a:r>
            <a:endParaRPr lang="en-US" sz="1400" dirty="0"/>
          </a:p>
        </p:txBody>
      </p:sp>
      <p:sp>
        <p:nvSpPr>
          <p:cNvPr id="11" name="Text 9"/>
          <p:cNvSpPr/>
          <p:nvPr/>
        </p:nvSpPr>
        <p:spPr>
          <a:xfrm>
            <a:off x="812800" y="2552700"/>
            <a:ext cx="1003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Round 2</a:t>
            </a:r>
            <a:endParaRPr lang="en-US" sz="1400" dirty="0"/>
          </a:p>
        </p:txBody>
      </p:sp>
      <p:sp>
        <p:nvSpPr>
          <p:cNvPr id="12" name="Shape 10"/>
          <p:cNvSpPr/>
          <p:nvPr/>
        </p:nvSpPr>
        <p:spPr>
          <a:xfrm>
            <a:off x="1828800" y="2499364"/>
            <a:ext cx="1630680" cy="355600"/>
          </a:xfrm>
          <a:prstGeom prst="roundRect">
            <a:avLst>
              <a:gd name="adj" fmla="val 14286"/>
            </a:avLst>
          </a:prstGeom>
          <a:solidFill>
            <a:srgbClr val="2A5BC4"/>
          </a:solidFill>
          <a:ln/>
        </p:spPr>
      </p:sp>
      <p:sp>
        <p:nvSpPr>
          <p:cNvPr id="13" name="Text 11"/>
          <p:cNvSpPr/>
          <p:nvPr/>
        </p:nvSpPr>
        <p:spPr>
          <a:xfrm>
            <a:off x="3522980" y="2499364"/>
            <a:ext cx="1630680" cy="355600"/>
          </a:xfrm>
          <a:prstGeom prst="roundRect">
            <a:avLst>
              <a:gd name="adj" fmla="val 14286"/>
            </a:avLst>
          </a:prstGeom>
          <a:solidFill>
            <a:srgbClr val="6EE0FF"/>
          </a:solidFill>
          <a:ln/>
        </p:spPr>
        <p:txBody>
          <a:bodyPr wrap="square" lIns="0" tIns="0" rIns="0" bIns="0" rtlCol="0" anchor="ctr">
            <a:normAutofit/>
          </a:bodyPr>
          <a:lstStyle/>
          <a:p>
            <a:pPr algn="ctr" indent="0" marL="0">
              <a:lnSpc>
                <a:spcPts val="1680"/>
              </a:lnSpc>
              <a:buNone/>
            </a:pPr>
            <a:r>
              <a:rPr lang="en-US" sz="1200" b="1" dirty="0">
                <a:solidFill>
                  <a:srgbClr val="04122B"/>
                </a:solidFill>
                <a:latin typeface="IBM Plex Sans" pitchFamily="34" charset="0"/>
                <a:ea typeface="IBM Plex Sans" pitchFamily="34" charset="-122"/>
                <a:cs typeface="IBM Plex Sans" pitchFamily="34" charset="-120"/>
              </a:rPr>
              <a:t>check</a:t>
            </a:r>
            <a:endParaRPr lang="en-US" sz="1200" dirty="0"/>
          </a:p>
        </p:txBody>
      </p:sp>
      <p:sp>
        <p:nvSpPr>
          <p:cNvPr id="14" name="Shape 12"/>
          <p:cNvSpPr/>
          <p:nvPr/>
        </p:nvSpPr>
        <p:spPr>
          <a:xfrm>
            <a:off x="5217160" y="2499364"/>
            <a:ext cx="1630680" cy="355600"/>
          </a:xfrm>
          <a:prstGeom prst="roundRect">
            <a:avLst>
              <a:gd name="adj" fmla="val 14286"/>
            </a:avLst>
          </a:prstGeom>
          <a:solidFill>
            <a:srgbClr val="2A5BC4"/>
          </a:solidFill>
          <a:ln/>
        </p:spPr>
      </p:sp>
      <p:sp>
        <p:nvSpPr>
          <p:cNvPr id="15" name="Shape 13"/>
          <p:cNvSpPr/>
          <p:nvPr/>
        </p:nvSpPr>
        <p:spPr>
          <a:xfrm>
            <a:off x="6911340" y="2499364"/>
            <a:ext cx="1630680" cy="355600"/>
          </a:xfrm>
          <a:prstGeom prst="roundRect">
            <a:avLst>
              <a:gd name="adj" fmla="val 14286"/>
            </a:avLst>
          </a:prstGeom>
          <a:solidFill>
            <a:srgbClr val="2A5BC4"/>
          </a:solidFill>
          <a:ln/>
        </p:spPr>
      </p:sp>
      <p:sp>
        <p:nvSpPr>
          <p:cNvPr id="16" name="Shape 14"/>
          <p:cNvSpPr/>
          <p:nvPr/>
        </p:nvSpPr>
        <p:spPr>
          <a:xfrm>
            <a:off x="8605520" y="2499364"/>
            <a:ext cx="1630680" cy="355600"/>
          </a:xfrm>
          <a:prstGeom prst="roundRect">
            <a:avLst>
              <a:gd name="adj" fmla="val 14286"/>
            </a:avLst>
          </a:prstGeom>
          <a:solidFill>
            <a:srgbClr val="2A5BC4"/>
          </a:solidFill>
          <a:ln/>
        </p:spPr>
      </p:sp>
      <p:sp>
        <p:nvSpPr>
          <p:cNvPr id="17" name="Text 15"/>
          <p:cNvSpPr/>
          <p:nvPr/>
        </p:nvSpPr>
        <p:spPr>
          <a:xfrm>
            <a:off x="10248900" y="2552700"/>
            <a:ext cx="11303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EAF4FF"/>
                </a:solidFill>
                <a:latin typeface="JetBrains Mono" pitchFamily="49" charset="0"/>
                <a:ea typeface="JetBrains Mono" pitchFamily="49" charset="-122"/>
                <a:cs typeface="JetBrains Mono" pitchFamily="49" charset="-120"/>
              </a:rPr>
              <a:t>0.781</a:t>
            </a:r>
            <a:endParaRPr lang="en-US" sz="1400" dirty="0"/>
          </a:p>
        </p:txBody>
      </p:sp>
      <p:sp>
        <p:nvSpPr>
          <p:cNvPr id="18" name="Text 16"/>
          <p:cNvSpPr/>
          <p:nvPr/>
        </p:nvSpPr>
        <p:spPr>
          <a:xfrm>
            <a:off x="812800" y="2997200"/>
            <a:ext cx="1003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Round 3</a:t>
            </a:r>
            <a:endParaRPr lang="en-US" sz="1400" dirty="0"/>
          </a:p>
        </p:txBody>
      </p:sp>
      <p:sp>
        <p:nvSpPr>
          <p:cNvPr id="19" name="Shape 17"/>
          <p:cNvSpPr/>
          <p:nvPr/>
        </p:nvSpPr>
        <p:spPr>
          <a:xfrm>
            <a:off x="1828800" y="2943864"/>
            <a:ext cx="1630680" cy="355600"/>
          </a:xfrm>
          <a:prstGeom prst="roundRect">
            <a:avLst>
              <a:gd name="adj" fmla="val 14286"/>
            </a:avLst>
          </a:prstGeom>
          <a:solidFill>
            <a:srgbClr val="2A5BC4"/>
          </a:solidFill>
          <a:ln/>
        </p:spPr>
      </p:sp>
      <p:sp>
        <p:nvSpPr>
          <p:cNvPr id="20" name="Shape 18"/>
          <p:cNvSpPr/>
          <p:nvPr/>
        </p:nvSpPr>
        <p:spPr>
          <a:xfrm>
            <a:off x="3522980" y="2943864"/>
            <a:ext cx="1630680" cy="355600"/>
          </a:xfrm>
          <a:prstGeom prst="roundRect">
            <a:avLst>
              <a:gd name="adj" fmla="val 14286"/>
            </a:avLst>
          </a:prstGeom>
          <a:solidFill>
            <a:srgbClr val="2A5BC4"/>
          </a:solidFill>
          <a:ln/>
        </p:spPr>
      </p:sp>
      <p:sp>
        <p:nvSpPr>
          <p:cNvPr id="21" name="Text 19"/>
          <p:cNvSpPr/>
          <p:nvPr/>
        </p:nvSpPr>
        <p:spPr>
          <a:xfrm>
            <a:off x="5217160" y="2943864"/>
            <a:ext cx="1630680" cy="355600"/>
          </a:xfrm>
          <a:prstGeom prst="roundRect">
            <a:avLst>
              <a:gd name="adj" fmla="val 14286"/>
            </a:avLst>
          </a:prstGeom>
          <a:solidFill>
            <a:srgbClr val="6EE0FF"/>
          </a:solidFill>
          <a:ln/>
        </p:spPr>
        <p:txBody>
          <a:bodyPr wrap="square" lIns="0" tIns="0" rIns="0" bIns="0" rtlCol="0" anchor="ctr">
            <a:normAutofit/>
          </a:bodyPr>
          <a:lstStyle/>
          <a:p>
            <a:pPr algn="ctr" indent="0" marL="0">
              <a:lnSpc>
                <a:spcPts val="1680"/>
              </a:lnSpc>
              <a:buNone/>
            </a:pPr>
            <a:r>
              <a:rPr lang="en-US" sz="1200" b="1" dirty="0">
                <a:solidFill>
                  <a:srgbClr val="04122B"/>
                </a:solidFill>
                <a:latin typeface="IBM Plex Sans" pitchFamily="34" charset="0"/>
                <a:ea typeface="IBM Plex Sans" pitchFamily="34" charset="-122"/>
                <a:cs typeface="IBM Plex Sans" pitchFamily="34" charset="-120"/>
              </a:rPr>
              <a:t>check</a:t>
            </a:r>
            <a:endParaRPr lang="en-US" sz="1200" dirty="0"/>
          </a:p>
        </p:txBody>
      </p:sp>
      <p:sp>
        <p:nvSpPr>
          <p:cNvPr id="22" name="Shape 20"/>
          <p:cNvSpPr/>
          <p:nvPr/>
        </p:nvSpPr>
        <p:spPr>
          <a:xfrm>
            <a:off x="6911340" y="2943864"/>
            <a:ext cx="1630680" cy="355600"/>
          </a:xfrm>
          <a:prstGeom prst="roundRect">
            <a:avLst>
              <a:gd name="adj" fmla="val 14286"/>
            </a:avLst>
          </a:prstGeom>
          <a:solidFill>
            <a:srgbClr val="2A5BC4"/>
          </a:solidFill>
          <a:ln/>
        </p:spPr>
      </p:sp>
      <p:sp>
        <p:nvSpPr>
          <p:cNvPr id="23" name="Shape 21"/>
          <p:cNvSpPr/>
          <p:nvPr/>
        </p:nvSpPr>
        <p:spPr>
          <a:xfrm>
            <a:off x="8605520" y="2943864"/>
            <a:ext cx="1630680" cy="355600"/>
          </a:xfrm>
          <a:prstGeom prst="roundRect">
            <a:avLst>
              <a:gd name="adj" fmla="val 14286"/>
            </a:avLst>
          </a:prstGeom>
          <a:solidFill>
            <a:srgbClr val="2A5BC4"/>
          </a:solidFill>
          <a:ln/>
        </p:spPr>
      </p:sp>
      <p:sp>
        <p:nvSpPr>
          <p:cNvPr id="24" name="Text 22"/>
          <p:cNvSpPr/>
          <p:nvPr/>
        </p:nvSpPr>
        <p:spPr>
          <a:xfrm>
            <a:off x="10248900" y="2997200"/>
            <a:ext cx="11303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EAF4FF"/>
                </a:solidFill>
                <a:latin typeface="JetBrains Mono" pitchFamily="49" charset="0"/>
                <a:ea typeface="JetBrains Mono" pitchFamily="49" charset="-122"/>
                <a:cs typeface="JetBrains Mono" pitchFamily="49" charset="-120"/>
              </a:rPr>
              <a:t>0.792</a:t>
            </a:r>
            <a:endParaRPr lang="en-US" sz="1400" dirty="0"/>
          </a:p>
        </p:txBody>
      </p:sp>
      <p:sp>
        <p:nvSpPr>
          <p:cNvPr id="25" name="Text 23"/>
          <p:cNvSpPr/>
          <p:nvPr/>
        </p:nvSpPr>
        <p:spPr>
          <a:xfrm>
            <a:off x="812800" y="3441700"/>
            <a:ext cx="1003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Round 4</a:t>
            </a:r>
            <a:endParaRPr lang="en-US" sz="1400" dirty="0"/>
          </a:p>
        </p:txBody>
      </p:sp>
      <p:sp>
        <p:nvSpPr>
          <p:cNvPr id="26" name="Shape 24"/>
          <p:cNvSpPr/>
          <p:nvPr/>
        </p:nvSpPr>
        <p:spPr>
          <a:xfrm>
            <a:off x="1828800" y="3388364"/>
            <a:ext cx="1630680" cy="355600"/>
          </a:xfrm>
          <a:prstGeom prst="roundRect">
            <a:avLst>
              <a:gd name="adj" fmla="val 14286"/>
            </a:avLst>
          </a:prstGeom>
          <a:solidFill>
            <a:srgbClr val="2A5BC4"/>
          </a:solidFill>
          <a:ln/>
        </p:spPr>
      </p:sp>
      <p:sp>
        <p:nvSpPr>
          <p:cNvPr id="27" name="Shape 25"/>
          <p:cNvSpPr/>
          <p:nvPr/>
        </p:nvSpPr>
        <p:spPr>
          <a:xfrm>
            <a:off x="3522980" y="3388364"/>
            <a:ext cx="1630680" cy="355600"/>
          </a:xfrm>
          <a:prstGeom prst="roundRect">
            <a:avLst>
              <a:gd name="adj" fmla="val 14286"/>
            </a:avLst>
          </a:prstGeom>
          <a:solidFill>
            <a:srgbClr val="2A5BC4"/>
          </a:solidFill>
          <a:ln/>
        </p:spPr>
      </p:sp>
      <p:sp>
        <p:nvSpPr>
          <p:cNvPr id="28" name="Shape 26"/>
          <p:cNvSpPr/>
          <p:nvPr/>
        </p:nvSpPr>
        <p:spPr>
          <a:xfrm>
            <a:off x="5217160" y="3388364"/>
            <a:ext cx="1630680" cy="355600"/>
          </a:xfrm>
          <a:prstGeom prst="roundRect">
            <a:avLst>
              <a:gd name="adj" fmla="val 14286"/>
            </a:avLst>
          </a:prstGeom>
          <a:solidFill>
            <a:srgbClr val="2A5BC4"/>
          </a:solidFill>
          <a:ln/>
        </p:spPr>
      </p:sp>
      <p:sp>
        <p:nvSpPr>
          <p:cNvPr id="29" name="Text 27"/>
          <p:cNvSpPr/>
          <p:nvPr/>
        </p:nvSpPr>
        <p:spPr>
          <a:xfrm>
            <a:off x="6911340" y="3388364"/>
            <a:ext cx="1630680" cy="355600"/>
          </a:xfrm>
          <a:prstGeom prst="roundRect">
            <a:avLst>
              <a:gd name="adj" fmla="val 14286"/>
            </a:avLst>
          </a:prstGeom>
          <a:solidFill>
            <a:srgbClr val="6EE0FF"/>
          </a:solidFill>
          <a:ln/>
        </p:spPr>
        <p:txBody>
          <a:bodyPr wrap="square" lIns="0" tIns="0" rIns="0" bIns="0" rtlCol="0" anchor="ctr">
            <a:normAutofit/>
          </a:bodyPr>
          <a:lstStyle/>
          <a:p>
            <a:pPr algn="ctr" indent="0" marL="0">
              <a:lnSpc>
                <a:spcPts val="1680"/>
              </a:lnSpc>
              <a:buNone/>
            </a:pPr>
            <a:r>
              <a:rPr lang="en-US" sz="1200" b="1" dirty="0">
                <a:solidFill>
                  <a:srgbClr val="04122B"/>
                </a:solidFill>
                <a:latin typeface="IBM Plex Sans" pitchFamily="34" charset="0"/>
                <a:ea typeface="IBM Plex Sans" pitchFamily="34" charset="-122"/>
                <a:cs typeface="IBM Plex Sans" pitchFamily="34" charset="-120"/>
              </a:rPr>
              <a:t>check</a:t>
            </a:r>
            <a:endParaRPr lang="en-US" sz="1200" dirty="0"/>
          </a:p>
        </p:txBody>
      </p:sp>
      <p:sp>
        <p:nvSpPr>
          <p:cNvPr id="30" name="Shape 28"/>
          <p:cNvSpPr/>
          <p:nvPr/>
        </p:nvSpPr>
        <p:spPr>
          <a:xfrm>
            <a:off x="8605520" y="3388364"/>
            <a:ext cx="1630680" cy="355600"/>
          </a:xfrm>
          <a:prstGeom prst="roundRect">
            <a:avLst>
              <a:gd name="adj" fmla="val 14286"/>
            </a:avLst>
          </a:prstGeom>
          <a:solidFill>
            <a:srgbClr val="2A5BC4"/>
          </a:solidFill>
          <a:ln/>
        </p:spPr>
      </p:sp>
      <p:sp>
        <p:nvSpPr>
          <p:cNvPr id="31" name="Text 29"/>
          <p:cNvSpPr/>
          <p:nvPr/>
        </p:nvSpPr>
        <p:spPr>
          <a:xfrm>
            <a:off x="10248900" y="3441700"/>
            <a:ext cx="11303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EAF4FF"/>
                </a:solidFill>
                <a:latin typeface="JetBrains Mono" pitchFamily="49" charset="0"/>
                <a:ea typeface="JetBrains Mono" pitchFamily="49" charset="-122"/>
                <a:cs typeface="JetBrains Mono" pitchFamily="49" charset="-120"/>
              </a:rPr>
              <a:t>0.776</a:t>
            </a:r>
            <a:endParaRPr lang="en-US" sz="1400" dirty="0"/>
          </a:p>
        </p:txBody>
      </p:sp>
      <p:sp>
        <p:nvSpPr>
          <p:cNvPr id="32" name="Text 30"/>
          <p:cNvSpPr/>
          <p:nvPr/>
        </p:nvSpPr>
        <p:spPr>
          <a:xfrm>
            <a:off x="812800" y="3886200"/>
            <a:ext cx="1003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Round 5</a:t>
            </a:r>
            <a:endParaRPr lang="en-US" sz="1400" dirty="0"/>
          </a:p>
        </p:txBody>
      </p:sp>
      <p:sp>
        <p:nvSpPr>
          <p:cNvPr id="33" name="Shape 31"/>
          <p:cNvSpPr/>
          <p:nvPr/>
        </p:nvSpPr>
        <p:spPr>
          <a:xfrm>
            <a:off x="1828800" y="3832864"/>
            <a:ext cx="1630680" cy="355600"/>
          </a:xfrm>
          <a:prstGeom prst="roundRect">
            <a:avLst>
              <a:gd name="adj" fmla="val 14286"/>
            </a:avLst>
          </a:prstGeom>
          <a:solidFill>
            <a:srgbClr val="2A5BC4"/>
          </a:solidFill>
          <a:ln/>
        </p:spPr>
      </p:sp>
      <p:sp>
        <p:nvSpPr>
          <p:cNvPr id="34" name="Shape 32"/>
          <p:cNvSpPr/>
          <p:nvPr/>
        </p:nvSpPr>
        <p:spPr>
          <a:xfrm>
            <a:off x="3522980" y="3832864"/>
            <a:ext cx="1630680" cy="355600"/>
          </a:xfrm>
          <a:prstGeom prst="roundRect">
            <a:avLst>
              <a:gd name="adj" fmla="val 14286"/>
            </a:avLst>
          </a:prstGeom>
          <a:solidFill>
            <a:srgbClr val="2A5BC4"/>
          </a:solidFill>
          <a:ln/>
        </p:spPr>
      </p:sp>
      <p:sp>
        <p:nvSpPr>
          <p:cNvPr id="35" name="Shape 33"/>
          <p:cNvSpPr/>
          <p:nvPr/>
        </p:nvSpPr>
        <p:spPr>
          <a:xfrm>
            <a:off x="5217160" y="3832864"/>
            <a:ext cx="1630680" cy="355600"/>
          </a:xfrm>
          <a:prstGeom prst="roundRect">
            <a:avLst>
              <a:gd name="adj" fmla="val 14286"/>
            </a:avLst>
          </a:prstGeom>
          <a:solidFill>
            <a:srgbClr val="2A5BC4"/>
          </a:solidFill>
          <a:ln/>
        </p:spPr>
      </p:sp>
      <p:sp>
        <p:nvSpPr>
          <p:cNvPr id="36" name="Shape 34"/>
          <p:cNvSpPr/>
          <p:nvPr/>
        </p:nvSpPr>
        <p:spPr>
          <a:xfrm>
            <a:off x="6911340" y="3832864"/>
            <a:ext cx="1630680" cy="355600"/>
          </a:xfrm>
          <a:prstGeom prst="roundRect">
            <a:avLst>
              <a:gd name="adj" fmla="val 14286"/>
            </a:avLst>
          </a:prstGeom>
          <a:solidFill>
            <a:srgbClr val="2A5BC4"/>
          </a:solidFill>
          <a:ln/>
        </p:spPr>
      </p:sp>
      <p:sp>
        <p:nvSpPr>
          <p:cNvPr id="37" name="Text 35"/>
          <p:cNvSpPr/>
          <p:nvPr/>
        </p:nvSpPr>
        <p:spPr>
          <a:xfrm>
            <a:off x="8605520" y="3832864"/>
            <a:ext cx="1630680" cy="355600"/>
          </a:xfrm>
          <a:prstGeom prst="roundRect">
            <a:avLst>
              <a:gd name="adj" fmla="val 14286"/>
            </a:avLst>
          </a:prstGeom>
          <a:solidFill>
            <a:srgbClr val="6EE0FF"/>
          </a:solidFill>
          <a:ln/>
        </p:spPr>
        <p:txBody>
          <a:bodyPr wrap="square" lIns="0" tIns="0" rIns="0" bIns="0" rtlCol="0" anchor="ctr">
            <a:normAutofit/>
          </a:bodyPr>
          <a:lstStyle/>
          <a:p>
            <a:pPr algn="ctr" indent="0" marL="0">
              <a:lnSpc>
                <a:spcPts val="1680"/>
              </a:lnSpc>
              <a:buNone/>
            </a:pPr>
            <a:r>
              <a:rPr lang="en-US" sz="1200" b="1" dirty="0">
                <a:solidFill>
                  <a:srgbClr val="04122B"/>
                </a:solidFill>
                <a:latin typeface="IBM Plex Sans" pitchFamily="34" charset="0"/>
                <a:ea typeface="IBM Plex Sans" pitchFamily="34" charset="-122"/>
                <a:cs typeface="IBM Plex Sans" pitchFamily="34" charset="-120"/>
              </a:rPr>
              <a:t>check</a:t>
            </a:r>
            <a:endParaRPr lang="en-US" sz="1200" dirty="0"/>
          </a:p>
        </p:txBody>
      </p:sp>
      <p:sp>
        <p:nvSpPr>
          <p:cNvPr id="38" name="Text 36"/>
          <p:cNvSpPr/>
          <p:nvPr/>
        </p:nvSpPr>
        <p:spPr>
          <a:xfrm>
            <a:off x="10248900" y="3886200"/>
            <a:ext cx="11303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EAF4FF"/>
                </a:solidFill>
                <a:latin typeface="JetBrains Mono" pitchFamily="49" charset="0"/>
                <a:ea typeface="JetBrains Mono" pitchFamily="49" charset="-122"/>
                <a:cs typeface="JetBrains Mono" pitchFamily="49" charset="-120"/>
              </a:rPr>
              <a:t>0.780</a:t>
            </a:r>
            <a:endParaRPr lang="en-US" sz="1400" dirty="0"/>
          </a:p>
        </p:txBody>
      </p:sp>
      <p:sp>
        <p:nvSpPr>
          <p:cNvPr id="39" name="Shape 37"/>
          <p:cNvSpPr/>
          <p:nvPr/>
        </p:nvSpPr>
        <p:spPr>
          <a:xfrm>
            <a:off x="812800" y="4602479"/>
            <a:ext cx="177800" cy="177800"/>
          </a:xfrm>
          <a:prstGeom prst="roundRect">
            <a:avLst>
              <a:gd name="adj" fmla="val 21429"/>
            </a:avLst>
          </a:prstGeom>
          <a:solidFill>
            <a:srgbClr val="2A5BC4"/>
          </a:solidFill>
          <a:ln/>
        </p:spPr>
      </p:sp>
      <p:sp>
        <p:nvSpPr>
          <p:cNvPr id="40" name="Text 38"/>
          <p:cNvSpPr/>
          <p:nvPr/>
        </p:nvSpPr>
        <p:spPr>
          <a:xfrm>
            <a:off x="1066800" y="4566921"/>
            <a:ext cx="44081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4FF"/>
                </a:solidFill>
                <a:latin typeface="IBM Plex Sans" pitchFamily="34" charset="0"/>
                <a:ea typeface="IBM Plex Sans" pitchFamily="34" charset="-122"/>
                <a:cs typeface="IBM Plex Sans" pitchFamily="34" charset="-120"/>
              </a:rPr>
              <a:t>train</a:t>
            </a:r>
            <a:endParaRPr lang="en-US" sz="1400" dirty="0"/>
          </a:p>
        </p:txBody>
      </p:sp>
      <p:sp>
        <p:nvSpPr>
          <p:cNvPr id="41" name="Shape 39"/>
          <p:cNvSpPr/>
          <p:nvPr/>
        </p:nvSpPr>
        <p:spPr>
          <a:xfrm>
            <a:off x="1637348" y="4602479"/>
            <a:ext cx="177800" cy="177800"/>
          </a:xfrm>
          <a:prstGeom prst="roundRect">
            <a:avLst>
              <a:gd name="adj" fmla="val 21429"/>
            </a:avLst>
          </a:prstGeom>
          <a:solidFill>
            <a:srgbClr val="6EE0FF"/>
          </a:solidFill>
          <a:ln/>
        </p:spPr>
      </p:sp>
      <p:sp>
        <p:nvSpPr>
          <p:cNvPr id="42" name="Text 40"/>
          <p:cNvSpPr/>
          <p:nvPr/>
        </p:nvSpPr>
        <p:spPr>
          <a:xfrm>
            <a:off x="1891348" y="4566921"/>
            <a:ext cx="5654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4FF"/>
                </a:solidFill>
                <a:latin typeface="IBM Plex Sans" pitchFamily="34" charset="0"/>
                <a:ea typeface="IBM Plex Sans" pitchFamily="34" charset="-122"/>
                <a:cs typeface="IBM Plex Sans" pitchFamily="34" charset="-120"/>
              </a:rPr>
              <a:t>check</a:t>
            </a:r>
            <a:endParaRPr lang="en-US" sz="1400" dirty="0"/>
          </a:p>
        </p:txBody>
      </p:sp>
      <p:sp>
        <p:nvSpPr>
          <p:cNvPr id="43" name="Text 41"/>
          <p:cNvSpPr/>
          <p:nvPr/>
        </p:nvSpPr>
        <p:spPr>
          <a:xfrm>
            <a:off x="7091903" y="4442464"/>
            <a:ext cx="4287298" cy="523240"/>
          </a:xfrm>
          <a:prstGeom prst="rect">
            <a:avLst/>
          </a:prstGeom>
          <a:noFill/>
          <a:ln/>
        </p:spPr>
        <p:txBody>
          <a:bodyPr wrap="square" lIns="0" tIns="0" rIns="0" bIns="0" rtlCol="0" anchor="t">
            <a:normAutofit/>
          </a:bodyPr>
          <a:lstStyle/>
          <a:p>
            <a:pPr algn="r" indent="0" marL="0">
              <a:lnSpc>
                <a:spcPts val="3920"/>
              </a:lnSpc>
              <a:buNone/>
            </a:pPr>
            <a:r>
              <a:rPr lang="en-US" sz="2800" b="1" dirty="0">
                <a:solidFill>
                  <a:srgbClr val="EAF4FF"/>
                </a:solidFill>
                <a:latin typeface="Space Grotesk" pitchFamily="34" charset="0"/>
                <a:ea typeface="Space Grotesk" pitchFamily="34" charset="-122"/>
                <a:cs typeface="Space Grotesk" pitchFamily="34" charset="-120"/>
              </a:rPr>
              <a:t>Average score: 0.783</a:t>
            </a:r>
            <a:endParaRPr lang="en-US" sz="2800" dirty="0"/>
          </a:p>
        </p:txBody>
      </p:sp>
      <p:pic>
        <p:nvPicPr>
          <p:cNvPr id="44" name="Image 0" descr="ML Society logo">    </p:cNvPr>
          <p:cNvPicPr>
            <a:picLocks noChangeAspect="1"/>
          </p:cNvPicPr>
          <p:nvPr/>
        </p:nvPicPr>
        <p:blipFill>
          <a:blip r:embed="rId1"/>
          <a:srcRect l="0" r="0" t="0" b="0"/>
          <a:stretch/>
        </p:blipFill>
        <p:spPr>
          <a:xfrm>
            <a:off x="10769600" y="254000"/>
            <a:ext cx="609600" cy="609600"/>
          </a:xfrm>
          <a:prstGeom prst="ellipse">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A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7FB2FF"/>
                </a:solidFill>
                <a:latin typeface="JetBrains Mono" pitchFamily="49" charset="0"/>
                <a:ea typeface="JetBrains Mono" pitchFamily="49" charset="-122"/>
                <a:cs typeface="JetBrains Mono" pitchFamily="49" charset="-120"/>
              </a:rPr>
              <a:t>CHECK YOURSELF</a:t>
            </a:r>
            <a:endParaRPr lang="en-US" sz="1300" dirty="0"/>
          </a:p>
        </p:txBody>
      </p:sp>
      <p:sp>
        <p:nvSpPr>
          <p:cNvPr id="3" name="Text 1"/>
          <p:cNvSpPr/>
          <p:nvPr>
            <p:ph type="title"/>
          </p:nvPr>
        </p:nvSpPr>
        <p:spPr>
          <a:xfrm>
            <a:off x="812800" y="1399542"/>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EAF4FF"/>
                </a:solidFill>
                <a:latin typeface="Space Grotesk" pitchFamily="34" charset="0"/>
                <a:ea typeface="Space Grotesk" pitchFamily="34" charset="-122"/>
                <a:cs typeface="Space Grotesk" pitchFamily="34" charset="-120"/>
              </a:rPr>
              <a:t>What would you do?</a:t>
            </a:r>
            <a:endParaRPr lang="en-US" sz="4800" dirty="0"/>
          </a:p>
        </p:txBody>
      </p:sp>
      <p:sp>
        <p:nvSpPr>
          <p:cNvPr id="4" name="Shape 2"/>
          <p:cNvSpPr/>
          <p:nvPr/>
        </p:nvSpPr>
        <p:spPr>
          <a:xfrm>
            <a:off x="812800" y="2395221"/>
            <a:ext cx="3386614" cy="2153920"/>
          </a:xfrm>
          <a:prstGeom prst="roundRect">
            <a:avLst>
              <a:gd name="adj" fmla="val 5896"/>
            </a:avLst>
          </a:prstGeom>
          <a:solidFill>
            <a:srgbClr val="10295A"/>
          </a:solidFill>
          <a:ln/>
        </p:spPr>
      </p:sp>
      <p:sp>
        <p:nvSpPr>
          <p:cNvPr id="5" name="Text 3"/>
          <p:cNvSpPr/>
          <p:nvPr/>
        </p:nvSpPr>
        <p:spPr>
          <a:xfrm>
            <a:off x="1092200" y="2674621"/>
            <a:ext cx="2912648"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7FB2FF"/>
                </a:solidFill>
                <a:latin typeface="Space Grotesk" pitchFamily="34" charset="0"/>
                <a:ea typeface="Space Grotesk" pitchFamily="34" charset="-122"/>
                <a:cs typeface="Space Grotesk" pitchFamily="34" charset="-120"/>
              </a:rPr>
              <a:t>1</a:t>
            </a:r>
            <a:endParaRPr lang="en-US" sz="3600" dirty="0"/>
          </a:p>
        </p:txBody>
      </p:sp>
      <p:sp>
        <p:nvSpPr>
          <p:cNvPr id="6" name="Text 4"/>
          <p:cNvSpPr/>
          <p:nvPr/>
        </p:nvSpPr>
        <p:spPr>
          <a:xfrm>
            <a:off x="1092200" y="3416300"/>
            <a:ext cx="2912648"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BFF"/>
                </a:solidFill>
                <a:latin typeface="IBM Plex Sans" pitchFamily="34" charset="0"/>
                <a:ea typeface="IBM Plex Sans" pitchFamily="34" charset="-122"/>
                <a:cs typeface="IBM Plex Sans" pitchFamily="34" charset="-120"/>
              </a:rPr>
              <a:t>Your model scores 0.99 on its training data. Is it a great model?</a:t>
            </a:r>
            <a:endParaRPr lang="en-US" sz="1600" dirty="0"/>
          </a:p>
        </p:txBody>
      </p:sp>
      <p:sp>
        <p:nvSpPr>
          <p:cNvPr id="7" name="Shape 5"/>
          <p:cNvSpPr/>
          <p:nvPr/>
        </p:nvSpPr>
        <p:spPr>
          <a:xfrm>
            <a:off x="4402614" y="2395221"/>
            <a:ext cx="3386693" cy="2153920"/>
          </a:xfrm>
          <a:prstGeom prst="roundRect">
            <a:avLst>
              <a:gd name="adj" fmla="val 5896"/>
            </a:avLst>
          </a:prstGeom>
          <a:solidFill>
            <a:srgbClr val="10295A"/>
          </a:solidFill>
          <a:ln/>
        </p:spPr>
      </p:sp>
      <p:sp>
        <p:nvSpPr>
          <p:cNvPr id="8" name="Text 6"/>
          <p:cNvSpPr/>
          <p:nvPr/>
        </p:nvSpPr>
        <p:spPr>
          <a:xfrm>
            <a:off x="4682014" y="2674621"/>
            <a:ext cx="291273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7FB2FF"/>
                </a:solidFill>
                <a:latin typeface="Space Grotesk" pitchFamily="34" charset="0"/>
                <a:ea typeface="Space Grotesk" pitchFamily="34" charset="-122"/>
                <a:cs typeface="Space Grotesk" pitchFamily="34" charset="-120"/>
              </a:rPr>
              <a:t>2</a:t>
            </a:r>
            <a:endParaRPr lang="en-US" sz="3600" dirty="0"/>
          </a:p>
        </p:txBody>
      </p:sp>
      <p:sp>
        <p:nvSpPr>
          <p:cNvPr id="9" name="Text 7"/>
          <p:cNvSpPr/>
          <p:nvPr/>
        </p:nvSpPr>
        <p:spPr>
          <a:xfrm>
            <a:off x="4682014" y="3416300"/>
            <a:ext cx="291273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BFF"/>
                </a:solidFill>
                <a:latin typeface="IBM Plex Sans" pitchFamily="34" charset="0"/>
                <a:ea typeface="IBM Plex Sans" pitchFamily="34" charset="-122"/>
                <a:cs typeface="IBM Plex Sans" pitchFamily="34" charset="-120"/>
              </a:rPr>
              <a:t>You clean all the data first, then split it. Any problem?</a:t>
            </a:r>
            <a:endParaRPr lang="en-US" sz="1600" dirty="0"/>
          </a:p>
        </p:txBody>
      </p:sp>
      <p:sp>
        <p:nvSpPr>
          <p:cNvPr id="10" name="Shape 8"/>
          <p:cNvSpPr/>
          <p:nvPr/>
        </p:nvSpPr>
        <p:spPr>
          <a:xfrm>
            <a:off x="7992507" y="2395221"/>
            <a:ext cx="3386693" cy="2153920"/>
          </a:xfrm>
          <a:prstGeom prst="roundRect">
            <a:avLst>
              <a:gd name="adj" fmla="val 5896"/>
            </a:avLst>
          </a:prstGeom>
          <a:solidFill>
            <a:srgbClr val="10295A"/>
          </a:solidFill>
          <a:ln/>
        </p:spPr>
      </p:sp>
      <p:sp>
        <p:nvSpPr>
          <p:cNvPr id="11" name="Text 9"/>
          <p:cNvSpPr/>
          <p:nvPr/>
        </p:nvSpPr>
        <p:spPr>
          <a:xfrm>
            <a:off x="8271907" y="2674621"/>
            <a:ext cx="291273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6EE0FF"/>
                </a:solidFill>
                <a:latin typeface="Space Grotesk" pitchFamily="34" charset="0"/>
                <a:ea typeface="Space Grotesk" pitchFamily="34" charset="-122"/>
                <a:cs typeface="Space Grotesk" pitchFamily="34" charset="-120"/>
              </a:rPr>
              <a:t>3</a:t>
            </a:r>
            <a:endParaRPr lang="en-US" sz="3600" dirty="0"/>
          </a:p>
        </p:txBody>
      </p:sp>
      <p:sp>
        <p:nvSpPr>
          <p:cNvPr id="12" name="Text 10"/>
          <p:cNvSpPr/>
          <p:nvPr/>
        </p:nvSpPr>
        <p:spPr>
          <a:xfrm>
            <a:off x="8271907" y="3416300"/>
            <a:ext cx="291273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BFF"/>
                </a:solidFill>
                <a:latin typeface="IBM Plex Sans" pitchFamily="34" charset="0"/>
                <a:ea typeface="IBM Plex Sans" pitchFamily="34" charset="-122"/>
                <a:cs typeface="IBM Plex Sans" pitchFamily="34" charset="-120"/>
              </a:rPr>
              <a:t>You're top of the public leaderboard. Will you win?</a:t>
            </a:r>
            <a:endParaRPr lang="en-US" sz="1600" dirty="0"/>
          </a:p>
        </p:txBody>
      </p:sp>
      <p:pic>
        <p:nvPicPr>
          <p:cNvPr id="13" name="Image 0" descr="ML Society logo">    </p:cNvPr>
          <p:cNvPicPr>
            <a:picLocks noChangeAspect="1"/>
          </p:cNvPicPr>
          <p:nvPr/>
        </p:nvPicPr>
        <p:blipFill>
          <a:blip r:embed="rId1"/>
          <a:srcRect l="0" r="0" t="0" b="0"/>
          <a:stretch/>
        </p:blipFill>
        <p:spPr>
          <a:xfrm>
            <a:off x="10769600" y="254000"/>
            <a:ext cx="609600" cy="609600"/>
          </a:xfrm>
          <a:prstGeom prst="ellipse">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14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4A90FF"/>
                </a:solidFill>
                <a:latin typeface="JetBrains Mono" pitchFamily="49" charset="0"/>
                <a:ea typeface="JetBrains Mono" pitchFamily="49" charset="-122"/>
                <a:cs typeface="JetBrains Mono" pitchFamily="49" charset="-120"/>
              </a:rPr>
              <a:t>RECAP</a:t>
            </a:r>
            <a:endParaRPr lang="en-US" sz="1300" dirty="0"/>
          </a:p>
        </p:txBody>
      </p:sp>
      <p:sp>
        <p:nvSpPr>
          <p:cNvPr id="3" name="Text 1"/>
          <p:cNvSpPr/>
          <p:nvPr>
            <p:ph type="title"/>
          </p:nvPr>
        </p:nvSpPr>
        <p:spPr>
          <a:xfrm>
            <a:off x="812800" y="1297942"/>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AF4FF"/>
                </a:solidFill>
                <a:latin typeface="Space Grotesk" pitchFamily="34" charset="0"/>
                <a:ea typeface="Space Grotesk" pitchFamily="34" charset="-122"/>
                <a:cs typeface="Space Grotesk" pitchFamily="34" charset="-120"/>
              </a:rPr>
              <a:t>Five things to remember</a:t>
            </a:r>
            <a:endParaRPr lang="en-US" sz="3600" dirty="0"/>
          </a:p>
        </p:txBody>
      </p:sp>
      <p:sp>
        <p:nvSpPr>
          <p:cNvPr id="4" name="Shape 2"/>
          <p:cNvSpPr/>
          <p:nvPr/>
        </p:nvSpPr>
        <p:spPr>
          <a:xfrm>
            <a:off x="812800" y="2061214"/>
            <a:ext cx="10566400" cy="0"/>
          </a:xfrm>
          <a:prstGeom prst="line">
            <a:avLst/>
          </a:prstGeom>
          <a:noFill/>
          <a:ln w="12700">
            <a:solidFill>
              <a:srgbClr val="1F3D72"/>
            </a:solidFill>
            <a:prstDash val="solid"/>
          </a:ln>
        </p:spPr>
      </p:sp>
      <p:sp>
        <p:nvSpPr>
          <p:cNvPr id="5" name="Text 3"/>
          <p:cNvSpPr/>
          <p:nvPr/>
        </p:nvSpPr>
        <p:spPr>
          <a:xfrm>
            <a:off x="812800" y="2204721"/>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A90FF"/>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422400" y="2222500"/>
            <a:ext cx="5389055"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AF4FF"/>
                </a:solidFill>
                <a:latin typeface="IBM Plex Sans" pitchFamily="34" charset="0"/>
                <a:ea typeface="IBM Plex Sans" pitchFamily="34" charset="-122"/>
                <a:cs typeface="IBM Plex Sans" pitchFamily="34" charset="-120"/>
              </a:rPr>
              <a:t>A score on training data doesn't mean much</a:t>
            </a:r>
            <a:endParaRPr lang="en-US" sz="1800" dirty="0"/>
          </a:p>
        </p:txBody>
      </p:sp>
      <p:sp>
        <p:nvSpPr>
          <p:cNvPr id="7" name="Shape 5"/>
          <p:cNvSpPr/>
          <p:nvPr/>
        </p:nvSpPr>
        <p:spPr>
          <a:xfrm>
            <a:off x="812800" y="2706371"/>
            <a:ext cx="10566400" cy="0"/>
          </a:xfrm>
          <a:prstGeom prst="line">
            <a:avLst/>
          </a:prstGeom>
          <a:noFill/>
          <a:ln w="12700">
            <a:solidFill>
              <a:srgbClr val="1F3D72"/>
            </a:solidFill>
            <a:prstDash val="solid"/>
          </a:ln>
        </p:spPr>
      </p:sp>
      <p:sp>
        <p:nvSpPr>
          <p:cNvPr id="8" name="Text 6"/>
          <p:cNvSpPr/>
          <p:nvPr/>
        </p:nvSpPr>
        <p:spPr>
          <a:xfrm>
            <a:off x="812800" y="2849879"/>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A90FF"/>
                </a:solidFill>
                <a:latin typeface="Space Grotesk" pitchFamily="34" charset="0"/>
                <a:ea typeface="Space Grotesk" pitchFamily="34" charset="-122"/>
                <a:cs typeface="Space Grotesk" pitchFamily="34" charset="-120"/>
              </a:rPr>
              <a:t>2</a:t>
            </a:r>
            <a:endParaRPr lang="en-US" sz="2000" dirty="0"/>
          </a:p>
        </p:txBody>
      </p:sp>
      <p:sp>
        <p:nvSpPr>
          <p:cNvPr id="9" name="Text 7"/>
          <p:cNvSpPr/>
          <p:nvPr/>
        </p:nvSpPr>
        <p:spPr>
          <a:xfrm>
            <a:off x="1422400" y="2867664"/>
            <a:ext cx="5614797"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AF4FF"/>
                </a:solidFill>
                <a:latin typeface="IBM Plex Sans" pitchFamily="34" charset="0"/>
                <a:ea typeface="IBM Plex Sans" pitchFamily="34" charset="-122"/>
                <a:cs typeface="IBM Plex Sans" pitchFamily="34" charset="-120"/>
              </a:rPr>
              <a:t>Always hide some data to check the model on</a:t>
            </a:r>
            <a:endParaRPr lang="en-US" sz="1800" dirty="0"/>
          </a:p>
        </p:txBody>
      </p:sp>
      <p:sp>
        <p:nvSpPr>
          <p:cNvPr id="10" name="Shape 8"/>
          <p:cNvSpPr/>
          <p:nvPr/>
        </p:nvSpPr>
        <p:spPr>
          <a:xfrm>
            <a:off x="812800" y="3351529"/>
            <a:ext cx="10566400" cy="0"/>
          </a:xfrm>
          <a:prstGeom prst="line">
            <a:avLst/>
          </a:prstGeom>
          <a:noFill/>
          <a:ln w="12700">
            <a:solidFill>
              <a:srgbClr val="1F3D72"/>
            </a:solidFill>
            <a:prstDash val="solid"/>
          </a:ln>
        </p:spPr>
      </p:sp>
      <p:sp>
        <p:nvSpPr>
          <p:cNvPr id="11" name="Text 9"/>
          <p:cNvSpPr/>
          <p:nvPr/>
        </p:nvSpPr>
        <p:spPr>
          <a:xfrm>
            <a:off x="812800" y="3495042"/>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A90FF"/>
                </a:solidFill>
                <a:latin typeface="Space Grotesk" pitchFamily="34" charset="0"/>
                <a:ea typeface="Space Grotesk" pitchFamily="34" charset="-122"/>
                <a:cs typeface="Space Grotesk" pitchFamily="34" charset="-120"/>
              </a:rPr>
              <a:t>3</a:t>
            </a:r>
            <a:endParaRPr lang="en-US" sz="2000" dirty="0"/>
          </a:p>
        </p:txBody>
      </p:sp>
      <p:sp>
        <p:nvSpPr>
          <p:cNvPr id="12" name="Text 10"/>
          <p:cNvSpPr/>
          <p:nvPr/>
        </p:nvSpPr>
        <p:spPr>
          <a:xfrm>
            <a:off x="1422400" y="3512821"/>
            <a:ext cx="6388989"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AF4FF"/>
                </a:solidFill>
                <a:latin typeface="IBM Plex Sans" pitchFamily="34" charset="0"/>
                <a:ea typeface="IBM Plex Sans" pitchFamily="34" charset="-122"/>
                <a:cs typeface="IBM Plex Sans" pitchFamily="34" charset="-120"/>
              </a:rPr>
              <a:t>Too complex a model memorises instead of learning</a:t>
            </a:r>
            <a:endParaRPr lang="en-US" sz="1800" dirty="0"/>
          </a:p>
        </p:txBody>
      </p:sp>
      <p:sp>
        <p:nvSpPr>
          <p:cNvPr id="13" name="Shape 11"/>
          <p:cNvSpPr/>
          <p:nvPr/>
        </p:nvSpPr>
        <p:spPr>
          <a:xfrm>
            <a:off x="812800" y="3996692"/>
            <a:ext cx="10566400" cy="0"/>
          </a:xfrm>
          <a:prstGeom prst="line">
            <a:avLst/>
          </a:prstGeom>
          <a:noFill/>
          <a:ln w="12700">
            <a:solidFill>
              <a:srgbClr val="1F3D72"/>
            </a:solidFill>
            <a:prstDash val="solid"/>
          </a:ln>
        </p:spPr>
      </p:sp>
      <p:sp>
        <p:nvSpPr>
          <p:cNvPr id="14" name="Text 12"/>
          <p:cNvSpPr/>
          <p:nvPr/>
        </p:nvSpPr>
        <p:spPr>
          <a:xfrm>
            <a:off x="812800" y="4140200"/>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A90FF"/>
                </a:solidFill>
                <a:latin typeface="Space Grotesk" pitchFamily="34" charset="0"/>
                <a:ea typeface="Space Grotesk" pitchFamily="34" charset="-122"/>
                <a:cs typeface="Space Grotesk" pitchFamily="34" charset="-120"/>
              </a:rPr>
              <a:t>4</a:t>
            </a:r>
            <a:endParaRPr lang="en-US" sz="2000" dirty="0"/>
          </a:p>
        </p:txBody>
      </p:sp>
      <p:sp>
        <p:nvSpPr>
          <p:cNvPr id="15" name="Text 13"/>
          <p:cNvSpPr/>
          <p:nvPr/>
        </p:nvSpPr>
        <p:spPr>
          <a:xfrm>
            <a:off x="1422400" y="4157979"/>
            <a:ext cx="5168265"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AF4FF"/>
                </a:solidFill>
                <a:latin typeface="IBM Plex Sans" pitchFamily="34" charset="0"/>
                <a:ea typeface="IBM Plex Sans" pitchFamily="34" charset="-122"/>
                <a:cs typeface="IBM Plex Sans" pitchFamily="34" charset="-120"/>
              </a:rPr>
              <a:t>Don't let check data leak in: use a Pipeline</a:t>
            </a:r>
            <a:endParaRPr lang="en-US" sz="1800" dirty="0"/>
          </a:p>
        </p:txBody>
      </p:sp>
      <p:sp>
        <p:nvSpPr>
          <p:cNvPr id="16" name="Shape 14"/>
          <p:cNvSpPr/>
          <p:nvPr/>
        </p:nvSpPr>
        <p:spPr>
          <a:xfrm>
            <a:off x="812800" y="4641850"/>
            <a:ext cx="10566400" cy="0"/>
          </a:xfrm>
          <a:prstGeom prst="line">
            <a:avLst/>
          </a:prstGeom>
          <a:noFill/>
          <a:ln w="12700">
            <a:solidFill>
              <a:srgbClr val="1F3D72"/>
            </a:solidFill>
            <a:prstDash val="solid"/>
          </a:ln>
        </p:spPr>
      </p:sp>
      <p:sp>
        <p:nvSpPr>
          <p:cNvPr id="17" name="Shape 15"/>
          <p:cNvSpPr/>
          <p:nvPr/>
        </p:nvSpPr>
        <p:spPr>
          <a:xfrm>
            <a:off x="812800" y="5284470"/>
            <a:ext cx="10566400" cy="0"/>
          </a:xfrm>
          <a:prstGeom prst="line">
            <a:avLst/>
          </a:prstGeom>
          <a:noFill/>
          <a:ln w="12700">
            <a:solidFill>
              <a:srgbClr val="1F3D72"/>
            </a:solidFill>
            <a:prstDash val="solid"/>
          </a:ln>
        </p:spPr>
      </p:sp>
      <p:sp>
        <p:nvSpPr>
          <p:cNvPr id="18" name="Text 16"/>
          <p:cNvSpPr/>
          <p:nvPr/>
        </p:nvSpPr>
        <p:spPr>
          <a:xfrm>
            <a:off x="812800" y="4785364"/>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A90FF"/>
                </a:solidFill>
                <a:latin typeface="Space Grotesk" pitchFamily="34" charset="0"/>
                <a:ea typeface="Space Grotesk" pitchFamily="34" charset="-122"/>
                <a:cs typeface="Space Grotesk" pitchFamily="34" charset="-120"/>
              </a:rPr>
              <a:t>5</a:t>
            </a:r>
            <a:endParaRPr lang="en-US" sz="2000" dirty="0"/>
          </a:p>
        </p:txBody>
      </p:sp>
      <p:sp>
        <p:nvSpPr>
          <p:cNvPr id="19" name="Text 17"/>
          <p:cNvSpPr/>
          <p:nvPr/>
        </p:nvSpPr>
        <p:spPr>
          <a:xfrm>
            <a:off x="1422400" y="4803142"/>
            <a:ext cx="4947380"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AF4FF"/>
                </a:solidFill>
                <a:latin typeface="IBM Plex Sans" pitchFamily="34" charset="0"/>
                <a:ea typeface="IBM Plex Sans" pitchFamily="34" charset="-122"/>
                <a:cs typeface="IBM Plex Sans" pitchFamily="34" charset="-120"/>
              </a:rPr>
              <a:t>Take turns and average: cross-validation</a:t>
            </a:r>
            <a:endParaRPr lang="en-US" sz="1800" dirty="0"/>
          </a:p>
        </p:txBody>
      </p:sp>
      <p:pic>
        <p:nvPicPr>
          <p:cNvPr id="20" name="Image 0" descr="ML Society logo">    </p:cNvPr>
          <p:cNvPicPr>
            <a:picLocks noChangeAspect="1"/>
          </p:cNvPicPr>
          <p:nvPr/>
        </p:nvPicPr>
        <p:blipFill>
          <a:blip r:embed="rId1"/>
          <a:srcRect l="0" r="0" t="0" b="0"/>
          <a:stretch/>
        </p:blipFill>
        <p:spPr>
          <a:xfrm>
            <a:off x="10769600" y="254000"/>
            <a:ext cx="609600" cy="609600"/>
          </a:xfrm>
          <a:prstGeom prst="ellipse">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A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7FB2FF"/>
                </a:solidFill>
                <a:latin typeface="JetBrains Mono" pitchFamily="49" charset="0"/>
                <a:ea typeface="JetBrains Mono" pitchFamily="49" charset="-122"/>
                <a:cs typeface="JetBrains Mono" pitchFamily="49" charset="-120"/>
              </a:rPr>
              <a:t>WHAT'S NEXT</a:t>
            </a:r>
            <a:endParaRPr lang="en-US" sz="1300" dirty="0"/>
          </a:p>
        </p:txBody>
      </p:sp>
      <p:sp>
        <p:nvSpPr>
          <p:cNvPr id="3" name="Text 1"/>
          <p:cNvSpPr/>
          <p:nvPr>
            <p:ph type="title"/>
          </p:nvPr>
        </p:nvSpPr>
        <p:spPr>
          <a:xfrm>
            <a:off x="812800" y="1399542"/>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EAF4FF"/>
                </a:solidFill>
                <a:latin typeface="Space Grotesk" pitchFamily="34" charset="0"/>
                <a:ea typeface="Space Grotesk" pitchFamily="34" charset="-122"/>
                <a:cs typeface="Space Grotesk" pitchFamily="34" charset="-120"/>
              </a:rPr>
              <a:t>Try it this month</a:t>
            </a:r>
            <a:endParaRPr lang="en-US" sz="4800" dirty="0"/>
          </a:p>
        </p:txBody>
      </p:sp>
      <p:sp>
        <p:nvSpPr>
          <p:cNvPr id="4" name="Shape 2"/>
          <p:cNvSpPr/>
          <p:nvPr/>
        </p:nvSpPr>
        <p:spPr>
          <a:xfrm>
            <a:off x="812800" y="2401571"/>
            <a:ext cx="10566400" cy="0"/>
          </a:xfrm>
          <a:prstGeom prst="line">
            <a:avLst/>
          </a:prstGeom>
          <a:noFill/>
          <a:ln w="12700">
            <a:solidFill>
              <a:srgbClr val="1F3D72"/>
            </a:solidFill>
            <a:prstDash val="solid"/>
          </a:ln>
        </p:spPr>
      </p:sp>
      <p:pic>
        <p:nvPicPr>
          <p:cNvPr id="5" name="Image 0" descr="Star">    </p:cNvPr>
          <p:cNvPicPr>
            <a:picLocks noChangeAspect="1"/>
          </p:cNvPicPr>
          <p:nvPr/>
        </p:nvPicPr>
        <p:blipFill>
          <a:blip r:embed="rId1"/>
          <a:srcRect l="0" r="0" t="0" b="0"/>
          <a:stretch/>
        </p:blipFill>
        <p:spPr>
          <a:xfrm>
            <a:off x="812800" y="2717800"/>
            <a:ext cx="355600" cy="355600"/>
          </a:xfrm>
          <a:prstGeom prst="rect">
            <a:avLst/>
          </a:prstGeom>
        </p:spPr>
      </p:pic>
      <p:sp>
        <p:nvSpPr>
          <p:cNvPr id="6" name="Text 3"/>
          <p:cNvSpPr/>
          <p:nvPr/>
        </p:nvSpPr>
        <p:spPr>
          <a:xfrm>
            <a:off x="1397000" y="2583179"/>
            <a:ext cx="6551009"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EAF4FF"/>
                </a:solidFill>
                <a:latin typeface="IBM Plex Sans" pitchFamily="34" charset="0"/>
                <a:ea typeface="IBM Plex Sans" pitchFamily="34" charset="-122"/>
                <a:cs typeface="IBM Plex Sans" pitchFamily="34" charset="-120"/>
              </a:rPr>
              <a:t>Join this month's Kaggle Playground competition</a:t>
            </a:r>
            <a:endParaRPr lang="en-US" sz="1900" dirty="0"/>
          </a:p>
        </p:txBody>
      </p:sp>
      <p:sp>
        <p:nvSpPr>
          <p:cNvPr id="7" name="Text 4"/>
          <p:cNvSpPr/>
          <p:nvPr/>
        </p:nvSpPr>
        <p:spPr>
          <a:xfrm>
            <a:off x="1397000" y="2959100"/>
            <a:ext cx="56229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E6"/>
                </a:solidFill>
                <a:latin typeface="IBM Plex Sans" pitchFamily="34" charset="0"/>
                <a:ea typeface="IBM Plex Sans" pitchFamily="34" charset="-122"/>
                <a:cs typeface="IBM Plex Sans" pitchFamily="34" charset="-120"/>
              </a:rPr>
              <a:t>kaggle.com → Competitions → Playground</a:t>
            </a:r>
            <a:endParaRPr lang="en-US" sz="1400" dirty="0"/>
          </a:p>
        </p:txBody>
      </p:sp>
      <p:sp>
        <p:nvSpPr>
          <p:cNvPr id="8" name="Shape 5"/>
          <p:cNvSpPr/>
          <p:nvPr/>
        </p:nvSpPr>
        <p:spPr>
          <a:xfrm>
            <a:off x="812800" y="3392171"/>
            <a:ext cx="10566400" cy="0"/>
          </a:xfrm>
          <a:prstGeom prst="line">
            <a:avLst/>
          </a:prstGeom>
          <a:noFill/>
          <a:ln w="12700">
            <a:solidFill>
              <a:srgbClr val="1F3D72"/>
            </a:solidFill>
            <a:prstDash val="solid"/>
          </a:ln>
        </p:spPr>
      </p:sp>
      <p:pic>
        <p:nvPicPr>
          <p:cNvPr id="9" name="Image 1" descr="Code">    </p:cNvPr>
          <p:cNvPicPr>
            <a:picLocks noChangeAspect="1"/>
          </p:cNvPicPr>
          <p:nvPr/>
        </p:nvPicPr>
        <p:blipFill>
          <a:blip r:embed="rId2"/>
          <a:srcRect l="0" r="0" t="0" b="0"/>
          <a:stretch/>
        </p:blipFill>
        <p:spPr>
          <a:xfrm>
            <a:off x="812800" y="3583942"/>
            <a:ext cx="355600" cy="355600"/>
          </a:xfrm>
          <a:prstGeom prst="rect">
            <a:avLst/>
          </a:prstGeom>
        </p:spPr>
      </p:pic>
      <p:sp>
        <p:nvSpPr>
          <p:cNvPr id="10" name="Text 6"/>
          <p:cNvSpPr/>
          <p:nvPr/>
        </p:nvSpPr>
        <p:spPr>
          <a:xfrm>
            <a:off x="1397000" y="3573779"/>
            <a:ext cx="6568059"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EAF4FF"/>
                </a:solidFill>
                <a:latin typeface="IBM Plex Sans" pitchFamily="34" charset="0"/>
                <a:ea typeface="IBM Plex Sans" pitchFamily="34" charset="-122"/>
                <a:cs typeface="IBM Plex Sans" pitchFamily="34" charset="-120"/>
              </a:rPr>
              <a:t>Run the starter notebook: split + cross-validation</a:t>
            </a:r>
            <a:endParaRPr lang="en-US" sz="1900" dirty="0"/>
          </a:p>
        </p:txBody>
      </p:sp>
      <p:pic>
        <p:nvPicPr>
          <p:cNvPr id="11" name="Image 2" descr="ML Society logo">    </p:cNvPr>
          <p:cNvPicPr>
            <a:picLocks noChangeAspect="1"/>
          </p:cNvPicPr>
          <p:nvPr/>
        </p:nvPicPr>
        <p:blipFill>
          <a:blip r:embed="rId3"/>
          <a:srcRect l="0" r="0" t="0" b="0"/>
          <a:stretch/>
        </p:blipFill>
        <p:spPr>
          <a:xfrm>
            <a:off x="10109200" y="812800"/>
            <a:ext cx="1270000" cy="1270000"/>
          </a:xfrm>
          <a:prstGeom prst="ellipse">
            <a:avLst/>
          </a:prstGeom>
        </p:spPr>
      </p:pic>
    </p:spTree>
  </p:cSld>
  <p:clrMapOvr>
    <a:masterClrMapping/>
  </p:clrMapOvr>
</p:sld>
</file>

<file path=ppt/theme/theme1.xml><?xml version="1.0" encoding="utf-8"?>
<a:theme xmlns:a="http://schemas.openxmlformats.org/drawingml/2006/main" name="Why We Split Our Data">
  <a:themeElements>
    <a:clrScheme name="Why We Split Our Data">
      <a:dk1>
        <a:srgbClr val="0B2148"/>
      </a:dk1>
      <a:lt1>
        <a:srgbClr val="EAF4FF"/>
      </a:lt1>
      <a:dk2>
        <a:srgbClr val="21365A"/>
      </a:dk2>
      <a:lt2>
        <a:srgbClr val="B2BFD1"/>
      </a:lt2>
      <a:accent1>
        <a:srgbClr val="A9C3E6"/>
      </a:accent1>
      <a:accent2>
        <a:srgbClr val="2A5BC4"/>
      </a:accent2>
      <a:accent3>
        <a:srgbClr val="6EE0FF"/>
      </a:accent3>
      <a:accent4>
        <a:srgbClr val="4A90FF"/>
      </a:accent4>
      <a:accent5>
        <a:srgbClr val="7FB2FF"/>
      </a:accent5>
      <a:accent6>
        <a:srgbClr val="8AA4CC"/>
      </a:accent6>
      <a:hlink>
        <a:srgbClr val="0563C1"/>
      </a:hlink>
      <a:folHlink>
        <a:srgbClr val="954F72"/>
      </a:folHlink>
    </a:clrScheme>
    <a:fontScheme name="Why We Split Our Data">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We Split Our Data</dc:title>
  <dc:subject/>
  <dc:creator/>
  <cp:lastModifiedBy/>
  <cp:revision>1</cp:revision>
  <dcterms:created xsi:type="dcterms:W3CDTF">2026-10-13T22:17:07Z</dcterms:created>
  <dcterms:modified xsi:type="dcterms:W3CDTF">2026-10-13T22:17:07Z</dcterms:modified>
</cp:coreProperties>
</file>